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haansoftxlsx"/>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8771EE9D-07B1-A68A-4A07-7EFCFC4AAB82}">
          <p14:sldIdLst>
            <p14:sldId id="256"/>
            <p14:sldId id="257"/>
          </p14:sldIdLst>
        </p14:section>
        <p14:section name="01 추진 배경" id="{D5FCF11A-C6B3-B57A-4C18-CEFB1A107BF6}">
          <p14:sldIdLst>
            <p14:sldId id="258"/>
          </p14:sldIdLst>
        </p14:section>
        <p14:section name="① 활용 현황" id="{D3E220EF-C736-581E-4725-B2C1BA9B9664}">
          <p14:sldIdLst>
            <p14:sldId id="259"/>
            <p14:sldId id="260"/>
          </p14:sldIdLst>
        </p14:section>
        <p14:section name="② 자동화 시스템" id="{26DED37D-A120-C98B-67C4-E93AC4E04297}">
          <p14:sldIdLst>
            <p14:sldId id="261"/>
            <p14:sldId id="262"/>
            <p14:sldId id="263"/>
          </p14:sldIdLst>
        </p14:section>
        <p14:section name="③ 전후 비교" id="{1604C3CA-D7D3-A3E0-CBA2-EB16D03F8339}">
          <p14:sldIdLst>
            <p14:sldId id="264"/>
            <p14:sldId id="265"/>
          </p14:sldIdLst>
        </p14:section>
        <p14:section name="한계와 과제" id="{43C0AE25-8251-624C-7FE0-1C1AD6780A08}">
          <p14:sldIdLst>
            <p14:sldId id="266"/>
            <p14:sldId id="267"/>
          </p14:sldIdLst>
        </p14:section>
      </p14:sectionLst>
    </p:ex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6" d="100"/>
          <a:sy n="116" d="100"/>
        </p:scale>
        <p:origin x="-354" y="-10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_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___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ko-KR"/>
  <c:roundedCorners val="1"/>
  <c:style val="2"/>
  <c:chart>
    <c:title>
      <c:tx>
        <c:rich>
          <a:bodyPr/>
          <a:lstStyle/>
          <a:p>
            <a:pPr>
              <a:defRPr sz="1400" b="0" i="0" u="none" strike="noStrike">
                <a:solidFill>
                  <a:srgbClr val="1F2A36"/>
                </a:solidFill>
                <a:latin typeface="+mn-lt"/>
              </a:defRPr>
            </a:pPr>
            <a:r>
              <a:rPr lang="ko-KR" altLang="en-US" sz="1400" b="0" i="0" u="none" strike="noStrike">
                <a:solidFill>
                  <a:srgbClr val="1F2A36"/>
                </a:solidFill>
                <a:latin typeface="+mn-lt"/>
              </a:rPr>
              <a:t>일일보고 월별 생성 건수 </a:t>
            </a:r>
            <a:r>
              <a:rPr lang="en-US" altLang="ko-KR" sz="1400" b="0" i="0" u="none" strike="noStrike">
                <a:solidFill>
                  <a:srgbClr val="1F2A36"/>
                </a:solidFill>
                <a:latin typeface="+mn-lt"/>
              </a:rPr>
              <a:t>(</a:t>
            </a:r>
            <a:r>
              <a:rPr lang="ko-KR" altLang="en-US" sz="1400" b="0" i="0" u="none" strike="noStrike">
                <a:solidFill>
                  <a:srgbClr val="1F2A36"/>
                </a:solidFill>
                <a:latin typeface="+mn-lt"/>
              </a:rPr>
              <a:t>단위</a:t>
            </a:r>
            <a:r>
              <a:rPr lang="en-US" altLang="ko-KR" sz="1400" b="0" i="0" u="none" strike="noStrike">
                <a:solidFill>
                  <a:srgbClr val="1F2A36"/>
                </a:solidFill>
                <a:latin typeface="+mn-lt"/>
              </a:rPr>
              <a:t>: </a:t>
            </a:r>
            <a:r>
              <a:rPr lang="ko-KR" altLang="en-US" sz="1400" b="0" i="0" u="none" strike="noStrike">
                <a:solidFill>
                  <a:srgbClr val="1F2A36"/>
                </a:solidFill>
                <a:latin typeface="+mn-lt"/>
              </a:rPr>
              <a:t>건</a:t>
            </a:r>
            <a:r>
              <a:rPr lang="en-US" altLang="ko-KR" sz="1400" b="0" i="0" u="none" strike="noStrike">
                <a:solidFill>
                  <a:srgbClr val="1F2A36"/>
                </a:solidFill>
                <a:latin typeface="+mn-lt"/>
              </a:rPr>
              <a:t>)</a:t>
            </a:r>
          </a:p>
        </c:rich>
      </c:tx>
      <c:layout/>
      <c:overlay val="0"/>
    </c:title>
    <c:autoTitleDeleted val="0"/>
    <c:plotArea>
      <c:layout/>
      <c:barChart>
        <c:barDir val="col"/>
        <c:grouping val="stacked"/>
        <c:varyColors val="0"/>
        <c:ser>
          <c:idx val="0"/>
          <c:order val="0"/>
          <c:tx>
            <c:strRef>
              <c:f>Sheet1!$B$1</c:f>
              <c:strCache>
                <c:ptCount val="1"/>
                <c:pt idx="0">
                  <c:v>소급 또는 수동 생성 (6월 9일 일괄 등)</c:v>
                </c:pt>
              </c:strCache>
            </c:strRef>
          </c:tx>
          <c:spPr>
            <a:solidFill>
              <a:srgbClr val="6B7A88"/>
            </a:solidFill>
            <a:effectLst/>
          </c:spPr>
          <c:invertIfNegative val="0"/>
          <c:dLbls>
            <c:numFmt formatCode="0;;;" sourceLinked="0"/>
            <c:txPr>
              <a:bodyPr/>
              <a:lstStyle/>
              <a:p>
                <a:pPr>
                  <a:defRPr sz="1300" b="0" i="0" u="none" strike="noStrike">
                    <a:solidFill>
                      <a:srgbClr val="FFFFFF"/>
                    </a:solidFill>
                    <a:latin typeface="+mn-lt"/>
                  </a:defRPr>
                </a:pPr>
                <a:endParaRPr lang="ko-KR"/>
              </a:p>
            </c:txPr>
            <c:dLblPos val="ctr"/>
            <c:showLegendKey val="0"/>
            <c:showVal val="1"/>
            <c:showCatName val="0"/>
            <c:showSerName val="0"/>
            <c:showPercent val="0"/>
            <c:showBubbleSize val="0"/>
            <c:showLeaderLines val="0"/>
          </c:dLbls>
          <c:cat>
            <c:strRef>
              <c:f>Sheet1!$A$2:$A$8</c:f>
              <c:strCache>
                <c:ptCount val="7"/>
                <c:pt idx="0">
                  <c:v>4월</c:v>
                </c:pt>
                <c:pt idx="1">
                  <c:v>5월</c:v>
                </c:pt>
                <c:pt idx="2">
                  <c:v>6월</c:v>
                </c:pt>
                <c:pt idx="3">
                  <c:v>7월</c:v>
                </c:pt>
                <c:pt idx="4">
                  <c:v>8월</c:v>
                </c:pt>
                <c:pt idx="5">
                  <c:v>9월</c:v>
                </c:pt>
                <c:pt idx="6">
                  <c:v>10월*</c:v>
                </c:pt>
              </c:strCache>
            </c:strRef>
          </c:cat>
          <c:val>
            <c:numRef>
              <c:f>Sheet1!$B$2:$B$8</c:f>
              <c:numCache>
                <c:formatCode>General</c:formatCode>
                <c:ptCount val="7"/>
                <c:pt idx="0">
                  <c:v>21</c:v>
                </c:pt>
                <c:pt idx="1">
                  <c:v>19</c:v>
                </c:pt>
                <c:pt idx="2">
                  <c:v>12</c:v>
                </c:pt>
                <c:pt idx="3">
                  <c:v>0</c:v>
                </c:pt>
                <c:pt idx="4">
                  <c:v>0</c:v>
                </c:pt>
                <c:pt idx="5">
                  <c:v>0</c:v>
                </c:pt>
                <c:pt idx="6">
                  <c:v>0</c:v>
                </c:pt>
              </c:numCache>
            </c:numRef>
          </c:val>
        </c:ser>
        <c:ser>
          <c:idx val="1"/>
          <c:order val="1"/>
          <c:tx>
            <c:strRef>
              <c:f>Sheet1!$C$1</c:f>
              <c:strCache>
                <c:ptCount val="1"/>
                <c:pt idx="0">
                  <c:v>매일 자동 생성 (6월 18일부터)</c:v>
                </c:pt>
              </c:strCache>
            </c:strRef>
          </c:tx>
          <c:spPr>
            <a:solidFill>
              <a:srgbClr val="0E7C86"/>
            </a:solidFill>
            <a:effectLst/>
          </c:spPr>
          <c:invertIfNegative val="0"/>
          <c:dLbls>
            <c:numFmt formatCode="0;;;" sourceLinked="0"/>
            <c:txPr>
              <a:bodyPr/>
              <a:lstStyle/>
              <a:p>
                <a:pPr>
                  <a:defRPr sz="1300" b="0" i="0" u="none" strike="noStrike">
                    <a:solidFill>
                      <a:srgbClr val="FFFFFF"/>
                    </a:solidFill>
                    <a:latin typeface="+mn-lt"/>
                  </a:defRPr>
                </a:pPr>
                <a:endParaRPr lang="ko-KR"/>
              </a:p>
            </c:txPr>
            <c:dLblPos val="ctr"/>
            <c:showLegendKey val="0"/>
            <c:showVal val="1"/>
            <c:showCatName val="0"/>
            <c:showSerName val="0"/>
            <c:showPercent val="0"/>
            <c:showBubbleSize val="0"/>
            <c:showLeaderLines val="0"/>
          </c:dLbls>
          <c:cat>
            <c:strRef>
              <c:f>Sheet1!$A$2:$A$8</c:f>
              <c:strCache>
                <c:ptCount val="7"/>
                <c:pt idx="0">
                  <c:v>4월</c:v>
                </c:pt>
                <c:pt idx="1">
                  <c:v>5월</c:v>
                </c:pt>
                <c:pt idx="2">
                  <c:v>6월</c:v>
                </c:pt>
                <c:pt idx="3">
                  <c:v>7월</c:v>
                </c:pt>
                <c:pt idx="4">
                  <c:v>8월</c:v>
                </c:pt>
                <c:pt idx="5">
                  <c:v>9월</c:v>
                </c:pt>
                <c:pt idx="6">
                  <c:v>10월*</c:v>
                </c:pt>
              </c:strCache>
            </c:strRef>
          </c:cat>
          <c:val>
            <c:numRef>
              <c:f>Sheet1!$C$2:$C$8</c:f>
              <c:numCache>
                <c:formatCode>General</c:formatCode>
                <c:ptCount val="7"/>
                <c:pt idx="0">
                  <c:v>0</c:v>
                </c:pt>
                <c:pt idx="1">
                  <c:v>0</c:v>
                </c:pt>
                <c:pt idx="2">
                  <c:v>9</c:v>
                </c:pt>
                <c:pt idx="3">
                  <c:v>22</c:v>
                </c:pt>
                <c:pt idx="4">
                  <c:v>19</c:v>
                </c:pt>
                <c:pt idx="5">
                  <c:v>20</c:v>
                </c:pt>
                <c:pt idx="6">
                  <c:v>15</c:v>
                </c:pt>
              </c:numCache>
            </c:numRef>
          </c:val>
        </c:ser>
        <c:dLbls>
          <c:dLblPos val="ctr"/>
          <c:showLegendKey val="0"/>
          <c:showVal val="1"/>
          <c:showCatName val="0"/>
          <c:showSerName val="0"/>
          <c:showPercent val="0"/>
          <c:showBubbleSize val="0"/>
        </c:dLbls>
        <c:gapWidth val="60"/>
        <c:overlap val="100"/>
        <c:axId val="123264384"/>
        <c:axId val="123287040"/>
      </c:barChart>
      <c:catAx>
        <c:axId val="12326438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400" b="0" i="0" u="none" strike="noStrike">
                <a:solidFill>
                  <a:srgbClr val="2C3E50"/>
                </a:solidFill>
                <a:latin typeface="+mn-lt"/>
              </a:defRPr>
            </a:pPr>
            <a:endParaRPr lang="ko-KR"/>
          </a:p>
        </c:txPr>
        <c:crossAx val="123287040"/>
        <c:crosses val="autoZero"/>
        <c:auto val="1"/>
        <c:lblAlgn val="ctr"/>
        <c:lblOffset val="100"/>
        <c:noMultiLvlLbl val="1"/>
      </c:catAx>
      <c:valAx>
        <c:axId val="123287040"/>
        <c:scaling>
          <c:orientation val="minMax"/>
          <c:max val="25"/>
        </c:scaling>
        <c:delete val="0"/>
        <c:axPos val="l"/>
        <c:majorGridlines>
          <c:spPr>
            <a:ln w="6350" cap="flat">
              <a:solidFill>
                <a:srgbClr val="D9E2EC"/>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6B7A88"/>
                </a:solidFill>
                <a:latin typeface="+mn-lt"/>
              </a:defRPr>
            </a:pPr>
            <a:endParaRPr lang="ko-KR"/>
          </a:p>
        </c:txPr>
        <c:crossAx val="123264384"/>
        <c:crosses val="autoZero"/>
        <c:crossBetween val="between"/>
        <c:majorUnit val="5"/>
      </c:valAx>
      <c:spPr>
        <a:noFill/>
        <a:ln>
          <a:noFill/>
        </a:ln>
        <a:effectLst/>
      </c:spPr>
    </c:plotArea>
    <c:legend>
      <c:legendPos val="b"/>
      <c:layout/>
      <c:overlay val="0"/>
      <c:txPr>
        <a:bodyPr/>
        <a:lstStyle/>
        <a:p>
          <a:pPr>
            <a:defRPr sz="1300">
              <a:solidFill>
                <a:srgbClr val="2C3E50"/>
              </a:solidFill>
              <a:latin typeface="+mn-lt"/>
              <a:cs typeface="+mn-lt"/>
            </a:defRPr>
          </a:pPr>
          <a:endParaRPr lang="ko-KR"/>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ko-KR"/>
  <c:roundedCorners val="1"/>
  <c:style val="2"/>
  <c:chart>
    <c:autoTitleDeleted val="1"/>
    <c:plotArea>
      <c:layout/>
      <c:barChart>
        <c:barDir val="bar"/>
        <c:grouping val="percentStacked"/>
        <c:varyColors val="0"/>
        <c:ser>
          <c:idx val="0"/>
          <c:order val="0"/>
          <c:tx>
            <c:strRef>
              <c:f>Sheet1!$B$1</c:f>
              <c:strCache>
                <c:ptCount val="1"/>
                <c:pt idx="0">
                  <c:v>자동화 수리와 운영</c:v>
                </c:pt>
              </c:strCache>
            </c:strRef>
          </c:tx>
          <c:spPr>
            <a:solidFill>
              <a:srgbClr val="E8930C"/>
            </a:solidFill>
            <a:effectLst/>
          </c:spPr>
          <c:invertIfNegative val="0"/>
          <c:dLbls>
            <c:numFmt formatCode="#,##0" sourceLinked="0"/>
            <c:txPr>
              <a:bodyPr/>
              <a:lstStyle/>
              <a:p>
                <a:pPr>
                  <a:defRPr sz="1300" b="0" i="0" u="none" strike="noStrike">
                    <a:solidFill>
                      <a:srgbClr val="1F2A36"/>
                    </a:solidFill>
                    <a:latin typeface="+mn-lt"/>
                  </a:defRPr>
                </a:pPr>
                <a:endParaRPr lang="ko-KR"/>
              </a:p>
            </c:txPr>
            <c:dLblPos val="ctr"/>
            <c:showLegendKey val="0"/>
            <c:showVal val="1"/>
            <c:showCatName val="0"/>
            <c:showSerName val="0"/>
            <c:showPercent val="0"/>
            <c:showBubbleSize val="0"/>
            <c:showLeaderLines val="0"/>
          </c:dLbls>
          <c:cat>
            <c:strRef>
              <c:f>Sheet1!$A$2:$A$2</c:f>
              <c:strCache>
                <c:ptCount val="1"/>
                <c:pt idx="0">
                  <c:v>결정 84건</c:v>
                </c:pt>
              </c:strCache>
            </c:strRef>
          </c:cat>
          <c:val>
            <c:numRef>
              <c:f>Sheet1!$B$2:$B$2</c:f>
              <c:numCache>
                <c:formatCode>General</c:formatCode>
                <c:ptCount val="1"/>
                <c:pt idx="0">
                  <c:v>30</c:v>
                </c:pt>
              </c:numCache>
            </c:numRef>
          </c:val>
        </c:ser>
        <c:ser>
          <c:idx val="1"/>
          <c:order val="1"/>
          <c:tx>
            <c:strRef>
              <c:f>Sheet1!$C$1</c:f>
              <c:strCache>
                <c:ptCount val="1"/>
                <c:pt idx="0">
                  <c:v>그 외 업무 판단</c:v>
                </c:pt>
              </c:strCache>
            </c:strRef>
          </c:tx>
          <c:spPr>
            <a:solidFill>
              <a:srgbClr val="D9E2EC"/>
            </a:solidFill>
            <a:effectLst/>
          </c:spPr>
          <c:invertIfNegative val="0"/>
          <c:dLbls>
            <c:numFmt formatCode="#,##0" sourceLinked="0"/>
            <c:txPr>
              <a:bodyPr/>
              <a:lstStyle/>
              <a:p>
                <a:pPr>
                  <a:defRPr sz="1300" b="0" i="0" u="none" strike="noStrike">
                    <a:solidFill>
                      <a:srgbClr val="1F2A36"/>
                    </a:solidFill>
                    <a:latin typeface="+mn-lt"/>
                  </a:defRPr>
                </a:pPr>
                <a:endParaRPr lang="ko-KR"/>
              </a:p>
            </c:txPr>
            <c:dLblPos val="ctr"/>
            <c:showLegendKey val="0"/>
            <c:showVal val="1"/>
            <c:showCatName val="0"/>
            <c:showSerName val="0"/>
            <c:showPercent val="0"/>
            <c:showBubbleSize val="0"/>
            <c:showLeaderLines val="0"/>
          </c:dLbls>
          <c:cat>
            <c:strRef>
              <c:f>Sheet1!$A$2:$A$2</c:f>
              <c:strCache>
                <c:ptCount val="1"/>
                <c:pt idx="0">
                  <c:v>결정 84건</c:v>
                </c:pt>
              </c:strCache>
            </c:strRef>
          </c:cat>
          <c:val>
            <c:numRef>
              <c:f>Sheet1!$C$2:$C$2</c:f>
              <c:numCache>
                <c:formatCode>General</c:formatCode>
                <c:ptCount val="1"/>
                <c:pt idx="0">
                  <c:v>54</c:v>
                </c:pt>
              </c:numCache>
            </c:numRef>
          </c:val>
        </c:ser>
        <c:dLbls>
          <c:dLblPos val="ctr"/>
          <c:showLegendKey val="0"/>
          <c:showVal val="1"/>
          <c:showCatName val="0"/>
          <c:showSerName val="0"/>
          <c:showPercent val="0"/>
          <c:showBubbleSize val="0"/>
        </c:dLbls>
        <c:gapWidth val="20"/>
        <c:overlap val="100"/>
        <c:axId val="174677376"/>
        <c:axId val="174679168"/>
      </c:barChart>
      <c:catAx>
        <c:axId val="174677376"/>
        <c:scaling>
          <c:orientation val="minMax"/>
        </c:scaling>
        <c:delete val="1"/>
        <c:axPos val="l"/>
        <c:numFmt formatCode="General" sourceLinked="1"/>
        <c:majorTickMark val="out"/>
        <c:minorTickMark val="none"/>
        <c:tickLblPos val="nextTo"/>
        <c:crossAx val="174679168"/>
        <c:crosses val="autoZero"/>
        <c:auto val="1"/>
        <c:lblAlgn val="ctr"/>
        <c:lblOffset val="100"/>
        <c:noMultiLvlLbl val="1"/>
      </c:catAx>
      <c:valAx>
        <c:axId val="174679168"/>
        <c:scaling>
          <c:orientation val="minMax"/>
        </c:scaling>
        <c:delete val="1"/>
        <c:axPos val="b"/>
        <c:numFmt formatCode="General" sourceLinked="0"/>
        <c:majorTickMark val="out"/>
        <c:minorTickMark val="none"/>
        <c:tickLblPos val="low"/>
        <c:crossAx val="174677376"/>
        <c:crosses val="autoZero"/>
        <c:crossBetween val="between"/>
      </c:valAx>
      <c:spPr>
        <a:noFill/>
        <a:ln>
          <a:noFill/>
        </a:ln>
        <a:effectLst/>
      </c:spPr>
    </c:plotArea>
    <c:legend>
      <c:legendPos val="r"/>
      <c:layout/>
      <c:overlay val="0"/>
      <c:txPr>
        <a:bodyPr/>
        <a:lstStyle/>
        <a:p>
          <a:pPr>
            <a:defRPr sz="1200">
              <a:solidFill>
                <a:srgbClr val="2C3E50"/>
              </a:solidFill>
              <a:latin typeface="+mn-lt"/>
              <a:cs typeface="+mn-lt"/>
            </a:defRPr>
          </a:pPr>
          <a:endParaRPr lang="ko-KR"/>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609600"/>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609600"/>
          </a:xfrm>
          <a:prstGeom prst="rect">
            <a:avLst/>
          </a:prstGeom>
        </p:spPr>
        <p:txBody>
          <a:bodyPr vert="horz" lIns="91440" tIns="45720" rIns="91440" bIns="45720" rtlCol="0"/>
          <a:lstStyle>
            <a:lvl1pPr algn="r">
              <a:defRPr sz="1200"/>
            </a:lvl1pPr>
          </a:lstStyle>
          <a:p>
            <a:fld id="{BC799573-29F2-4759-9BC2-00862A68E67B}" type="datetimeFigureOut">
              <a:rPr lang="ko-KR" altLang="en-US" smtClean="0"/>
              <a:t>2026-10-23</a:t>
            </a:fld>
            <a:endParaRPr lang="ko-KR" altLang="en-US"/>
          </a:p>
        </p:txBody>
      </p:sp>
      <p:sp>
        <p:nvSpPr>
          <p:cNvPr id="4" name="슬라이드 이미지 개체 틀 3"/>
          <p:cNvSpPr>
            <a:spLocks noGrp="1" noRot="1" noChangeAspect="1"/>
          </p:cNvSpPr>
          <p:nvPr>
            <p:ph type="sldImg" idx="2"/>
          </p:nvPr>
        </p:nvSpPr>
        <p:spPr>
          <a:xfrm>
            <a:off x="-635000" y="914400"/>
            <a:ext cx="8128000" cy="45720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5791200"/>
            <a:ext cx="5486400" cy="5486400"/>
          </a:xfrm>
          <a:prstGeom prst="rect">
            <a:avLst/>
          </a:prstGeom>
        </p:spPr>
        <p:txBody>
          <a:bodyPr vert="horz" lIns="91440" tIns="45720" rIns="91440" bIns="45720" rtlCol="0"/>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6" name="바닥글 개체 틀 5"/>
          <p:cNvSpPr>
            <a:spLocks noGrp="1"/>
          </p:cNvSpPr>
          <p:nvPr>
            <p:ph type="ftr" sz="quarter" idx="4"/>
          </p:nvPr>
        </p:nvSpPr>
        <p:spPr>
          <a:xfrm>
            <a:off x="0" y="11580813"/>
            <a:ext cx="2971800" cy="609600"/>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11580813"/>
            <a:ext cx="2971800" cy="609600"/>
          </a:xfrm>
          <a:prstGeom prst="rect">
            <a:avLst/>
          </a:prstGeom>
        </p:spPr>
        <p:txBody>
          <a:bodyPr vert="horz" lIns="91440" tIns="45720" rIns="91440" bIns="45720" rtlCol="0" anchor="b"/>
          <a:lstStyle>
            <a:lvl1pPr algn="r">
              <a:defRPr sz="1200"/>
            </a:lvl1pPr>
          </a:lstStyle>
          <a:p>
            <a:fld id="{91F57D19-992F-44CE-81DE-73EF7DFA4D86}" type="slidenum">
              <a:rPr lang="ko-KR" altLang="en-US" smtClean="0"/>
              <a:t>‹#›</a:t>
            </a:fld>
            <a:endParaRPr lang="ko-KR" altLang="en-US"/>
          </a:p>
        </p:txBody>
      </p:sp>
    </p:spTree>
    <p:extLst>
      <p:ext uri="{BB962C8B-B14F-4D97-AF65-F5344CB8AC3E}">
        <p14:creationId xmlns:p14="http://schemas.microsoft.com/office/powerpoint/2010/main" val="250446014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생산팀 발표입니다. 2기 동안 재연마 현장의 흩어진 데이터를 정리하고, 매일 반복하던 보고 업무를 자동화한 결과를 말씀드리겠습니다.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 순서입니다. 필수 항목 세 가지는 2, 3, 4번이고, 오른쪽 위에 지금 위치가 표시됩니다.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(왼쪽 자료를 가리키며) 생산팀은 ANCA 장비 두 대로 재연마를 합니다. 왼쪽이 실제 쓰던 월간생산일지와 수리 발주서입니다. 자료가 ERP, 엑셀, PDF, 담당자 기억 네 곳에 흩어져 있었고, 일일보고 집계와 투입 판단은 매일 손으로 했습니다. 그래서 세 방향으로 추진했습니다. 한곳에 기록하기, 반복 업무 자동 실행, 판단 근거 남기기입니다.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첫 번째 필수 항목, 팀 내 활용 현황입니다. 6개월 동안 재연마 기록 문서 149개와, 무엇을 왜 바꿨는지 남긴 판단 근거 330여 건이 쌓였습니다. 표는 Claude를 쓰는 다섯 가지 일이고, 2기에 새로 맡긴 건 장비 투입 목록과 단가표 검수입니다. 이번 달에는 원목 연삭 시험에서 제조사 제품 치수로 기준을 잡고, 두 번째 시험에서 넥 시작부 자국을 없앴습니다. 수치에는 출처를 붙여서, 휠 원주속도는 제조사 기준 18에서 22 m/s, 사내 실사용은 실측 2,600에서 3,000 rpm으로 나눠 적습니다.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이번 달에 새로 시험한 것입니다. Claude를 무료 도면, 3D, CAM 프로그램에 연결했습니다. 그림은 앞 장의 원목 연삭 시험에 쓴 공구를 도면 치수대로 3D로 만든 것입니다. 날 모양은 시뮬레이터 자료를 줄여 입힌 추정이라 설명용으로만 씁니다. CAM은 G코드를 만들어 우리 장비 형식으로 내보내는 시험을 하고 있고, 장비에 넣기 전에 시뮬레이션과 공운전으로 확인합니다.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구성은 단순합니다. 새 시스템은 들이지 않았고 원래 쓰던 ERP와 엑셀을 그대로 읽습니다. 업무 PC가 출근 로그온 때와 오후 4시에 스크립트를 돌려 일일보고, 현황판, 장비별 투입 목록을 만듭니다. Claude는 이 스크립트를 짜고 점검하고, 바뀐 내용을 기록하는 역할입니다.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(화면을 짚으며) 왼쪽이 매일 자동으로 만들어지는 일일보고입니다. 16:00 속보값이라 이후 입력분은 다음 날 「전일」 칸에서 확정됩니다. 가운데가 사내 현황판, 오른쪽이 장비별 투입 목록이고, 투입 목록은 현장 의견을 받아 규칙을 여덟 번 고쳤습니다.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두 가지 예시입니다. 장비 고장 경위를 날짜까지 기록에서 꺼내 답하고, 원인처럼 기록이 없는 건 확인 필요라고 답합니다. 연삭 조건은 계산 과정을 보여 줘서 검산할 수 있고, 사내 기준 범위와 같이 나옵니다. 다만 조건은 참고값이고, 확정은 현장 테스트로 합니다.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세 번째 필수 항목, 전후 비교입니다. 먼저 일일보고입니다. 전에는 매일 엑셀로 손으로 집계했고, 지금은 아침 7시 50분과 오후 4시에 자동으로 만들어집니다. 회색은 6월 9일에 지난 분을 한꺼번에 만들거나 손으로 만든 것이고, 청록이 그날그날 자동으로 만든 것입니다. 10월 23일 기준 최근 20영업일은 20건 모두 생성됐습니다. 아낀 시간은 하루 15분 이하인데, 정식으로 잰 값은 아니고 담당자 경험값입니다.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나머지 항목입니다. 결정 기록 330여 건, 수리 이력 17건, 단가표 1만여 건 대조는 실측으로 확인했습니다. 시간 절약은 경험값으로 따로 표시했습니다. 장비별 투입 목록은 효과를 재는 중인데, 도입 2주와 추석, 장비 수리가 섞여 아직 판단하지 않았습니다.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앞으로의 과제입니다. 지금까지 생산 실적을 엑셀 작업일지와 ERP에 두 번 적었는데, 10월 23일부터 ERP 하나로 바꿨습니다. 일일보고, 현황판, 장비별 투입 목록도 ERP 작업실적을 읽도록 고쳤습니다. 10월 수량을 대조하면 엑셀 971개, ERP 955개로 1.6 % 차이입니다. 다만 ERP에는 두 장비 구분이 없고 가공시간은 표준공수로 추정한 값이라, 11월까지 대조하면서 확인하겠습니다.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마지막으로 한계입니다. 4주 동안 결정 84건 중 30건이 자동화를 고치는 일이었습니다. 그래서 자동화마다 성적표를 매겨, 알림 메일 48통을 아무도 안 읽은 것처럼 효과 없는 4건은 껐습니다. 정상으로 찍혔는데 결과물이 없던 경우가 있어 판정 기준을 바꿨고, AI 계산은 출처와 신뢰도를 붙여 현장에서 확인합니다. 다음은 11월 4일 자동화 2차 판정과 원목 연삭 세 번째 시험, CAM 출력 시험입니다. 엑셀 보고 집계나 자료 정리는 다른 팀도 바로 쓸 수 있습니다.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554480"/>
            <a:ext cx="8229600" cy="365760"/>
          </a:xfrm>
          <a:prstGeom prst="rect">
            <a:avLst/>
          </a:prstGeom>
          <a:noFill/>
          <a:ln/>
        </p:spPr>
        <p:txBody>
          <a:bodyPr wrap="square" rtlCol="0"/>
          <a:lstStyle>
            <a:lvl1pPr marL="0" indent="0">
              <a:buNone/>
              <a:defRPr lang="en-US" sz="1600" b="1" kern="0" spc="200" dirty="0">
                <a:solidFill>
                  <a:schemeClr val="accent5"/>
                </a:solidFill>
              </a:defRPr>
            </a:lvl1pPr>
          </a:lstStyle>
          <a:p>
            <a:pPr marL="0" indent="0">
              <a:buNone/>
            </a:pPr>
            <a:endParaRPr lang="en-US" sz="1600" dirty="0"/>
          </a:p>
        </p:txBody>
      </p:sp>
      <p:sp>
        <p:nvSpPr>
          <p:cNvPr id="3" name="Text 0"/>
          <p:cNvSpPr>
            <a:spLocks noGrp="1"/>
          </p:cNvSpPr>
          <p:nvPr>
            <p:ph type="title" idx="101" hasCustomPrompt="1"/>
          </p:nvPr>
        </p:nvSpPr>
        <p:spPr>
          <a:xfrm>
            <a:off x="731520" y="2011680"/>
            <a:ext cx="10515600" cy="91440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4" name="Text 0"/>
          <p:cNvSpPr>
            <a:spLocks noGrp="1"/>
          </p:cNvSpPr>
          <p:nvPr>
            <p:ph type="body" idx="102" hasCustomPrompt="1"/>
          </p:nvPr>
        </p:nvSpPr>
        <p:spPr>
          <a:xfrm>
            <a:off x="731520" y="3063240"/>
            <a:ext cx="10515600" cy="548640"/>
          </a:xfrm>
          <a:prstGeom prst="rect">
            <a:avLst/>
          </a:prstGeom>
          <a:noFill/>
          <a:ln/>
        </p:spPr>
        <p:txBody>
          <a:bodyPr wrap="square" rtlCol="0"/>
          <a:lstStyle>
            <a:lvl1pPr marL="0" indent="0" algn="l">
              <a:buNone/>
              <a:defRPr lang="en-US" sz="2000" dirty="0">
                <a:solidFill>
                  <a:schemeClr val="accent5"/>
                </a:solidFill>
              </a:defRPr>
            </a:lvl1pPr>
          </a:lstStyle>
          <a:p>
            <a:pPr marL="0" indent="0" algn="l">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0040"/>
            <a:ext cx="8229600" cy="320040"/>
          </a:xfrm>
          <a:prstGeom prst="rect">
            <a:avLst/>
          </a:prstGeom>
          <a:noFill/>
          <a:ln/>
        </p:spPr>
        <p:txBody>
          <a:bodyPr wrap="square" rtlCol="0"/>
          <a:lstStyle>
            <a:lvl1pPr marL="0" indent="0">
              <a:buNone/>
              <a:defRPr lang="en-US" sz="1400" b="1" dirty="0">
                <a:solidFill>
                  <a:schemeClr val="accent1"/>
                </a:solidFill>
              </a:defRPr>
            </a:lvl1pPr>
          </a:lstStyle>
          <a:p>
            <a:pPr marL="0" indent="0">
              <a:buNone/>
            </a:pPr>
            <a:endParaRPr lang="en-US" sz="1400" dirty="0"/>
          </a:p>
        </p:txBody>
      </p:sp>
      <p:sp>
        <p:nvSpPr>
          <p:cNvPr id="3" name="Text 0"/>
          <p:cNvSpPr>
            <a:spLocks noGrp="1"/>
          </p:cNvSpPr>
          <p:nvPr>
            <p:ph type="title" idx="101" hasCustomPrompt="1"/>
          </p:nvPr>
        </p:nvSpPr>
        <p:spPr>
          <a:xfrm>
            <a:off x="548640" y="621792"/>
            <a:ext cx="11064240" cy="658368"/>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endParaRPr lang="en-US" sz="3600" dirty="0"/>
          </a:p>
        </p:txBody>
      </p:sp>
      <p:sp>
        <p:nvSpPr>
          <p:cNvPr id="4" name="Text 0"/>
          <p:cNvSpPr>
            <a:spLocks noGrp="1"/>
          </p:cNvSpPr>
          <p:nvPr>
            <p:ph type="body" idx="102" hasCustomPrompt="1"/>
          </p:nvPr>
        </p:nvSpPr>
        <p:spPr>
          <a:xfrm>
            <a:off x="548640" y="1325880"/>
            <a:ext cx="11064240" cy="411480"/>
          </a:xfrm>
          <a:prstGeom prst="rect">
            <a:avLst/>
          </a:prstGeom>
          <a:noFill/>
          <a:ln/>
        </p:spPr>
        <p:txBody>
          <a:bodyPr wrap="square" rtlCol="0"/>
          <a:lstStyle>
            <a:lvl1pPr marL="0" indent="0" algn="l">
              <a:buNone/>
              <a:defRPr lang="en-US" sz="2000" b="1" dirty="0">
                <a:solidFill>
                  <a:schemeClr val="accent1"/>
                </a:solidFill>
              </a:defRPr>
            </a:lvl1pPr>
          </a:lstStyle>
          <a:p>
            <a:pPr marL="0" indent="0" algn="l">
              <a:buNone/>
            </a:pPr>
            <a:endParaRPr lang="en-US" sz="2000" dirty="0"/>
          </a:p>
        </p:txBody>
      </p:sp>
      <p:sp>
        <p:nvSpPr>
          <p:cNvPr id="5" name="Text 0"/>
          <p:cNvSpPr/>
          <p:nvPr/>
        </p:nvSpPr>
        <p:spPr>
          <a:xfrm>
            <a:off x="6583680" y="6400800"/>
            <a:ext cx="4572000" cy="274320"/>
          </a:xfrm>
          <a:prstGeom prst="rect">
            <a:avLst/>
          </a:prstGeom>
          <a:noFill/>
          <a:ln/>
        </p:spPr>
        <p:txBody>
          <a:bodyPr wrap="square" lIns="0" tIns="0" rIns="0" bIns="0" rtlCol="0" anchor="ctr"/>
          <a:lstStyle/>
          <a:p>
            <a:pPr marL="0" indent="0" algn="r">
              <a:buNone/>
            </a:pPr>
            <a:r>
              <a:rPr lang="en-US" sz="1100" dirty="0">
                <a:solidFill>
                  <a:schemeClr val="accent3"/>
                </a:solidFill>
              </a:rPr>
              <a:t>TOOLKOREA 생산팀, Claude AI 파일럿 2기</a:t>
            </a:r>
            <a:endParaRPr lang="en-US" sz="11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3"/>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3"/>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kicker"/>
          <p:cNvSpPr txBox="1"/>
          <p:nvPr/>
        </p:nvSpPr>
        <p:spPr>
          <a:xfrm>
            <a:off x="731520" y="603504"/>
            <a:ext cx="11128248" cy="566928"/>
          </a:xfrm>
          <a:prstGeom prst="rect">
            <a:avLst/>
          </a:prstGeom>
          <a:noFill/>
          <a:ln/>
        </p:spPr>
        <p:txBody>
          <a:bodyPr wrap="square" lIns="0" tIns="0" rIns="0" bIns="0" rtlCol="0" anchor="t"/>
          <a:lstStyle/>
          <a:p>
            <a:pPr marL="0" indent="0">
              <a:buNone/>
            </a:pPr>
            <a:r>
              <a:rPr lang="en-US" sz="4000" b="1" kern="0" spc="200" dirty="0">
                <a:solidFill>
                  <a:srgbClr val="FFC000"/>
                </a:solidFill>
              </a:rPr>
              <a:t>Claude AI </a:t>
            </a:r>
            <a:r>
              <a:rPr lang="en-US" sz="4000" b="1" kern="0" spc="200" dirty="0">
                <a:solidFill>
                  <a:srgbClr val="FFFFFF"/>
                </a:solidFill>
              </a:rPr>
              <a:t>파일럿 2기 성과 발표</a:t>
            </a:r>
            <a:endParaRPr lang="en-US" sz="4000" dirty="0"/>
          </a:p>
        </p:txBody>
      </p:sp>
      <p:sp>
        <p:nvSpPr>
          <p:cNvPr id="3" name="Text 0"/>
          <p:cNvSpPr>
            <a:spLocks noGrp="1"/>
          </p:cNvSpPr>
          <p:nvPr>
            <p:ph type="title" idx="101"/>
          </p:nvPr>
        </p:nvSpPr>
        <p:spPr>
          <a:xfrm>
            <a:off x="731520" y="2011680"/>
            <a:ext cx="10515600" cy="914400"/>
          </a:xfrm>
          <a:prstGeom prst="rect">
            <a:avLst/>
          </a:prstGeom>
          <a:noFill/>
          <a:ln/>
        </p:spPr>
        <p:txBody>
          <a:bodyPr wrap="square" lIns="0" tIns="0" rIns="0" bIns="0" rtlCol="0" anchor="t"/>
          <a:lstStyle/>
          <a:p>
            <a:pPr marL="0" indent="0" algn="l">
              <a:buNone/>
            </a:pPr>
            <a:r>
              <a:rPr lang="en-US" sz="4000" b="1" dirty="0">
                <a:solidFill>
                  <a:schemeClr val="bg1"/>
                </a:solidFill>
              </a:rPr>
              <a:t>현장 데이터의 정리와 업무 자동화</a:t>
            </a:r>
            <a:endParaRPr lang="en-US" sz="4000" dirty="0"/>
          </a:p>
        </p:txBody>
      </p:sp>
      <p:sp>
        <p:nvSpPr>
          <p:cNvPr id="4" name="Text 0"/>
          <p:cNvSpPr>
            <a:spLocks noGrp="1"/>
          </p:cNvSpPr>
          <p:nvPr>
            <p:ph type="body" idx="102"/>
          </p:nvPr>
        </p:nvSpPr>
        <p:spPr>
          <a:xfrm>
            <a:off x="731520" y="3063240"/>
            <a:ext cx="10515600" cy="548640"/>
          </a:xfrm>
          <a:prstGeom prst="rect">
            <a:avLst/>
          </a:prstGeom>
          <a:noFill/>
          <a:ln/>
        </p:spPr>
        <p:txBody>
          <a:bodyPr wrap="square" lIns="0" tIns="0" rIns="0" bIns="0" rtlCol="0" anchor="t"/>
          <a:lstStyle/>
          <a:p>
            <a:pPr marL="0" indent="0" algn="l">
              <a:buNone/>
            </a:pPr>
            <a:r>
              <a:rPr lang="en-US" sz="2000" dirty="0">
                <a:solidFill>
                  <a:schemeClr val="accent5"/>
                </a:solidFill>
              </a:rPr>
              <a:t>2기(2026. 7 ~ 10) 생산팀 적용 결과</a:t>
            </a:r>
            <a:endParaRPr lang="en-US" sz="2000" dirty="0"/>
          </a:p>
        </p:txBody>
      </p:sp>
      <p:sp>
        <p:nvSpPr>
          <p:cNvPr id="5" name="cover-rule"/>
          <p:cNvSpPr/>
          <p:nvPr/>
        </p:nvSpPr>
        <p:spPr>
          <a:xfrm>
            <a:off x="731520" y="4206240"/>
            <a:ext cx="10698480" cy="0"/>
          </a:xfrm>
          <a:prstGeom prst="line">
            <a:avLst/>
          </a:prstGeom>
          <a:noFill/>
          <a:ln w="9525">
            <a:solidFill>
              <a:srgbClr val="3A506B"/>
            </a:solidFill>
            <a:prstDash val="solid"/>
          </a:ln>
        </p:spPr>
      </p:sp>
      <p:sp>
        <p:nvSpPr>
          <p:cNvPr id="6" name="cover-meta"/>
          <p:cNvSpPr txBox="1"/>
          <p:nvPr/>
        </p:nvSpPr>
        <p:spPr>
          <a:xfrm>
            <a:off x="731520" y="4434840"/>
            <a:ext cx="5486400" cy="822960"/>
          </a:xfrm>
          <a:prstGeom prst="rect">
            <a:avLst/>
          </a:prstGeom>
          <a:noFill/>
          <a:ln/>
        </p:spPr>
        <p:txBody>
          <a:bodyPr wrap="square" lIns="0" tIns="0" rIns="0" bIns="0" rtlCol="0" anchor="t"/>
          <a:lstStyle/>
          <a:p>
            <a:pPr marL="0" indent="0">
              <a:buNone/>
            </a:pPr>
            <a:r>
              <a:rPr lang="en-US" sz="1800" dirty="0">
                <a:solidFill>
                  <a:srgbClr val="6B7A88"/>
                </a:solidFill>
              </a:rPr>
              <a:t>발표  </a:t>
            </a:r>
            <a:r>
              <a:rPr lang="en-US" sz="1800" dirty="0">
                <a:solidFill>
                  <a:srgbClr val="FFFFFF"/>
                </a:solidFill>
              </a:rPr>
              <a:t>2026. 11. 10 (화)</a:t>
            </a:r>
            <a:endParaRPr lang="en-US" sz="1800" dirty="0"/>
          </a:p>
          <a:p>
            <a:pPr marL="0" indent="0">
              <a:buNone/>
            </a:pPr>
            <a:r>
              <a:rPr lang="en-US" sz="1800" dirty="0">
                <a:solidFill>
                  <a:srgbClr val="6B7A88"/>
                </a:solidFill>
              </a:rPr>
              <a:t>발표자  </a:t>
            </a:r>
            <a:r>
              <a:rPr lang="en-US" sz="1800" dirty="0">
                <a:solidFill>
                  <a:srgbClr val="FFFFFF"/>
                </a:solidFill>
              </a:rPr>
              <a:t>생산팀 한경준</a:t>
            </a:r>
            <a:endParaRPr lang="en-US" sz="1800" dirty="0"/>
          </a:p>
        </p:txBody>
      </p:sp>
      <p:sp>
        <p:nvSpPr>
          <p:cNvPr id="7" name="cover-src"/>
          <p:cNvSpPr txBox="1"/>
          <p:nvPr/>
        </p:nvSpPr>
        <p:spPr>
          <a:xfrm>
            <a:off x="731520" y="6172200"/>
            <a:ext cx="10698480" cy="320040"/>
          </a:xfrm>
          <a:prstGeom prst="rect">
            <a:avLst/>
          </a:prstGeom>
          <a:noFill/>
          <a:ln/>
        </p:spPr>
        <p:txBody>
          <a:bodyPr wrap="square" lIns="0" tIns="0" rIns="0" bIns="0" rtlCol="0" anchor="ctr"/>
          <a:lstStyle/>
          <a:p>
            <a:pPr marL="0" indent="0">
              <a:buNone/>
            </a:pPr>
            <a:r>
              <a:rPr lang="en-US" sz="1200" dirty="0">
                <a:solidFill>
                  <a:srgbClr val="6B7A88"/>
                </a:solidFill>
              </a:rPr>
              <a:t>근거: 사내 지식 위키(cnc-wiki) 기록, 자동화 실행 로그  |  자료 기준일 2026-10-23</a:t>
            </a:r>
            <a:endParaRPr lang="en-US" sz="1200" dirty="0"/>
          </a:p>
        </p:txBody>
      </p:sp>
      <p:sp>
        <p:nvSpPr>
          <p:cNvPr id="9" name="Text 0"/>
          <p:cNvSpPr>
            <a:spLocks noGrp="1"/>
          </p:cNvSpPr>
          <p:nvPr>
            <p:ph type="body" idx="100"/>
          </p:nvPr>
        </p:nvSpPr>
        <p:spPr>
          <a:xfrm>
            <a:off x="731520" y="1554480"/>
            <a:ext cx="8229600" cy="365760"/>
          </a:xfrm>
          <a:prstGeom prst="rect">
            <a:avLst/>
          </a:prstGeom>
          <a:noFill/>
          <a:ln/>
        </p:spPr>
        <p:txBody>
          <a:bodyPr wrap="square" lIns="0" tIns="0" rIns="0" bIns="0" rtlCol="0"/>
          <a:lstStyle/>
          <a:p>
            <a:pPr marL="0" indent="0">
              <a:buNone/>
            </a:pP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1"/>
          </p:nvPr>
        </p:nvSpPr>
        <p:spPr>
          <a:xfrm>
            <a:off x="548640" y="621792"/>
            <a:ext cx="11064240" cy="658368"/>
          </a:xfrm>
          <a:prstGeom prst="rect">
            <a:avLst/>
          </a:prstGeom>
          <a:noFill/>
          <a:ln/>
        </p:spPr>
        <p:txBody>
          <a:bodyPr wrap="square" lIns="0" tIns="0" rIns="0" bIns="0" rtlCol="0" anchor="ctr"/>
          <a:lstStyle/>
          <a:p>
            <a:pPr marL="0" indent="0" algn="l">
              <a:buNone/>
            </a:pPr>
            <a:r>
              <a:rPr lang="en-US" sz="3600" b="1" dirty="0">
                <a:solidFill>
                  <a:schemeClr val="tx1"/>
                </a:solidFill>
              </a:rPr>
              <a:t>목차</a:t>
            </a:r>
            <a:endParaRPr lang="en-US" sz="3600" dirty="0"/>
          </a:p>
        </p:txBody>
      </p:sp>
      <p:sp>
        <p:nvSpPr>
          <p:cNvPr id="3" name="title-rule"/>
          <p:cNvSpPr/>
          <p:nvPr/>
        </p:nvSpPr>
        <p:spPr>
          <a:xfrm>
            <a:off x="548640" y="1810512"/>
            <a:ext cx="11064240" cy="0"/>
          </a:xfrm>
          <a:prstGeom prst="line">
            <a:avLst/>
          </a:prstGeom>
          <a:noFill/>
          <a:ln w="12700">
            <a:solidFill>
              <a:srgbClr val="D9E2EC"/>
            </a:solidFill>
            <a:prstDash val="solid"/>
          </a:ln>
        </p:spPr>
      </p:sp>
      <p:sp>
        <p:nvSpPr>
          <p:cNvPr id="4" name="toc0"/>
          <p:cNvSpPr/>
          <p:nvPr/>
        </p:nvSpPr>
        <p:spPr>
          <a:xfrm>
            <a:off x="548640" y="2011680"/>
            <a:ext cx="11064240" cy="676656"/>
          </a:xfrm>
          <a:prstGeom prst="rect">
            <a:avLst/>
          </a:prstGeom>
          <a:solidFill>
            <a:srgbClr val="F4F6F8"/>
          </a:solidFill>
          <a:ln w="9525">
            <a:solidFill>
              <a:srgbClr val="D9E2EC"/>
            </a:solidFill>
            <a:prstDash val="solid"/>
          </a:ln>
        </p:spPr>
      </p:sp>
      <p:sp>
        <p:nvSpPr>
          <p:cNvPr id="5" name="toc0-n"/>
          <p:cNvSpPr txBox="1"/>
          <p:nvPr/>
        </p:nvSpPr>
        <p:spPr>
          <a:xfrm>
            <a:off x="777240" y="2011680"/>
            <a:ext cx="822960" cy="676656"/>
          </a:xfrm>
          <a:prstGeom prst="rect">
            <a:avLst/>
          </a:prstGeom>
          <a:noFill/>
          <a:ln/>
        </p:spPr>
        <p:txBody>
          <a:bodyPr wrap="square" lIns="0" tIns="0" rIns="0" bIns="0" rtlCol="0" anchor="ctr"/>
          <a:lstStyle/>
          <a:p>
            <a:pPr marL="0" indent="0">
              <a:buNone/>
            </a:pPr>
            <a:r>
              <a:rPr lang="en-US" sz="2400" b="1" dirty="0">
                <a:solidFill>
                  <a:srgbClr val="0E7C86"/>
                </a:solidFill>
              </a:rPr>
              <a:t>1</a:t>
            </a:r>
            <a:endParaRPr lang="en-US" sz="2400" dirty="0"/>
          </a:p>
        </p:txBody>
      </p:sp>
      <p:sp>
        <p:nvSpPr>
          <p:cNvPr id="6" name="toc0-t"/>
          <p:cNvSpPr txBox="1"/>
          <p:nvPr/>
        </p:nvSpPr>
        <p:spPr>
          <a:xfrm>
            <a:off x="1645920" y="2011680"/>
            <a:ext cx="4572000" cy="676656"/>
          </a:xfrm>
          <a:prstGeom prst="rect">
            <a:avLst/>
          </a:prstGeom>
          <a:noFill/>
          <a:ln/>
        </p:spPr>
        <p:txBody>
          <a:bodyPr wrap="square" lIns="0" tIns="0" rIns="0" bIns="0" rtlCol="0" anchor="ctr"/>
          <a:lstStyle/>
          <a:p>
            <a:pPr marL="0" indent="0">
              <a:buNone/>
            </a:pPr>
            <a:r>
              <a:rPr lang="en-US" sz="2000" b="1" dirty="0">
                <a:solidFill>
                  <a:srgbClr val="1F2A36"/>
                </a:solidFill>
              </a:rPr>
              <a:t>추진 배경</a:t>
            </a:r>
            <a:endParaRPr lang="en-US" sz="2000" dirty="0"/>
          </a:p>
        </p:txBody>
      </p:sp>
      <p:sp>
        <p:nvSpPr>
          <p:cNvPr id="7" name="toc0-d"/>
          <p:cNvSpPr txBox="1"/>
          <p:nvPr/>
        </p:nvSpPr>
        <p:spPr>
          <a:xfrm>
            <a:off x="6217920" y="2011680"/>
            <a:ext cx="4023360" cy="676656"/>
          </a:xfrm>
          <a:prstGeom prst="rect">
            <a:avLst/>
          </a:prstGeom>
          <a:noFill/>
          <a:ln/>
        </p:spPr>
        <p:txBody>
          <a:bodyPr wrap="square" lIns="0" tIns="0" rIns="0" bIns="0" rtlCol="0" anchor="ctr"/>
          <a:lstStyle/>
          <a:p>
            <a:pPr marL="0" indent="0">
              <a:buNone/>
            </a:pPr>
            <a:r>
              <a:rPr lang="en-US" sz="1600" dirty="0">
                <a:solidFill>
                  <a:srgbClr val="6B7A88"/>
                </a:solidFill>
              </a:rPr>
              <a:t>도입 전 업무와 추진 방향</a:t>
            </a:r>
            <a:endParaRPr lang="en-US" sz="1600" dirty="0"/>
          </a:p>
        </p:txBody>
      </p:sp>
      <p:sp>
        <p:nvSpPr>
          <p:cNvPr id="8" name="toc1"/>
          <p:cNvSpPr/>
          <p:nvPr/>
        </p:nvSpPr>
        <p:spPr>
          <a:xfrm>
            <a:off x="548640" y="2816352"/>
            <a:ext cx="11064240" cy="676656"/>
          </a:xfrm>
          <a:prstGeom prst="rect">
            <a:avLst/>
          </a:prstGeom>
          <a:solidFill>
            <a:srgbClr val="FFFFFF"/>
          </a:solidFill>
          <a:ln w="9525">
            <a:solidFill>
              <a:srgbClr val="D9E2EC"/>
            </a:solidFill>
            <a:prstDash val="solid"/>
          </a:ln>
        </p:spPr>
      </p:sp>
      <p:sp>
        <p:nvSpPr>
          <p:cNvPr id="9" name="toc1-n"/>
          <p:cNvSpPr txBox="1"/>
          <p:nvPr/>
        </p:nvSpPr>
        <p:spPr>
          <a:xfrm>
            <a:off x="777240" y="2816352"/>
            <a:ext cx="822960" cy="676656"/>
          </a:xfrm>
          <a:prstGeom prst="rect">
            <a:avLst/>
          </a:prstGeom>
          <a:noFill/>
          <a:ln/>
        </p:spPr>
        <p:txBody>
          <a:bodyPr wrap="square" lIns="0" tIns="0" rIns="0" bIns="0" rtlCol="0" anchor="ctr"/>
          <a:lstStyle/>
          <a:p>
            <a:pPr marL="0" indent="0">
              <a:buNone/>
            </a:pPr>
            <a:r>
              <a:rPr lang="en-US" sz="2400" b="1" dirty="0">
                <a:solidFill>
                  <a:srgbClr val="0E7C86"/>
                </a:solidFill>
              </a:rPr>
              <a:t>2</a:t>
            </a:r>
            <a:endParaRPr lang="en-US" sz="2400" dirty="0"/>
          </a:p>
        </p:txBody>
      </p:sp>
      <p:sp>
        <p:nvSpPr>
          <p:cNvPr id="10" name="toc1-t"/>
          <p:cNvSpPr txBox="1"/>
          <p:nvPr/>
        </p:nvSpPr>
        <p:spPr>
          <a:xfrm>
            <a:off x="1645920" y="2816352"/>
            <a:ext cx="4572000" cy="676656"/>
          </a:xfrm>
          <a:prstGeom prst="rect">
            <a:avLst/>
          </a:prstGeom>
          <a:noFill/>
          <a:ln/>
        </p:spPr>
        <p:txBody>
          <a:bodyPr wrap="square" lIns="0" tIns="0" rIns="0" bIns="0" rtlCol="0" anchor="ctr"/>
          <a:lstStyle/>
          <a:p>
            <a:pPr marL="0" indent="0">
              <a:buNone/>
            </a:pPr>
            <a:r>
              <a:rPr lang="en-US" sz="2000" b="1" dirty="0">
                <a:solidFill>
                  <a:srgbClr val="1F2A36"/>
                </a:solidFill>
              </a:rPr>
              <a:t>팀 내 Claude 활용 현황</a:t>
            </a:r>
            <a:endParaRPr lang="en-US" sz="2000" dirty="0"/>
          </a:p>
        </p:txBody>
      </p:sp>
      <p:sp>
        <p:nvSpPr>
          <p:cNvPr id="11" name="toc1-d"/>
          <p:cNvSpPr txBox="1"/>
          <p:nvPr/>
        </p:nvSpPr>
        <p:spPr>
          <a:xfrm>
            <a:off x="6217920" y="2816352"/>
            <a:ext cx="4023360" cy="676656"/>
          </a:xfrm>
          <a:prstGeom prst="rect">
            <a:avLst/>
          </a:prstGeom>
          <a:noFill/>
          <a:ln/>
        </p:spPr>
        <p:txBody>
          <a:bodyPr wrap="square" lIns="0" tIns="0" rIns="0" bIns="0" rtlCol="0" anchor="ctr"/>
          <a:lstStyle/>
          <a:p>
            <a:pPr marL="0" indent="0">
              <a:buNone/>
            </a:pPr>
            <a:r>
              <a:rPr lang="en-US" sz="1600" dirty="0">
                <a:solidFill>
                  <a:srgbClr val="6B7A88"/>
                </a:solidFill>
              </a:rPr>
              <a:t>활용 영역과 설계 프로그램 연결</a:t>
            </a:r>
            <a:endParaRPr lang="en-US" sz="1600" dirty="0"/>
          </a:p>
        </p:txBody>
      </p:sp>
      <p:sp>
        <p:nvSpPr>
          <p:cNvPr id="12" name="toc1-tag"/>
          <p:cNvSpPr txBox="1"/>
          <p:nvPr/>
        </p:nvSpPr>
        <p:spPr>
          <a:xfrm>
            <a:off x="10332720" y="2971800"/>
            <a:ext cx="1097280" cy="365760"/>
          </a:xfrm>
          <a:prstGeom prst="rect">
            <a:avLst/>
          </a:prstGeom>
          <a:solidFill>
            <a:srgbClr val="EAF4F5"/>
          </a:solidFill>
          <a:ln/>
        </p:spPr>
        <p:txBody>
          <a:bodyPr wrap="square" lIns="0" tIns="0" rIns="0" bIns="0" rtlCol="0" anchor="ctr"/>
          <a:lstStyle/>
          <a:p>
            <a:pPr marL="0" indent="0" algn="ctr">
              <a:buNone/>
            </a:pPr>
            <a:r>
              <a:rPr lang="en-US" sz="1400" b="1" dirty="0">
                <a:solidFill>
                  <a:srgbClr val="0E7C86"/>
                </a:solidFill>
              </a:rPr>
              <a:t>필수 ①</a:t>
            </a:r>
            <a:endParaRPr lang="en-US" sz="1400" dirty="0"/>
          </a:p>
        </p:txBody>
      </p:sp>
      <p:sp>
        <p:nvSpPr>
          <p:cNvPr id="13" name="toc2"/>
          <p:cNvSpPr/>
          <p:nvPr/>
        </p:nvSpPr>
        <p:spPr>
          <a:xfrm>
            <a:off x="548640" y="3621024"/>
            <a:ext cx="11064240" cy="676656"/>
          </a:xfrm>
          <a:prstGeom prst="rect">
            <a:avLst/>
          </a:prstGeom>
          <a:solidFill>
            <a:srgbClr val="F4F6F8"/>
          </a:solidFill>
          <a:ln w="9525">
            <a:solidFill>
              <a:srgbClr val="D9E2EC"/>
            </a:solidFill>
            <a:prstDash val="solid"/>
          </a:ln>
        </p:spPr>
      </p:sp>
      <p:sp>
        <p:nvSpPr>
          <p:cNvPr id="14" name="toc2-n"/>
          <p:cNvSpPr txBox="1"/>
          <p:nvPr/>
        </p:nvSpPr>
        <p:spPr>
          <a:xfrm>
            <a:off x="777240" y="3621024"/>
            <a:ext cx="822960" cy="676656"/>
          </a:xfrm>
          <a:prstGeom prst="rect">
            <a:avLst/>
          </a:prstGeom>
          <a:noFill/>
          <a:ln/>
        </p:spPr>
        <p:txBody>
          <a:bodyPr wrap="square" lIns="0" tIns="0" rIns="0" bIns="0" rtlCol="0" anchor="ctr"/>
          <a:lstStyle/>
          <a:p>
            <a:pPr marL="0" indent="0">
              <a:buNone/>
            </a:pPr>
            <a:r>
              <a:rPr lang="en-US" sz="2400" b="1" dirty="0">
                <a:solidFill>
                  <a:srgbClr val="0E7C86"/>
                </a:solidFill>
              </a:rPr>
              <a:t>3</a:t>
            </a:r>
            <a:endParaRPr lang="en-US" sz="2400" dirty="0"/>
          </a:p>
        </p:txBody>
      </p:sp>
      <p:sp>
        <p:nvSpPr>
          <p:cNvPr id="15" name="toc2-t"/>
          <p:cNvSpPr txBox="1"/>
          <p:nvPr/>
        </p:nvSpPr>
        <p:spPr>
          <a:xfrm>
            <a:off x="1645920" y="3621024"/>
            <a:ext cx="4572000" cy="676656"/>
          </a:xfrm>
          <a:prstGeom prst="rect">
            <a:avLst/>
          </a:prstGeom>
          <a:noFill/>
          <a:ln/>
        </p:spPr>
        <p:txBody>
          <a:bodyPr wrap="square" lIns="0" tIns="0" rIns="0" bIns="0" rtlCol="0" anchor="ctr"/>
          <a:lstStyle/>
          <a:p>
            <a:pPr marL="0" indent="0">
              <a:buNone/>
            </a:pPr>
            <a:r>
              <a:rPr lang="en-US" sz="2000" b="1" dirty="0">
                <a:solidFill>
                  <a:srgbClr val="1F2A36"/>
                </a:solidFill>
              </a:rPr>
              <a:t>자동화 시스템 소개 및 시연</a:t>
            </a:r>
            <a:endParaRPr lang="en-US" sz="2000" dirty="0"/>
          </a:p>
        </p:txBody>
      </p:sp>
      <p:sp>
        <p:nvSpPr>
          <p:cNvPr id="16" name="toc2-d"/>
          <p:cNvSpPr txBox="1"/>
          <p:nvPr/>
        </p:nvSpPr>
        <p:spPr>
          <a:xfrm>
            <a:off x="6217920" y="3621024"/>
            <a:ext cx="4023360" cy="676656"/>
          </a:xfrm>
          <a:prstGeom prst="rect">
            <a:avLst/>
          </a:prstGeom>
          <a:noFill/>
          <a:ln/>
        </p:spPr>
        <p:txBody>
          <a:bodyPr wrap="square" lIns="0" tIns="0" rIns="0" bIns="0" rtlCol="0" anchor="ctr"/>
          <a:lstStyle/>
          <a:p>
            <a:pPr marL="0" indent="0">
              <a:buNone/>
            </a:pPr>
            <a:r>
              <a:rPr lang="en-US" sz="1600" dirty="0">
                <a:solidFill>
                  <a:srgbClr val="6B7A88"/>
                </a:solidFill>
              </a:rPr>
              <a:t>구성, 실행 화면, 질의응답</a:t>
            </a:r>
            <a:endParaRPr lang="en-US" sz="1600" dirty="0"/>
          </a:p>
        </p:txBody>
      </p:sp>
      <p:sp>
        <p:nvSpPr>
          <p:cNvPr id="17" name="toc2-tag"/>
          <p:cNvSpPr txBox="1"/>
          <p:nvPr/>
        </p:nvSpPr>
        <p:spPr>
          <a:xfrm>
            <a:off x="10332720" y="3776472"/>
            <a:ext cx="1097280" cy="365760"/>
          </a:xfrm>
          <a:prstGeom prst="rect">
            <a:avLst/>
          </a:prstGeom>
          <a:solidFill>
            <a:srgbClr val="EAF4F5"/>
          </a:solidFill>
          <a:ln/>
        </p:spPr>
        <p:txBody>
          <a:bodyPr wrap="square" lIns="0" tIns="0" rIns="0" bIns="0" rtlCol="0" anchor="ctr"/>
          <a:lstStyle/>
          <a:p>
            <a:pPr marL="0" indent="0" algn="ctr">
              <a:buNone/>
            </a:pPr>
            <a:r>
              <a:rPr lang="en-US" sz="1400" b="1" dirty="0">
                <a:solidFill>
                  <a:srgbClr val="0E7C86"/>
                </a:solidFill>
              </a:rPr>
              <a:t>필수 ②</a:t>
            </a:r>
            <a:endParaRPr lang="en-US" sz="1400" dirty="0"/>
          </a:p>
        </p:txBody>
      </p:sp>
      <p:sp>
        <p:nvSpPr>
          <p:cNvPr id="18" name="toc3"/>
          <p:cNvSpPr/>
          <p:nvPr/>
        </p:nvSpPr>
        <p:spPr>
          <a:xfrm>
            <a:off x="548640" y="4425696"/>
            <a:ext cx="11064240" cy="676656"/>
          </a:xfrm>
          <a:prstGeom prst="rect">
            <a:avLst/>
          </a:prstGeom>
          <a:solidFill>
            <a:srgbClr val="FFFFFF"/>
          </a:solidFill>
          <a:ln w="9525">
            <a:solidFill>
              <a:srgbClr val="D9E2EC"/>
            </a:solidFill>
            <a:prstDash val="solid"/>
          </a:ln>
        </p:spPr>
      </p:sp>
      <p:sp>
        <p:nvSpPr>
          <p:cNvPr id="19" name="toc3-n"/>
          <p:cNvSpPr txBox="1"/>
          <p:nvPr/>
        </p:nvSpPr>
        <p:spPr>
          <a:xfrm>
            <a:off x="777240" y="4425696"/>
            <a:ext cx="822960" cy="676656"/>
          </a:xfrm>
          <a:prstGeom prst="rect">
            <a:avLst/>
          </a:prstGeom>
          <a:noFill/>
          <a:ln/>
        </p:spPr>
        <p:txBody>
          <a:bodyPr wrap="square" lIns="0" tIns="0" rIns="0" bIns="0" rtlCol="0" anchor="ctr"/>
          <a:lstStyle/>
          <a:p>
            <a:pPr marL="0" indent="0">
              <a:buNone/>
            </a:pPr>
            <a:r>
              <a:rPr lang="en-US" sz="2400" b="1" dirty="0">
                <a:solidFill>
                  <a:srgbClr val="0E7C86"/>
                </a:solidFill>
              </a:rPr>
              <a:t>4</a:t>
            </a:r>
            <a:endParaRPr lang="en-US" sz="2400" dirty="0"/>
          </a:p>
        </p:txBody>
      </p:sp>
      <p:sp>
        <p:nvSpPr>
          <p:cNvPr id="20" name="toc3-t"/>
          <p:cNvSpPr txBox="1"/>
          <p:nvPr/>
        </p:nvSpPr>
        <p:spPr>
          <a:xfrm>
            <a:off x="1645920" y="4425696"/>
            <a:ext cx="4572000" cy="676656"/>
          </a:xfrm>
          <a:prstGeom prst="rect">
            <a:avLst/>
          </a:prstGeom>
          <a:noFill/>
          <a:ln/>
        </p:spPr>
        <p:txBody>
          <a:bodyPr wrap="square" lIns="0" tIns="0" rIns="0" bIns="0" rtlCol="0" anchor="ctr"/>
          <a:lstStyle/>
          <a:p>
            <a:pPr marL="0" indent="0">
              <a:buNone/>
            </a:pPr>
            <a:r>
              <a:rPr lang="en-US" sz="2000" b="1" dirty="0">
                <a:solidFill>
                  <a:srgbClr val="1F2A36"/>
                </a:solidFill>
              </a:rPr>
              <a:t>업무 적용 전후 비교</a:t>
            </a:r>
            <a:endParaRPr lang="en-US" sz="2000" dirty="0"/>
          </a:p>
        </p:txBody>
      </p:sp>
      <p:sp>
        <p:nvSpPr>
          <p:cNvPr id="21" name="toc3-d"/>
          <p:cNvSpPr txBox="1"/>
          <p:nvPr/>
        </p:nvSpPr>
        <p:spPr>
          <a:xfrm>
            <a:off x="6217920" y="4425696"/>
            <a:ext cx="4023360" cy="676656"/>
          </a:xfrm>
          <a:prstGeom prst="rect">
            <a:avLst/>
          </a:prstGeom>
          <a:noFill/>
          <a:ln/>
        </p:spPr>
        <p:txBody>
          <a:bodyPr wrap="square" lIns="0" tIns="0" rIns="0" bIns="0" rtlCol="0" anchor="ctr"/>
          <a:lstStyle/>
          <a:p>
            <a:pPr marL="0" indent="0">
              <a:buNone/>
            </a:pPr>
            <a:r>
              <a:rPr lang="en-US" sz="1600" dirty="0">
                <a:solidFill>
                  <a:srgbClr val="6B7A88"/>
                </a:solidFill>
              </a:rPr>
              <a:t>일일보고와 항목별 전후 비교</a:t>
            </a:r>
            <a:endParaRPr lang="en-US" sz="1600" dirty="0"/>
          </a:p>
        </p:txBody>
      </p:sp>
      <p:sp>
        <p:nvSpPr>
          <p:cNvPr id="22" name="toc3-tag"/>
          <p:cNvSpPr txBox="1"/>
          <p:nvPr/>
        </p:nvSpPr>
        <p:spPr>
          <a:xfrm>
            <a:off x="10332720" y="4581144"/>
            <a:ext cx="1097280" cy="365760"/>
          </a:xfrm>
          <a:prstGeom prst="rect">
            <a:avLst/>
          </a:prstGeom>
          <a:solidFill>
            <a:srgbClr val="EAF4F5"/>
          </a:solidFill>
          <a:ln/>
        </p:spPr>
        <p:txBody>
          <a:bodyPr wrap="square" lIns="0" tIns="0" rIns="0" bIns="0" rtlCol="0" anchor="ctr"/>
          <a:lstStyle/>
          <a:p>
            <a:pPr marL="0" indent="0" algn="ctr">
              <a:buNone/>
            </a:pPr>
            <a:r>
              <a:rPr lang="en-US" sz="1400" b="1" dirty="0">
                <a:solidFill>
                  <a:srgbClr val="0E7C86"/>
                </a:solidFill>
              </a:rPr>
              <a:t>필수 ③</a:t>
            </a:r>
            <a:endParaRPr lang="en-US" sz="1400" dirty="0"/>
          </a:p>
        </p:txBody>
      </p:sp>
      <p:sp>
        <p:nvSpPr>
          <p:cNvPr id="23" name="toc4"/>
          <p:cNvSpPr/>
          <p:nvPr/>
        </p:nvSpPr>
        <p:spPr>
          <a:xfrm>
            <a:off x="548640" y="5230368"/>
            <a:ext cx="11064240" cy="676656"/>
          </a:xfrm>
          <a:prstGeom prst="rect">
            <a:avLst/>
          </a:prstGeom>
          <a:solidFill>
            <a:srgbClr val="F4F6F8"/>
          </a:solidFill>
          <a:ln w="9525">
            <a:solidFill>
              <a:srgbClr val="D9E2EC"/>
            </a:solidFill>
            <a:prstDash val="solid"/>
          </a:ln>
        </p:spPr>
      </p:sp>
      <p:sp>
        <p:nvSpPr>
          <p:cNvPr id="24" name="toc4-n"/>
          <p:cNvSpPr txBox="1"/>
          <p:nvPr/>
        </p:nvSpPr>
        <p:spPr>
          <a:xfrm>
            <a:off x="777240" y="5230368"/>
            <a:ext cx="822960" cy="676656"/>
          </a:xfrm>
          <a:prstGeom prst="rect">
            <a:avLst/>
          </a:prstGeom>
          <a:noFill/>
          <a:ln/>
        </p:spPr>
        <p:txBody>
          <a:bodyPr wrap="square" lIns="0" tIns="0" rIns="0" bIns="0" rtlCol="0" anchor="ctr"/>
          <a:lstStyle/>
          <a:p>
            <a:pPr marL="0" indent="0">
              <a:buNone/>
            </a:pPr>
            <a:r>
              <a:rPr lang="en-US" sz="2400" b="1" dirty="0">
                <a:solidFill>
                  <a:srgbClr val="0E7C86"/>
                </a:solidFill>
              </a:rPr>
              <a:t>5</a:t>
            </a:r>
            <a:endParaRPr lang="en-US" sz="2400" dirty="0"/>
          </a:p>
        </p:txBody>
      </p:sp>
      <p:sp>
        <p:nvSpPr>
          <p:cNvPr id="25" name="toc4-t"/>
          <p:cNvSpPr txBox="1"/>
          <p:nvPr/>
        </p:nvSpPr>
        <p:spPr>
          <a:xfrm>
            <a:off x="1645920" y="5230368"/>
            <a:ext cx="4572000" cy="676656"/>
          </a:xfrm>
          <a:prstGeom prst="rect">
            <a:avLst/>
          </a:prstGeom>
          <a:noFill/>
          <a:ln/>
        </p:spPr>
        <p:txBody>
          <a:bodyPr wrap="square" lIns="0" tIns="0" rIns="0" bIns="0" rtlCol="0" anchor="ctr"/>
          <a:lstStyle/>
          <a:p>
            <a:pPr marL="0" indent="0">
              <a:buNone/>
            </a:pPr>
            <a:r>
              <a:rPr lang="en-US" sz="2000" b="1" dirty="0">
                <a:solidFill>
                  <a:srgbClr val="1F2A36"/>
                </a:solidFill>
              </a:rPr>
              <a:t>한계와 향후 과제</a:t>
            </a:r>
            <a:endParaRPr lang="en-US" sz="2000" dirty="0"/>
          </a:p>
        </p:txBody>
      </p:sp>
      <p:sp>
        <p:nvSpPr>
          <p:cNvPr id="26" name="toc4-d"/>
          <p:cNvSpPr txBox="1"/>
          <p:nvPr/>
        </p:nvSpPr>
        <p:spPr>
          <a:xfrm>
            <a:off x="6217920" y="5230368"/>
            <a:ext cx="4023360" cy="676656"/>
          </a:xfrm>
          <a:prstGeom prst="rect">
            <a:avLst/>
          </a:prstGeom>
          <a:noFill/>
          <a:ln/>
        </p:spPr>
        <p:txBody>
          <a:bodyPr wrap="square" lIns="0" tIns="0" rIns="0" bIns="0" rtlCol="0" anchor="ctr"/>
          <a:lstStyle/>
          <a:p>
            <a:pPr marL="0" indent="0">
              <a:buNone/>
            </a:pPr>
            <a:r>
              <a:rPr lang="en-US" sz="1600" dirty="0">
                <a:solidFill>
                  <a:srgbClr val="6B7A88"/>
                </a:solidFill>
              </a:rPr>
              <a:t>생산 실적 ERP 단일 기록, 운영 한계</a:t>
            </a:r>
            <a:endParaRPr lang="en-US" sz="1600" dirty="0"/>
          </a:p>
        </p:txBody>
      </p:sp>
      <p:sp>
        <p:nvSpPr>
          <p:cNvPr id="28" name="Text 0"/>
          <p:cNvSpPr>
            <a:spLocks noGrp="1"/>
          </p:cNvSpPr>
          <p:nvPr>
            <p:ph type="body" idx="100"/>
          </p:nvPr>
        </p:nvSpPr>
        <p:spPr>
          <a:xfrm>
            <a:off x="548640" y="320040"/>
            <a:ext cx="8229600" cy="320040"/>
          </a:xfrm>
          <a:prstGeom prst="rect">
            <a:avLst/>
          </a:prstGeom>
          <a:noFill/>
          <a:ln/>
        </p:spPr>
        <p:txBody>
          <a:bodyPr wrap="square" lIns="0" tIns="0" rIns="0" bIns="0" rtlCol="0"/>
          <a:lstStyle/>
          <a:p>
            <a:pPr marL="0" indent="0">
              <a:buNone/>
            </a:pPr>
            <a:endParaRPr lang="en-US" sz="1400" dirty="0"/>
          </a:p>
        </p:txBody>
      </p:sp>
      <p:sp>
        <p:nvSpPr>
          <p:cNvPr id="29" name="Text 0"/>
          <p:cNvSpPr>
            <a:spLocks noGrp="1"/>
          </p:cNvSpPr>
          <p:nvPr>
            <p:ph type="body" idx="102"/>
          </p:nvPr>
        </p:nvSpPr>
        <p:spPr>
          <a:xfrm>
            <a:off x="548640" y="1325880"/>
            <a:ext cx="11064240" cy="411480"/>
          </a:xfrm>
          <a:prstGeom prst="rect">
            <a:avLst/>
          </a:prstGeom>
          <a:noFill/>
          <a:ln/>
        </p:spPr>
        <p:txBody>
          <a:bodyPr wrap="square" lIns="0" tIns="0" rIns="0" bIns="0" rtlCol="0" anchor="ctr"/>
          <a:lstStyle/>
          <a:p>
            <a:pPr marL="0" indent="0" algn="l">
              <a:buNone/>
            </a:pPr>
            <a:endParaRPr lang="en-US" sz="2000" dirty="0"/>
          </a:p>
        </p:txBody>
      </p:sp>
      <p:sp>
        <p:nvSpPr>
          <p:cNvPr id="27"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3"/>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solidFill>
            <a:srgbClr val="EAF4F5"/>
          </a:solidFill>
          <a:ln/>
        </p:spPr>
        <p:txBody>
          <a:bodyPr wrap="square" lIns="0" tIns="0" rIns="0" bIns="0" rtlCol="0" anchor="ctr"/>
          <a:lstStyle/>
          <a:p>
            <a:pPr marL="0" indent="0" algn="ctr">
              <a:buNone/>
            </a:pPr>
            <a:r>
              <a:rPr lang="en-US" sz="1400" b="1" dirty="0">
                <a:solidFill>
                  <a:srgbClr val="0E7C86"/>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marL="0" indent="0" algn="ctr">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marL="0" indent="0" algn="ctr">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marL="0" indent="0" algn="ctr">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marL="0" indent="0" algn="ctr">
              <a:buNone/>
            </a:pPr>
            <a:r>
              <a:rPr lang="en-US" sz="1400" dirty="0">
                <a:solidFill>
                  <a:srgbClr val="6B7A88"/>
                </a:solidFill>
              </a:rPr>
              <a:t>5 한계와 과제</a:t>
            </a:r>
            <a:endParaRPr lang="en-US" sz="1400" dirty="0"/>
          </a:p>
        </p:txBody>
      </p:sp>
      <p:sp>
        <p:nvSpPr>
          <p:cNvPr id="7" name="Text 0"/>
          <p:cNvSpPr>
            <a:spLocks noGrp="1"/>
          </p:cNvSpPr>
          <p:nvPr>
            <p:ph type="title" idx="101"/>
          </p:nvPr>
        </p:nvSpPr>
        <p:spPr>
          <a:xfrm>
            <a:off x="548640" y="621792"/>
            <a:ext cx="11064240" cy="658368"/>
          </a:xfrm>
          <a:prstGeom prst="rect">
            <a:avLst/>
          </a:prstGeom>
          <a:noFill/>
          <a:ln/>
        </p:spPr>
        <p:txBody>
          <a:bodyPr wrap="square" lIns="0" tIns="0" rIns="0" bIns="0" rtlCol="0" anchor="ctr"/>
          <a:lstStyle/>
          <a:p>
            <a:pPr marL="0" indent="0" algn="l">
              <a:buNone/>
            </a:pPr>
            <a:r>
              <a:rPr lang="en-US" sz="3600" b="1" dirty="0">
                <a:solidFill>
                  <a:schemeClr val="tx1"/>
                </a:solidFill>
              </a:rPr>
              <a:t>추진 배경</a:t>
            </a:r>
            <a:endParaRPr lang="en-US" sz="3600" dirty="0"/>
          </a:p>
        </p:txBody>
      </p:sp>
      <p:sp>
        <p:nvSpPr>
          <p:cNvPr id="8" name="Text 0"/>
          <p:cNvSpPr>
            <a:spLocks noGrp="1"/>
          </p:cNvSpPr>
          <p:nvPr>
            <p:ph type="body" idx="102"/>
          </p:nvPr>
        </p:nvSpPr>
        <p:spPr>
          <a:xfrm>
            <a:off x="548640" y="1325880"/>
            <a:ext cx="11064240" cy="411480"/>
          </a:xfrm>
          <a:prstGeom prst="rect">
            <a:avLst/>
          </a:prstGeom>
          <a:noFill/>
          <a:ln/>
        </p:spPr>
        <p:txBody>
          <a:bodyPr wrap="square" lIns="0" tIns="0" rIns="0" bIns="0" rtlCol="0" anchor="ctr"/>
          <a:lstStyle/>
          <a:p>
            <a:pPr marL="0" indent="0" algn="l">
              <a:buNone/>
            </a:pPr>
            <a:r>
              <a:rPr lang="en-US" sz="2000" b="1" dirty="0">
                <a:solidFill>
                  <a:schemeClr val="accent1"/>
                </a:solidFill>
              </a:rPr>
              <a:t>▶ 재연마 기록 4곳 분산 및 일일보고 · 투입 판단 수작업</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src0-cap"/>
          <p:cNvSpPr txBox="1"/>
          <p:nvPr/>
        </p:nvSpPr>
        <p:spPr>
          <a:xfrm>
            <a:off x="548640" y="1965960"/>
            <a:ext cx="4572000" cy="292608"/>
          </a:xfrm>
          <a:prstGeom prst="rect">
            <a:avLst/>
          </a:prstGeom>
          <a:noFill/>
          <a:ln/>
        </p:spPr>
        <p:txBody>
          <a:bodyPr wrap="square" lIns="0" tIns="0" rIns="0" bIns="0" rtlCol="0" anchor="ctr"/>
          <a:lstStyle/>
          <a:p>
            <a:pPr marL="0" indent="0">
              <a:buNone/>
            </a:pPr>
            <a:r>
              <a:rPr lang="en-US" sz="1300" b="1" dirty="0">
                <a:solidFill>
                  <a:srgbClr val="3A506B"/>
                </a:solidFill>
              </a:rPr>
              <a:t>하루 1시트씩 손으로 입력하던 월간생산일지 엑셀</a:t>
            </a:r>
            <a:endParaRPr lang="en-US" sz="1300" dirty="0"/>
          </a:p>
        </p:txBody>
      </p:sp>
      <p:pic>
        <p:nvPicPr>
          <p:cNvPr id="11" name="src0-img" descr="재연마 월간생산일지 엑셀 화면 (10-16 시트, 금액 열 숨김)"/>
          <p:cNvPicPr>
            <a:picLocks noChangeAspect="1"/>
          </p:cNvPicPr>
          <p:nvPr/>
        </p:nvPicPr>
        <p:blipFill>
          <a:blip r:embed="rId3"/>
          <a:stretch>
            <a:fillRect/>
          </a:stretch>
        </p:blipFill>
        <p:spPr>
          <a:xfrm>
            <a:off x="548640" y="2286000"/>
            <a:ext cx="4572000" cy="1569386"/>
          </a:xfrm>
          <a:prstGeom prst="rect">
            <a:avLst/>
          </a:prstGeom>
        </p:spPr>
      </p:pic>
      <p:sp>
        <p:nvSpPr>
          <p:cNvPr id="12" name="src0-frame"/>
          <p:cNvSpPr/>
          <p:nvPr/>
        </p:nvSpPr>
        <p:spPr>
          <a:xfrm>
            <a:off x="548640" y="2286000"/>
            <a:ext cx="4572000" cy="1569386"/>
          </a:xfrm>
          <a:prstGeom prst="rect">
            <a:avLst/>
          </a:prstGeom>
          <a:ln w="9525">
            <a:solidFill>
              <a:srgbClr val="D9E2EC"/>
            </a:solidFill>
            <a:prstDash val="solid"/>
          </a:ln>
        </p:spPr>
      </p:sp>
      <p:sp>
        <p:nvSpPr>
          <p:cNvPr id="13" name="src1-cap"/>
          <p:cNvSpPr txBox="1"/>
          <p:nvPr/>
        </p:nvSpPr>
        <p:spPr>
          <a:xfrm>
            <a:off x="548640" y="4041648"/>
            <a:ext cx="4572000" cy="292608"/>
          </a:xfrm>
          <a:prstGeom prst="rect">
            <a:avLst/>
          </a:prstGeom>
          <a:noFill/>
          <a:ln/>
        </p:spPr>
        <p:txBody>
          <a:bodyPr wrap="square" lIns="0" tIns="0" rIns="0" bIns="0" rtlCol="0" anchor="ctr"/>
          <a:lstStyle/>
          <a:p>
            <a:pPr marL="0" indent="0">
              <a:buNone/>
            </a:pPr>
            <a:r>
              <a:rPr lang="en-US" sz="1300" b="1" dirty="0">
                <a:solidFill>
                  <a:srgbClr val="3A506B"/>
                </a:solidFill>
              </a:rPr>
              <a:t>장비마다 따로 보관하던 수리 발주서 PDF</a:t>
            </a:r>
            <a:endParaRPr lang="en-US" sz="1300" dirty="0"/>
          </a:p>
        </p:txBody>
      </p:sp>
      <p:pic>
        <p:nvPicPr>
          <p:cNvPr id="14" name="src1-img" descr="장비 수리 발주서 PDF (연락처·주소 흐림 처리)"/>
          <p:cNvPicPr>
            <a:picLocks noChangeAspect="1"/>
          </p:cNvPicPr>
          <p:nvPr/>
        </p:nvPicPr>
        <p:blipFill>
          <a:blip r:embed="rId4"/>
          <a:stretch>
            <a:fillRect/>
          </a:stretch>
        </p:blipFill>
        <p:spPr>
          <a:xfrm>
            <a:off x="548640" y="4361688"/>
            <a:ext cx="3474720" cy="1737360"/>
          </a:xfrm>
          <a:prstGeom prst="rect">
            <a:avLst/>
          </a:prstGeom>
        </p:spPr>
      </p:pic>
      <p:sp>
        <p:nvSpPr>
          <p:cNvPr id="15" name="src1-frame"/>
          <p:cNvSpPr/>
          <p:nvPr/>
        </p:nvSpPr>
        <p:spPr>
          <a:xfrm>
            <a:off x="548640" y="4361688"/>
            <a:ext cx="3474720" cy="1737360"/>
          </a:xfrm>
          <a:prstGeom prst="rect">
            <a:avLst/>
          </a:prstGeom>
          <a:ln w="9525">
            <a:solidFill>
              <a:srgbClr val="D9E2EC"/>
            </a:solidFill>
            <a:prstDash val="solid"/>
          </a:ln>
        </p:spPr>
      </p:sp>
      <p:sp>
        <p:nvSpPr>
          <p:cNvPr id="16" name="bg-asis"/>
          <p:cNvSpPr/>
          <p:nvPr/>
        </p:nvSpPr>
        <p:spPr>
          <a:xfrm>
            <a:off x="5394960" y="1965960"/>
            <a:ext cx="6217920" cy="2011680"/>
          </a:xfrm>
          <a:prstGeom prst="rect">
            <a:avLst/>
          </a:prstGeom>
          <a:solidFill>
            <a:srgbClr val="F4F6F8"/>
          </a:solidFill>
          <a:ln w="9525">
            <a:solidFill>
              <a:srgbClr val="D9E2EC"/>
            </a:solidFill>
            <a:prstDash val="solid"/>
          </a:ln>
        </p:spPr>
      </p:sp>
      <p:sp>
        <p:nvSpPr>
          <p:cNvPr id="17" name="asis-h"/>
          <p:cNvSpPr txBox="1"/>
          <p:nvPr/>
        </p:nvSpPr>
        <p:spPr>
          <a:xfrm>
            <a:off x="5623560" y="2057400"/>
            <a:ext cx="5760720" cy="365760"/>
          </a:xfrm>
          <a:prstGeom prst="rect">
            <a:avLst/>
          </a:prstGeom>
          <a:noFill/>
          <a:ln/>
        </p:spPr>
        <p:txBody>
          <a:bodyPr wrap="square" lIns="0" tIns="0" rIns="0" bIns="0" rtlCol="0" anchor="ctr"/>
          <a:lstStyle/>
          <a:p>
            <a:pPr marL="0" indent="0">
              <a:buNone/>
            </a:pPr>
            <a:r>
              <a:rPr lang="en-US" sz="1700" b="1" dirty="0">
                <a:solidFill>
                  <a:srgbClr val="3A506B"/>
                </a:solidFill>
              </a:rPr>
              <a:t>도입 전</a:t>
            </a:r>
            <a:endParaRPr lang="en-US" sz="1700" dirty="0"/>
          </a:p>
        </p:txBody>
      </p:sp>
      <p:sp>
        <p:nvSpPr>
          <p:cNvPr id="18" name="asis-t"/>
          <p:cNvSpPr txBox="1"/>
          <p:nvPr/>
        </p:nvSpPr>
        <p:spPr>
          <a:xfrm>
            <a:off x="5623560" y="2468880"/>
            <a:ext cx="5806440" cy="141732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2C3E50"/>
                </a:solidFill>
              </a:rPr>
              <a:t>일일보고는 매일 엑셀로 손집계</a:t>
            </a:r>
            <a:endParaRPr lang="en-US" sz="1700" dirty="0"/>
          </a:p>
          <a:p>
            <a:pPr marL="342900" indent="-342900">
              <a:spcAft>
                <a:spcPts val="600"/>
              </a:spcAft>
              <a:buSzPct val="100000"/>
              <a:buChar char="•"/>
            </a:pPr>
            <a:r>
              <a:rPr lang="en-US" sz="1700" dirty="0">
                <a:solidFill>
                  <a:srgbClr val="2C3E50"/>
                </a:solidFill>
              </a:rPr>
              <a:t>장비 투입 순서는 담당자 경험으로 결정</a:t>
            </a:r>
            <a:endParaRPr lang="en-US" sz="1700" dirty="0"/>
          </a:p>
          <a:p>
            <a:pPr marL="342900" indent="-342900">
              <a:spcAft>
                <a:spcPts val="600"/>
              </a:spcAft>
              <a:buSzPct val="100000"/>
              <a:buChar char="•"/>
            </a:pPr>
            <a:r>
              <a:rPr lang="en-US" sz="1700" dirty="0">
                <a:solidFill>
                  <a:srgbClr val="2C3E50"/>
                </a:solidFill>
              </a:rPr>
              <a:t>조건을 바꾼 이유와 고장 처리 경위는 기록 없음</a:t>
            </a:r>
            <a:endParaRPr lang="en-US" sz="1700" dirty="0"/>
          </a:p>
        </p:txBody>
      </p:sp>
      <p:sp>
        <p:nvSpPr>
          <p:cNvPr id="19" name="bg-arrow"/>
          <p:cNvSpPr/>
          <p:nvPr/>
        </p:nvSpPr>
        <p:spPr>
          <a:xfrm>
            <a:off x="8275320" y="4041648"/>
            <a:ext cx="457200" cy="292608"/>
          </a:xfrm>
          <a:prstGeom prst="downArrow">
            <a:avLst/>
          </a:prstGeom>
          <a:solidFill>
            <a:srgbClr val="0E7C86"/>
          </a:solidFill>
          <a:ln w="12700">
            <a:solidFill>
              <a:srgbClr val="0E7C86"/>
            </a:solidFill>
            <a:prstDash val="solid"/>
          </a:ln>
        </p:spPr>
      </p:sp>
      <p:sp>
        <p:nvSpPr>
          <p:cNvPr id="20" name="bg-tobe"/>
          <p:cNvSpPr/>
          <p:nvPr/>
        </p:nvSpPr>
        <p:spPr>
          <a:xfrm>
            <a:off x="5394960" y="4389120"/>
            <a:ext cx="6217920" cy="1737360"/>
          </a:xfrm>
          <a:prstGeom prst="rect">
            <a:avLst/>
          </a:prstGeom>
          <a:solidFill>
            <a:srgbClr val="EAF4F5"/>
          </a:solidFill>
          <a:ln w="9525">
            <a:solidFill>
              <a:srgbClr val="D9E2EC"/>
            </a:solidFill>
            <a:prstDash val="solid"/>
          </a:ln>
        </p:spPr>
      </p:sp>
      <p:sp>
        <p:nvSpPr>
          <p:cNvPr id="21" name="tobe-h"/>
          <p:cNvSpPr txBox="1"/>
          <p:nvPr/>
        </p:nvSpPr>
        <p:spPr>
          <a:xfrm>
            <a:off x="5623560" y="4480560"/>
            <a:ext cx="5760720" cy="365760"/>
          </a:xfrm>
          <a:prstGeom prst="rect">
            <a:avLst/>
          </a:prstGeom>
          <a:noFill/>
          <a:ln/>
        </p:spPr>
        <p:txBody>
          <a:bodyPr wrap="square" lIns="0" tIns="0" rIns="0" bIns="0" rtlCol="0" anchor="ctr"/>
          <a:lstStyle/>
          <a:p>
            <a:pPr marL="0" indent="0">
              <a:buNone/>
            </a:pPr>
            <a:r>
              <a:rPr lang="en-US" sz="1700" b="1" dirty="0">
                <a:solidFill>
                  <a:srgbClr val="0E7C86"/>
                </a:solidFill>
              </a:rPr>
              <a:t>추진 방향</a:t>
            </a:r>
            <a:endParaRPr lang="en-US" sz="1700" dirty="0"/>
          </a:p>
        </p:txBody>
      </p:sp>
      <p:sp>
        <p:nvSpPr>
          <p:cNvPr id="22" name="tobe-t"/>
          <p:cNvSpPr txBox="1"/>
          <p:nvPr/>
        </p:nvSpPr>
        <p:spPr>
          <a:xfrm>
            <a:off x="5623560" y="4864608"/>
            <a:ext cx="5806440" cy="1188720"/>
          </a:xfrm>
          <a:prstGeom prst="rect">
            <a:avLst/>
          </a:prstGeom>
          <a:noFill/>
          <a:ln/>
        </p:spPr>
        <p:txBody>
          <a:bodyPr wrap="square" lIns="0" tIns="0" rIns="0" bIns="0" rtlCol="0" anchor="t"/>
          <a:lstStyle/>
          <a:p>
            <a:pPr marL="342900" indent="-342900">
              <a:spcAft>
                <a:spcPts val="400"/>
              </a:spcAft>
              <a:buSzPct val="100000"/>
              <a:buChar char="•"/>
            </a:pPr>
            <a:r>
              <a:rPr lang="en-US" sz="1700" dirty="0">
                <a:solidFill>
                  <a:srgbClr val="2C3E50"/>
                </a:solidFill>
              </a:rPr>
              <a:t>출처와 신뢰도를 붙여 사내 위키에 기록</a:t>
            </a:r>
            <a:endParaRPr lang="en-US" sz="1700" dirty="0"/>
          </a:p>
          <a:p>
            <a:pPr marL="342900" indent="-342900">
              <a:spcAft>
                <a:spcPts val="400"/>
              </a:spcAft>
              <a:buSzPct val="100000"/>
              <a:buChar char="•"/>
            </a:pPr>
            <a:r>
              <a:rPr lang="en-US" sz="1700" dirty="0">
                <a:solidFill>
                  <a:srgbClr val="2C3E50"/>
                </a:solidFill>
              </a:rPr>
              <a:t>반복 집계는 업무 PC 예약 실행으로</a:t>
            </a:r>
            <a:endParaRPr lang="en-US" sz="1700" dirty="0"/>
          </a:p>
          <a:p>
            <a:pPr marL="342900" indent="-342900">
              <a:spcAft>
                <a:spcPts val="400"/>
              </a:spcAft>
              <a:buSzPct val="100000"/>
              <a:buChar char="•"/>
            </a:pPr>
            <a:r>
              <a:rPr lang="en-US" sz="1700" dirty="0">
                <a:solidFill>
                  <a:srgbClr val="2C3E50"/>
                </a:solidFill>
              </a:rPr>
              <a:t>기존 값은 지우지 않고 이력으로 보존</a:t>
            </a:r>
            <a:endParaRPr lang="en-US" sz="1700" dirty="0"/>
          </a:p>
        </p:txBody>
      </p:sp>
      <p:sp>
        <p:nvSpPr>
          <p:cNvPr id="23" name="footnote"/>
          <p:cNvSpPr txBox="1"/>
          <p:nvPr/>
        </p:nvSpPr>
        <p:spPr>
          <a:xfrm>
            <a:off x="548640" y="6355080"/>
            <a:ext cx="5943600" cy="320040"/>
          </a:xfrm>
          <a:prstGeom prst="rect">
            <a:avLst/>
          </a:prstGeom>
          <a:noFill/>
          <a:ln/>
        </p:spPr>
        <p:txBody>
          <a:bodyPr wrap="square" lIns="0" tIns="0" rIns="0" bIns="0" rtlCol="0" anchor="ctr"/>
          <a:lstStyle/>
          <a:p>
            <a:pPr marL="0" indent="0">
              <a:buNone/>
            </a:pPr>
            <a:r>
              <a:rPr lang="en-US" sz="1200" dirty="0">
                <a:solidFill>
                  <a:srgbClr val="6B7A88"/>
                </a:solidFill>
              </a:rPr>
              <a:t>재연마 장비는 ANCA FastGrind와 GX7 2대</a:t>
            </a:r>
            <a:endParaRPr lang="en-US" sz="1200" dirty="0"/>
          </a:p>
        </p:txBody>
      </p:sp>
      <p:sp>
        <p:nvSpPr>
          <p:cNvPr id="25" name="Text 0"/>
          <p:cNvSpPr>
            <a:spLocks noGrp="1"/>
          </p:cNvSpPr>
          <p:nvPr>
            <p:ph type="body" idx="100"/>
          </p:nvPr>
        </p:nvSpPr>
        <p:spPr>
          <a:xfrm>
            <a:off x="548640" y="320040"/>
            <a:ext cx="8229600" cy="320040"/>
          </a:xfrm>
          <a:prstGeom prst="rect">
            <a:avLst/>
          </a:prstGeom>
          <a:noFill/>
          <a:ln/>
        </p:spPr>
        <p:txBody>
          <a:bodyPr wrap="square" lIns="0" tIns="0" rIns="0" bIns="0" rtlCol="0"/>
          <a:lstStyle/>
          <a:p>
            <a:pPr marL="0" indent="0">
              <a:buNone/>
            </a:pPr>
            <a:endParaRPr lang="en-US" sz="1400" dirty="0"/>
          </a:p>
        </p:txBody>
      </p:sp>
      <p:sp>
        <p:nvSpPr>
          <p:cNvPr id="24"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3"/>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marL="0" indent="0" algn="ctr">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solidFill>
            <a:srgbClr val="EAF4F5"/>
          </a:solidFill>
          <a:ln/>
        </p:spPr>
        <p:txBody>
          <a:bodyPr wrap="square" lIns="0" tIns="0" rIns="0" bIns="0" rtlCol="0" anchor="ctr"/>
          <a:lstStyle/>
          <a:p>
            <a:pPr marL="0" indent="0" algn="ctr">
              <a:buNone/>
            </a:pPr>
            <a:r>
              <a:rPr lang="en-US" sz="1400" b="1" dirty="0">
                <a:solidFill>
                  <a:srgbClr val="0E7C86"/>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marL="0" indent="0" algn="ctr">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marL="0" indent="0" algn="ctr">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marL="0" indent="0" algn="ctr">
              <a:buNone/>
            </a:pPr>
            <a:r>
              <a:rPr lang="en-US" sz="1400" dirty="0">
                <a:solidFill>
                  <a:srgbClr val="6B7A88"/>
                </a:solidFill>
              </a:rPr>
              <a:t>5 한계와 과제</a:t>
            </a:r>
            <a:endParaRPr lang="en-US" sz="1400" dirty="0"/>
          </a:p>
        </p:txBody>
      </p:sp>
      <p:sp>
        <p:nvSpPr>
          <p:cNvPr id="7" name="Text 0"/>
          <p:cNvSpPr>
            <a:spLocks noGrp="1"/>
          </p:cNvSpPr>
          <p:nvPr>
            <p:ph type="title" idx="101"/>
          </p:nvPr>
        </p:nvSpPr>
        <p:spPr>
          <a:xfrm>
            <a:off x="548640" y="621792"/>
            <a:ext cx="11064240" cy="658368"/>
          </a:xfrm>
          <a:prstGeom prst="rect">
            <a:avLst/>
          </a:prstGeom>
          <a:noFill/>
          <a:ln/>
        </p:spPr>
        <p:txBody>
          <a:bodyPr wrap="square" lIns="0" tIns="0" rIns="0" bIns="0" rtlCol="0" anchor="ctr"/>
          <a:lstStyle/>
          <a:p>
            <a:pPr marL="0" indent="0" algn="l">
              <a:buNone/>
            </a:pPr>
            <a:r>
              <a:rPr lang="en-US" sz="3600" b="1" dirty="0" err="1" smtClean="0">
                <a:solidFill>
                  <a:schemeClr val="tx1"/>
                </a:solidFill>
              </a:rPr>
              <a:t>활용</a:t>
            </a:r>
            <a:r>
              <a:rPr lang="en-US" sz="3600" b="1" dirty="0" smtClean="0">
                <a:solidFill>
                  <a:schemeClr val="tx1"/>
                </a:solidFill>
              </a:rPr>
              <a:t> </a:t>
            </a:r>
            <a:r>
              <a:rPr lang="en-US" sz="3600" b="1" dirty="0" err="1" smtClean="0">
                <a:solidFill>
                  <a:schemeClr val="tx1"/>
                </a:solidFill>
              </a:rPr>
              <a:t>현황</a:t>
            </a:r>
            <a:r>
              <a:rPr lang="en-US" dirty="0" smtClean="0"/>
              <a:t>_</a:t>
            </a:r>
            <a:r>
              <a:rPr lang="ko-KR" altLang="en-US" dirty="0" smtClean="0"/>
              <a:t>문서기록</a:t>
            </a:r>
            <a:endParaRPr lang="en-US" sz="3600" dirty="0"/>
          </a:p>
        </p:txBody>
      </p:sp>
      <p:sp>
        <p:nvSpPr>
          <p:cNvPr id="8" name="Text 0"/>
          <p:cNvSpPr>
            <a:spLocks noGrp="1"/>
          </p:cNvSpPr>
          <p:nvPr>
            <p:ph type="body" idx="102"/>
          </p:nvPr>
        </p:nvSpPr>
        <p:spPr>
          <a:xfrm>
            <a:off x="548640" y="1325880"/>
            <a:ext cx="11064240" cy="411480"/>
          </a:xfrm>
          <a:prstGeom prst="rect">
            <a:avLst/>
          </a:prstGeom>
          <a:noFill/>
          <a:ln/>
        </p:spPr>
        <p:txBody>
          <a:bodyPr wrap="square" lIns="0" tIns="0" rIns="0" bIns="0" rtlCol="0" anchor="ctr"/>
          <a:lstStyle/>
          <a:p>
            <a:pPr marL="0" indent="0" algn="l">
              <a:buNone/>
            </a:pPr>
            <a:r>
              <a:rPr lang="en-US" sz="2000" b="1" dirty="0">
                <a:solidFill>
                  <a:schemeClr val="accent1"/>
                </a:solidFill>
              </a:rPr>
              <a:t>▶ 6개월 재연마 기록 문서 149개 작성</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graphicFrame>
        <p:nvGraphicFramePr>
          <p:cNvPr id="10" name="area-table"/>
          <p:cNvGraphicFramePr>
            <a:graphicFrameLocks noGrp="1"/>
          </p:cNvGraphicFramePr>
          <p:nvPr>
            <p:extLst>
              <p:ext uri="{D42A27DB-BD31-4B8C-83A1-F6EECF244321}">
                <p14:modId xmlns:p14="http://schemas.microsoft.com/office/powerpoint/2010/main" val="1615905718"/>
              </p:ext>
            </p:extLst>
          </p:nvPr>
        </p:nvGraphicFramePr>
        <p:xfrm>
          <a:off x="548640" y="1965960"/>
          <a:ext cx="11064240" cy="3328416"/>
        </p:xfrm>
        <a:graphic>
          <a:graphicData uri="http://schemas.openxmlformats.org/drawingml/2006/table">
            <a:tbl>
              <a:tblPr/>
              <a:tblGrid>
                <a:gridCol w="1920240"/>
                <a:gridCol w="5394960"/>
                <a:gridCol w="3749040"/>
              </a:tblGrid>
              <a:tr h="420624">
                <a:tc>
                  <a:txBody>
                    <a:bodyPr/>
                    <a:lstStyle/>
                    <a:p>
                      <a:pPr marL="0" indent="0">
                        <a:buNone/>
                      </a:pPr>
                      <a:r>
                        <a:rPr lang="en-US" sz="1700" b="1" dirty="0">
                          <a:solidFill>
                            <a:srgbClr val="FFFFFF"/>
                          </a:solidFill>
                          <a:latin typeface="맑은 고딕" pitchFamily="34" charset="0"/>
                          <a:ea typeface="맑은 고딕" pitchFamily="34" charset="-122"/>
                          <a:cs typeface="맑은 고딕" pitchFamily="34" charset="-120"/>
                        </a:rPr>
                        <a:t>영역</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marL="0" indent="0">
                        <a:buNone/>
                      </a:pPr>
                      <a:r>
                        <a:rPr lang="en-US" sz="1700" b="1" dirty="0">
                          <a:solidFill>
                            <a:srgbClr val="FFFFFF"/>
                          </a:solidFill>
                          <a:latin typeface="맑은 고딕" pitchFamily="34" charset="0"/>
                          <a:ea typeface="맑은 고딕" pitchFamily="34" charset="-122"/>
                          <a:cs typeface="맑은 고딕" pitchFamily="34" charset="-120"/>
                        </a:rPr>
                        <a:t>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marL="0" indent="0">
                        <a:buNone/>
                      </a:pPr>
                      <a:r>
                        <a:rPr lang="en-US" sz="1700" b="1" dirty="0">
                          <a:solidFill>
                            <a:srgbClr val="FFFFFF"/>
                          </a:solidFill>
                          <a:latin typeface="맑은 고딕" pitchFamily="34" charset="0"/>
                          <a:ea typeface="맑은 고딕" pitchFamily="34" charset="-122"/>
                          <a:cs typeface="맑은 고딕" pitchFamily="34" charset="-120"/>
                        </a:rPr>
                        <a:t>대표 사례</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484632">
                <a:tc>
                  <a:txBody>
                    <a:bodyPr/>
                    <a:lstStyle/>
                    <a:p>
                      <a:pPr marL="0" indent="0">
                        <a:buNone/>
                      </a:pPr>
                      <a:r>
                        <a:rPr lang="en-US" sz="1700" b="1" dirty="0">
                          <a:solidFill>
                            <a:srgbClr val="1F2A36"/>
                          </a:solidFill>
                          <a:latin typeface="맑은 고딕" pitchFamily="34" charset="0"/>
                          <a:ea typeface="맑은 고딕" pitchFamily="34" charset="-122"/>
                          <a:cs typeface="맑은 고딕" pitchFamily="34" charset="-120"/>
                        </a:rPr>
                        <a:t>기록</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700" dirty="0">
                          <a:solidFill>
                            <a:srgbClr val="1F2A36"/>
                          </a:solidFill>
                          <a:latin typeface="맑은 고딕" pitchFamily="34" charset="0"/>
                          <a:ea typeface="맑은 고딕" pitchFamily="34" charset="-122"/>
                          <a:cs typeface="맑은 고딕" pitchFamily="34" charset="-120"/>
                        </a:rPr>
                        <a:t>장비, 휠, 연삭 조건, 수리 이력 정리</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700" b="1" dirty="0">
                          <a:solidFill>
                            <a:srgbClr val="0E7C86"/>
                          </a:solidFill>
                          <a:latin typeface="맑은 고딕" pitchFamily="34" charset="0"/>
                          <a:ea typeface="맑은 고딕" pitchFamily="34" charset="-122"/>
                          <a:cs typeface="맑은 고딕" pitchFamily="34" charset="-120"/>
                        </a:rPr>
                        <a:t>문서 149개와 수리 이력 17건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484632">
                <a:tc>
                  <a:txBody>
                    <a:bodyPr/>
                    <a:lstStyle/>
                    <a:p>
                      <a:pPr marL="0" indent="0">
                        <a:buNone/>
                      </a:pPr>
                      <a:r>
                        <a:rPr lang="en-US" sz="1700" b="1" dirty="0">
                          <a:solidFill>
                            <a:srgbClr val="1F2A36"/>
                          </a:solidFill>
                          <a:latin typeface="맑은 고딕" pitchFamily="34" charset="0"/>
                          <a:ea typeface="맑은 고딕" pitchFamily="34" charset="-122"/>
                          <a:cs typeface="맑은 고딕" pitchFamily="34" charset="-120"/>
                        </a:rPr>
                        <a:t>연삭 시험 지원</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700" dirty="0">
                          <a:solidFill>
                            <a:srgbClr val="1F2A36"/>
                          </a:solidFill>
                          <a:latin typeface="맑은 고딕" pitchFamily="34" charset="0"/>
                          <a:ea typeface="맑은 고딕" pitchFamily="34" charset="-122"/>
                          <a:cs typeface="맑은 고딕" pitchFamily="34" charset="-120"/>
                        </a:rPr>
                        <a:t>제조사 자료로 기준 설정, 시험 </a:t>
                      </a:r>
                      <a:r>
                        <a:rPr lang="en-US" sz="1700" dirty="0" err="1">
                          <a:solidFill>
                            <a:srgbClr val="1F2A36"/>
                          </a:solidFill>
                          <a:latin typeface="맑은 고딕" pitchFamily="34" charset="0"/>
                          <a:ea typeface="맑은 고딕" pitchFamily="34" charset="-122"/>
                          <a:cs typeface="맑은 고딕" pitchFamily="34" charset="-120"/>
                        </a:rPr>
                        <a:t>결과</a:t>
                      </a:r>
                      <a:r>
                        <a:rPr lang="en-US" sz="1700" dirty="0">
                          <a:solidFill>
                            <a:srgbClr val="1F2A36"/>
                          </a:solidFill>
                          <a:latin typeface="맑은 고딕" pitchFamily="34" charset="0"/>
                          <a:ea typeface="맑은 고딕" pitchFamily="34" charset="-122"/>
                          <a:cs typeface="맑은 고딕" pitchFamily="34" charset="-120"/>
                        </a:rPr>
                        <a:t> </a:t>
                      </a:r>
                      <a:r>
                        <a:rPr lang="en-US" sz="1700" dirty="0" err="1" smtClean="0">
                          <a:solidFill>
                            <a:srgbClr val="1F2A36"/>
                          </a:solidFill>
                          <a:latin typeface="맑은 고딕" pitchFamily="34" charset="0"/>
                          <a:ea typeface="맑은 고딕" pitchFamily="34" charset="-122"/>
                          <a:cs typeface="맑은 고딕" pitchFamily="34" charset="-120"/>
                        </a:rPr>
                        <a:t>기록</a:t>
                      </a:r>
                      <a:r>
                        <a:rPr lang="en-US" sz="1700" dirty="0" smtClean="0">
                          <a:solidFill>
                            <a:srgbClr val="1F2A36"/>
                          </a:solidFill>
                          <a:latin typeface="맑은 고딕" pitchFamily="34" charset="0"/>
                          <a:ea typeface="맑은 고딕" pitchFamily="34" charset="-122"/>
                          <a:cs typeface="맑은 고딕" pitchFamily="34" charset="-120"/>
                        </a:rPr>
                        <a:t>, ISO</a:t>
                      </a:r>
                      <a:r>
                        <a:rPr lang="ko-KR" altLang="en-US" sz="1700" dirty="0" smtClean="0">
                          <a:solidFill>
                            <a:srgbClr val="1F2A36"/>
                          </a:solidFill>
                          <a:latin typeface="맑은 고딕" pitchFamily="34" charset="0"/>
                          <a:ea typeface="맑은 고딕" pitchFamily="34" charset="-122"/>
                          <a:cs typeface="맑은 고딕" pitchFamily="34" charset="-120"/>
                        </a:rPr>
                        <a:t>자료 </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700" b="1" dirty="0">
                          <a:solidFill>
                            <a:srgbClr val="0E7C86"/>
                          </a:solidFill>
                          <a:latin typeface="맑은 고딕" pitchFamily="34" charset="0"/>
                          <a:ea typeface="맑은 고딕" pitchFamily="34" charset="-122"/>
                          <a:cs typeface="맑은 고딕" pitchFamily="34" charset="-120"/>
                        </a:rPr>
                        <a:t>원목 연삭 2회, 넥 시작부 자국 해결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484632">
                <a:tc>
                  <a:txBody>
                    <a:bodyPr/>
                    <a:lstStyle/>
                    <a:p>
                      <a:pPr marL="0" indent="0">
                        <a:buNone/>
                      </a:pPr>
                      <a:r>
                        <a:rPr lang="en-US" sz="1700" b="1" dirty="0">
                          <a:solidFill>
                            <a:srgbClr val="1F2A36"/>
                          </a:solidFill>
                          <a:latin typeface="맑은 고딕" pitchFamily="34" charset="0"/>
                          <a:ea typeface="맑은 고딕" pitchFamily="34" charset="-122"/>
                          <a:cs typeface="맑은 고딕" pitchFamily="34" charset="-120"/>
                        </a:rPr>
                        <a:t>보고 자동화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700" dirty="0">
                          <a:solidFill>
                            <a:srgbClr val="1F2A36"/>
                          </a:solidFill>
                          <a:latin typeface="맑은 고딕" pitchFamily="34" charset="0"/>
                          <a:ea typeface="맑은 고딕" pitchFamily="34" charset="-122"/>
                          <a:cs typeface="맑은 고딕" pitchFamily="34" charset="-120"/>
                        </a:rPr>
                        <a:t>매일 07:50과 16:00에 일일보고와 현황판 생성</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700" b="1" dirty="0">
                          <a:solidFill>
                            <a:srgbClr val="0E7C86"/>
                          </a:solidFill>
                          <a:latin typeface="맑은 고딕" pitchFamily="34" charset="0"/>
                          <a:ea typeface="맑은 고딕" pitchFamily="34" charset="-122"/>
                          <a:cs typeface="맑은 고딕" pitchFamily="34" charset="-120"/>
                        </a:rPr>
                        <a:t>일일보고 137건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484632">
                <a:tc>
                  <a:txBody>
                    <a:bodyPr/>
                    <a:lstStyle/>
                    <a:p>
                      <a:pPr marL="0" indent="0">
                        <a:buNone/>
                      </a:pPr>
                      <a:r>
                        <a:rPr lang="en-US" sz="1700" b="1" dirty="0">
                          <a:solidFill>
                            <a:srgbClr val="1F2A36"/>
                          </a:solidFill>
                          <a:latin typeface="맑은 고딕" pitchFamily="34" charset="0"/>
                          <a:ea typeface="맑은 고딕" pitchFamily="34" charset="-122"/>
                          <a:cs typeface="맑은 고딕" pitchFamily="34" charset="-120"/>
                        </a:rPr>
                        <a:t>현장 판단 보조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700" dirty="0">
                          <a:solidFill>
                            <a:srgbClr val="1F2A36"/>
                          </a:solidFill>
                          <a:latin typeface="맑은 고딕" pitchFamily="34" charset="0"/>
                          <a:ea typeface="맑은 고딕" pitchFamily="34" charset="-122"/>
                          <a:cs typeface="맑은 고딕" pitchFamily="34" charset="-120"/>
                        </a:rPr>
                        <a:t>ERP 수주 기준으로 장비별 투입 순서 작성</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700" b="1" dirty="0">
                          <a:solidFill>
                            <a:srgbClr val="0E7C86"/>
                          </a:solidFill>
                          <a:latin typeface="맑은 고딕" pitchFamily="34" charset="0"/>
                          <a:ea typeface="맑은 고딕" pitchFamily="34" charset="-122"/>
                          <a:cs typeface="맑은 고딕" pitchFamily="34" charset="-120"/>
                        </a:rPr>
                        <a:t>09-28부터 쓰며 규칙 8번 수정</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484632">
                <a:tc>
                  <a:txBody>
                    <a:bodyPr/>
                    <a:lstStyle/>
                    <a:p>
                      <a:pPr marL="0" indent="0">
                        <a:buNone/>
                      </a:pPr>
                      <a:r>
                        <a:rPr lang="en-US" sz="1700" b="1" dirty="0">
                          <a:solidFill>
                            <a:srgbClr val="1F2A36"/>
                          </a:solidFill>
                          <a:latin typeface="맑은 고딕" pitchFamily="34" charset="0"/>
                          <a:ea typeface="맑은 고딕" pitchFamily="34" charset="-122"/>
                          <a:cs typeface="맑은 고딕" pitchFamily="34" charset="-120"/>
                        </a:rPr>
                        <a:t>데이터 검수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700" dirty="0">
                          <a:solidFill>
                            <a:srgbClr val="1F2A36"/>
                          </a:solidFill>
                          <a:latin typeface="맑은 고딕" pitchFamily="34" charset="0"/>
                          <a:ea typeface="맑은 고딕" pitchFamily="34" charset="-122"/>
                          <a:cs typeface="맑은 고딕" pitchFamily="34" charset="-120"/>
                        </a:rPr>
                        <a:t>단가표 대조, 작업일지 읽기, ERP 조회</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700" b="1" dirty="0">
                          <a:solidFill>
                            <a:srgbClr val="0E7C86"/>
                          </a:solidFill>
                          <a:latin typeface="맑은 고딕" pitchFamily="34" charset="0"/>
                          <a:ea typeface="맑은 고딕" pitchFamily="34" charset="-122"/>
                          <a:cs typeface="맑은 고딕" pitchFamily="34" charset="-120"/>
                        </a:rPr>
                        <a:t>단가표 10,744건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484632">
                <a:tc>
                  <a:txBody>
                    <a:bodyPr/>
                    <a:lstStyle/>
                    <a:p>
                      <a:pPr marL="0" indent="0">
                        <a:buNone/>
                      </a:pPr>
                      <a:r>
                        <a:rPr lang="en-US" sz="1700" b="1" dirty="0">
                          <a:solidFill>
                            <a:srgbClr val="1F2A36"/>
                          </a:solidFill>
                          <a:latin typeface="맑은 고딕" pitchFamily="34" charset="0"/>
                          <a:ea typeface="맑은 고딕" pitchFamily="34" charset="-122"/>
                          <a:cs typeface="맑은 고딕" pitchFamily="34" charset="-120"/>
                        </a:rPr>
                        <a:t>설비 문서</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700" dirty="0">
                          <a:solidFill>
                            <a:srgbClr val="1F2A36"/>
                          </a:solidFill>
                          <a:latin typeface="맑은 고딕" pitchFamily="34" charset="0"/>
                          <a:ea typeface="맑은 고딕" pitchFamily="34" charset="-122"/>
                          <a:cs typeface="맑은 고딕" pitchFamily="34" charset="-120"/>
                        </a:rPr>
                        <a:t>로더 고장 진단, 수리 검토보고, 증설 투자 검토</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700" b="1" dirty="0">
                          <a:solidFill>
                            <a:srgbClr val="0E7C86"/>
                          </a:solidFill>
                          <a:latin typeface="맑은 고딕" pitchFamily="34" charset="0"/>
                          <a:ea typeface="맑은 고딕" pitchFamily="34" charset="-122"/>
                          <a:cs typeface="맑은 고딕" pitchFamily="34" charset="-120"/>
                        </a:rPr>
                        <a:t>F와 GX7 로더 정식 수리</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11" name="area-etc"/>
          <p:cNvSpPr txBox="1"/>
          <p:nvPr/>
        </p:nvSpPr>
        <p:spPr>
          <a:xfrm>
            <a:off x="548640" y="5349240"/>
            <a:ext cx="11064240" cy="329184"/>
          </a:xfrm>
          <a:prstGeom prst="rect">
            <a:avLst/>
          </a:prstGeom>
          <a:noFill/>
          <a:ln/>
        </p:spPr>
        <p:txBody>
          <a:bodyPr wrap="square" lIns="0" tIns="0" rIns="0" bIns="0" rtlCol="0" anchor="ctr"/>
          <a:lstStyle/>
          <a:p>
            <a:pPr marL="0" indent="0">
              <a:buNone/>
            </a:pPr>
            <a:r>
              <a:rPr lang="en-US" sz="1700" b="1" dirty="0">
                <a:solidFill>
                  <a:srgbClr val="1F2A36"/>
                </a:solidFill>
              </a:rPr>
              <a:t>판단 근거 기록 330여 건과 Python 자동화 스크립트 59개</a:t>
            </a:r>
            <a:endParaRPr lang="en-US" sz="1700" dirty="0"/>
          </a:p>
        </p:txBody>
      </p:sp>
      <p:sp>
        <p:nvSpPr>
          <p:cNvPr id="12" name="area-src"/>
          <p:cNvSpPr txBox="1"/>
          <p:nvPr/>
        </p:nvSpPr>
        <p:spPr>
          <a:xfrm>
            <a:off x="548640" y="5715000"/>
            <a:ext cx="11064240" cy="329184"/>
          </a:xfrm>
          <a:prstGeom prst="rect">
            <a:avLst/>
          </a:prstGeom>
          <a:noFill/>
          <a:ln/>
        </p:spPr>
        <p:txBody>
          <a:bodyPr wrap="square" lIns="0" tIns="0" rIns="0" bIns="0" rtlCol="0" anchor="ctr"/>
          <a:lstStyle/>
          <a:p>
            <a:pPr marL="0" indent="0">
              <a:buNone/>
            </a:pPr>
            <a:r>
              <a:rPr lang="en-US" sz="1500" dirty="0">
                <a:solidFill>
                  <a:srgbClr val="3A506B"/>
                </a:solidFill>
              </a:rPr>
              <a:t>수치마다 출처 표기. 예: 휠 원주속도 18 ~ 22 m/s [제조사 기준] / 사내 실사용 2,600 ~ 3,000 rpm [실측]</a:t>
            </a:r>
            <a:endParaRPr lang="en-US" sz="1500" dirty="0"/>
          </a:p>
        </p:txBody>
      </p:sp>
      <p:sp>
        <p:nvSpPr>
          <p:cNvPr id="13" name="footnote"/>
          <p:cNvSpPr txBox="1"/>
          <p:nvPr/>
        </p:nvSpPr>
        <p:spPr>
          <a:xfrm>
            <a:off x="548640" y="6355080"/>
            <a:ext cx="5943600" cy="320040"/>
          </a:xfrm>
          <a:prstGeom prst="rect">
            <a:avLst/>
          </a:prstGeom>
          <a:noFill/>
          <a:ln/>
        </p:spPr>
        <p:txBody>
          <a:bodyPr wrap="square" lIns="0" tIns="0" rIns="0" bIns="0" rtlCol="0" anchor="ctr"/>
          <a:lstStyle/>
          <a:p>
            <a:pPr marL="0" indent="0">
              <a:buNone/>
            </a:pPr>
            <a:r>
              <a:rPr lang="en-US" sz="1200" dirty="0">
                <a:solidFill>
                  <a:srgbClr val="6B7A88"/>
                </a:solidFill>
              </a:rPr>
              <a:t>투입 목록과 단가표 검수는 2기에 새로 시작  |  자료 기준일 2026-10-23</a:t>
            </a:r>
            <a:endParaRPr lang="en-US" sz="1200" dirty="0"/>
          </a:p>
        </p:txBody>
      </p:sp>
      <p:sp>
        <p:nvSpPr>
          <p:cNvPr id="15" name="Text 0"/>
          <p:cNvSpPr>
            <a:spLocks noGrp="1"/>
          </p:cNvSpPr>
          <p:nvPr>
            <p:ph type="body" idx="100"/>
          </p:nvPr>
        </p:nvSpPr>
        <p:spPr>
          <a:xfrm>
            <a:off x="548640" y="320040"/>
            <a:ext cx="8229600" cy="320040"/>
          </a:xfrm>
          <a:prstGeom prst="rect">
            <a:avLst/>
          </a:prstGeom>
          <a:noFill/>
          <a:ln/>
        </p:spPr>
        <p:txBody>
          <a:bodyPr wrap="square" lIns="0" tIns="0" rIns="0" bIns="0" rtlCol="0"/>
          <a:lstStyle/>
          <a:p>
            <a:pPr marL="0" indent="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3"/>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marL="0" indent="0" algn="ctr">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solidFill>
            <a:srgbClr val="EAF4F5"/>
          </a:solidFill>
          <a:ln/>
        </p:spPr>
        <p:txBody>
          <a:bodyPr wrap="square" lIns="0" tIns="0" rIns="0" bIns="0" rtlCol="0" anchor="ctr"/>
          <a:lstStyle/>
          <a:p>
            <a:pPr marL="0" indent="0" algn="ctr">
              <a:buNone/>
            </a:pPr>
            <a:r>
              <a:rPr lang="en-US" sz="1400" b="1" dirty="0">
                <a:solidFill>
                  <a:srgbClr val="0E7C86"/>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marL="0" indent="0" algn="ctr">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marL="0" indent="0" algn="ctr">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marL="0" indent="0" algn="ctr">
              <a:buNone/>
            </a:pPr>
            <a:r>
              <a:rPr lang="en-US" sz="1400" dirty="0">
                <a:solidFill>
                  <a:srgbClr val="6B7A88"/>
                </a:solidFill>
              </a:rPr>
              <a:t>5 한계와 과제</a:t>
            </a:r>
            <a:endParaRPr lang="en-US" sz="1400" dirty="0"/>
          </a:p>
        </p:txBody>
      </p:sp>
      <p:sp>
        <p:nvSpPr>
          <p:cNvPr id="7" name="Text 0"/>
          <p:cNvSpPr>
            <a:spLocks noGrp="1"/>
          </p:cNvSpPr>
          <p:nvPr>
            <p:ph type="title" idx="101"/>
          </p:nvPr>
        </p:nvSpPr>
        <p:spPr>
          <a:xfrm>
            <a:off x="548640" y="621792"/>
            <a:ext cx="11064240" cy="658368"/>
          </a:xfrm>
          <a:prstGeom prst="rect">
            <a:avLst/>
          </a:prstGeom>
          <a:noFill/>
          <a:ln/>
        </p:spPr>
        <p:txBody>
          <a:bodyPr wrap="square" lIns="0" tIns="0" rIns="0" bIns="0" rtlCol="0" anchor="ctr"/>
          <a:lstStyle/>
          <a:p>
            <a:pPr marL="0" indent="0" algn="l">
              <a:buNone/>
            </a:pPr>
            <a:r>
              <a:rPr lang="en-US" sz="3600" b="1" dirty="0" err="1" smtClean="0">
                <a:solidFill>
                  <a:schemeClr val="tx1"/>
                </a:solidFill>
              </a:rPr>
              <a:t>활용</a:t>
            </a:r>
            <a:r>
              <a:rPr lang="en-US" sz="3600" b="1" dirty="0" smtClean="0">
                <a:solidFill>
                  <a:schemeClr val="tx1"/>
                </a:solidFill>
              </a:rPr>
              <a:t> </a:t>
            </a:r>
            <a:r>
              <a:rPr lang="en-US" sz="3600" b="1" dirty="0" err="1" smtClean="0">
                <a:solidFill>
                  <a:schemeClr val="tx1"/>
                </a:solidFill>
              </a:rPr>
              <a:t>현황_설계</a:t>
            </a:r>
            <a:r>
              <a:rPr lang="en-US" sz="3600" b="1" dirty="0" smtClean="0">
                <a:solidFill>
                  <a:schemeClr val="tx1"/>
                </a:solidFill>
              </a:rPr>
              <a:t> </a:t>
            </a:r>
            <a:r>
              <a:rPr lang="en-US" sz="3600" b="1" dirty="0">
                <a:solidFill>
                  <a:schemeClr val="tx1"/>
                </a:solidFill>
              </a:rPr>
              <a:t>프로그램 연결</a:t>
            </a:r>
            <a:endParaRPr lang="en-US" sz="3600" dirty="0"/>
          </a:p>
        </p:txBody>
      </p:sp>
      <p:sp>
        <p:nvSpPr>
          <p:cNvPr id="8" name="Text 0"/>
          <p:cNvSpPr>
            <a:spLocks noGrp="1"/>
          </p:cNvSpPr>
          <p:nvPr>
            <p:ph type="body" idx="102"/>
          </p:nvPr>
        </p:nvSpPr>
        <p:spPr>
          <a:xfrm>
            <a:off x="548640" y="1325880"/>
            <a:ext cx="11064240" cy="411480"/>
          </a:xfrm>
          <a:prstGeom prst="rect">
            <a:avLst/>
          </a:prstGeom>
          <a:noFill/>
          <a:ln/>
        </p:spPr>
        <p:txBody>
          <a:bodyPr wrap="square" lIns="0" tIns="0" rIns="0" bIns="0" rtlCol="0" anchor="ctr"/>
          <a:lstStyle/>
          <a:p>
            <a:pPr marL="0" indent="0" algn="l">
              <a:buNone/>
            </a:pPr>
            <a:r>
              <a:rPr lang="en-US" sz="2000" b="1" dirty="0">
                <a:solidFill>
                  <a:schemeClr val="accent1"/>
                </a:solidFill>
              </a:rPr>
              <a:t>▶ 원목 연삭 시험 공구 2JJCR 040 010 200 도면 치수 3D 모델화</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t3d0-cap"/>
          <p:cNvSpPr txBox="1"/>
          <p:nvPr/>
        </p:nvSpPr>
        <p:spPr>
          <a:xfrm>
            <a:off x="548640" y="1965960"/>
            <a:ext cx="5486400" cy="292608"/>
          </a:xfrm>
          <a:prstGeom prst="rect">
            <a:avLst/>
          </a:prstGeom>
          <a:noFill/>
          <a:ln/>
        </p:spPr>
        <p:txBody>
          <a:bodyPr wrap="square" lIns="0" tIns="0" rIns="0" bIns="0" rtlCol="0" anchor="ctr"/>
          <a:lstStyle/>
          <a:p>
            <a:pPr marL="0" indent="0">
              <a:buNone/>
            </a:pPr>
            <a:r>
              <a:rPr lang="en-US" sz="1300" b="1" dirty="0">
                <a:solidFill>
                  <a:srgbClr val="3A506B"/>
                </a:solidFill>
              </a:rPr>
              <a:t>그림 1. 2JJCR 040 010 200 전체 (Blender)</a:t>
            </a:r>
            <a:endParaRPr lang="en-US" sz="1300" dirty="0"/>
          </a:p>
        </p:txBody>
      </p:sp>
      <p:pic>
        <p:nvPicPr>
          <p:cNvPr id="11" name="t3d0-img" descr="2날 코너R 롱넥 엔드밀 2JJCR 040 010 200 3D 모델 전체"/>
          <p:cNvPicPr>
            <a:picLocks noChangeAspect="1"/>
          </p:cNvPicPr>
          <p:nvPr/>
        </p:nvPicPr>
        <p:blipFill>
          <a:blip r:embed="rId3"/>
          <a:stretch>
            <a:fillRect/>
          </a:stretch>
        </p:blipFill>
        <p:spPr>
          <a:xfrm>
            <a:off x="548640" y="2286000"/>
            <a:ext cx="5486400" cy="2286000"/>
          </a:xfrm>
          <a:prstGeom prst="rect">
            <a:avLst/>
          </a:prstGeom>
        </p:spPr>
      </p:pic>
      <p:sp>
        <p:nvSpPr>
          <p:cNvPr id="12" name="t3d0-frame"/>
          <p:cNvSpPr/>
          <p:nvPr/>
        </p:nvSpPr>
        <p:spPr>
          <a:xfrm>
            <a:off x="548640" y="2286000"/>
            <a:ext cx="5486400" cy="2286000"/>
          </a:xfrm>
          <a:prstGeom prst="rect">
            <a:avLst/>
          </a:prstGeom>
          <a:ln w="9525">
            <a:solidFill>
              <a:srgbClr val="D9E2EC"/>
            </a:solidFill>
            <a:prstDash val="solid"/>
          </a:ln>
        </p:spPr>
      </p:sp>
      <p:pic>
        <p:nvPicPr>
          <p:cNvPr id="13" name="t3d1-img" descr="2JJCR 040 010 200 날 끝 확대"/>
          <p:cNvPicPr>
            <a:picLocks noChangeAspect="1"/>
          </p:cNvPicPr>
          <p:nvPr/>
        </p:nvPicPr>
        <p:blipFill>
          <a:blip r:embed="rId4"/>
          <a:stretch>
            <a:fillRect/>
          </a:stretch>
        </p:blipFill>
        <p:spPr>
          <a:xfrm>
            <a:off x="548640" y="4754880"/>
            <a:ext cx="1856232" cy="1325880"/>
          </a:xfrm>
          <a:prstGeom prst="rect">
            <a:avLst/>
          </a:prstGeom>
        </p:spPr>
      </p:pic>
      <p:sp>
        <p:nvSpPr>
          <p:cNvPr id="14" name="t3d1-frame"/>
          <p:cNvSpPr/>
          <p:nvPr/>
        </p:nvSpPr>
        <p:spPr>
          <a:xfrm>
            <a:off x="548640" y="4754880"/>
            <a:ext cx="1856232" cy="1325880"/>
          </a:xfrm>
          <a:prstGeom prst="rect">
            <a:avLst/>
          </a:prstGeom>
          <a:ln w="9525">
            <a:solidFill>
              <a:srgbClr val="D9E2EC"/>
            </a:solidFill>
            <a:prstDash val="solid"/>
          </a:ln>
        </p:spPr>
      </p:sp>
      <p:sp>
        <p:nvSpPr>
          <p:cNvPr id="15" name="t3d1-cap"/>
          <p:cNvSpPr txBox="1"/>
          <p:nvPr/>
        </p:nvSpPr>
        <p:spPr>
          <a:xfrm>
            <a:off x="2560320" y="4754880"/>
            <a:ext cx="3474720" cy="1325880"/>
          </a:xfrm>
          <a:prstGeom prst="rect">
            <a:avLst/>
          </a:prstGeom>
          <a:noFill/>
          <a:ln/>
        </p:spPr>
        <p:txBody>
          <a:bodyPr wrap="square" lIns="0" tIns="0" rIns="0" bIns="0" rtlCol="0" anchor="t"/>
          <a:lstStyle/>
          <a:p>
            <a:pPr marL="0" indent="0">
              <a:spcAft>
                <a:spcPts val="400"/>
              </a:spcAft>
              <a:buNone/>
            </a:pPr>
            <a:r>
              <a:rPr lang="en-US" sz="1400" b="1" dirty="0">
                <a:solidFill>
                  <a:srgbClr val="3A506B"/>
                </a:solidFill>
              </a:rPr>
              <a:t>그림 2. 날 끝 확대</a:t>
            </a:r>
            <a:endParaRPr lang="en-US" sz="1400" dirty="0"/>
          </a:p>
          <a:p>
            <a:pPr marL="0" indent="0">
              <a:spcAft>
                <a:spcPts val="400"/>
              </a:spcAft>
              <a:buNone/>
            </a:pPr>
            <a:r>
              <a:rPr lang="en-US" sz="1400" dirty="0">
                <a:solidFill>
                  <a:srgbClr val="2C3E50"/>
                </a:solidFill>
              </a:rPr>
              <a:t>도면 치수 그대로 (단위 mm)</a:t>
            </a:r>
            <a:endParaRPr lang="en-US" sz="1400" dirty="0"/>
          </a:p>
          <a:p>
            <a:pPr marL="0" indent="0">
              <a:spcAft>
                <a:spcPts val="400"/>
              </a:spcAft>
              <a:buNone/>
            </a:pPr>
            <a:r>
              <a:rPr lang="en-US" sz="1400" dirty="0">
                <a:solidFill>
                  <a:srgbClr val="2C3E50"/>
                </a:solidFill>
              </a:rPr>
              <a:t>D4 × R1, 넥 Ø3.85, d6, L50</a:t>
            </a:r>
            <a:endParaRPr lang="en-US" sz="1400" dirty="0"/>
          </a:p>
          <a:p>
            <a:pPr marL="0" indent="0">
              <a:spcAft>
                <a:spcPts val="400"/>
              </a:spcAft>
              <a:buNone/>
            </a:pPr>
            <a:r>
              <a:rPr lang="en-US" sz="1400" dirty="0">
                <a:solidFill>
                  <a:srgbClr val="6B7A88"/>
                </a:solidFill>
              </a:rPr>
              <a:t>날 형상은 추정값</a:t>
            </a:r>
            <a:endParaRPr lang="en-US" sz="1400" dirty="0"/>
          </a:p>
        </p:txBody>
      </p:sp>
      <p:graphicFrame>
        <p:nvGraphicFramePr>
          <p:cNvPr id="16" name="tool-table"/>
          <p:cNvGraphicFramePr>
            <a:graphicFrameLocks noGrp="1"/>
          </p:cNvGraphicFramePr>
          <p:nvPr>
            <p:extLst>
              <p:ext uri="{D42A27DB-BD31-4B8C-83A1-F6EECF244321}">
                <p14:modId xmlns:p14="http://schemas.microsoft.com/office/powerpoint/2010/main" val="1579011935"/>
              </p:ext>
            </p:extLst>
          </p:nvPr>
        </p:nvGraphicFramePr>
        <p:xfrm>
          <a:off x="6309360" y="1965960"/>
          <a:ext cx="5303520" cy="2852928"/>
        </p:xfrm>
        <a:graphic>
          <a:graphicData uri="http://schemas.openxmlformats.org/drawingml/2006/table">
            <a:tbl>
              <a:tblPr/>
              <a:tblGrid>
                <a:gridCol w="1234440"/>
                <a:gridCol w="777240"/>
                <a:gridCol w="3291840"/>
              </a:tblGrid>
              <a:tr h="384048">
                <a:tc>
                  <a:txBody>
                    <a:bodyPr/>
                    <a:lstStyle/>
                    <a:p>
                      <a:pPr marL="0" indent="0">
                        <a:buNone/>
                      </a:pPr>
                      <a:r>
                        <a:rPr lang="en-US" sz="1500" b="1" dirty="0">
                          <a:solidFill>
                            <a:srgbClr val="FFFFFF"/>
                          </a:solidFill>
                          <a:latin typeface="맑은 고딕" pitchFamily="34" charset="0"/>
                          <a:ea typeface="맑은 고딕" pitchFamily="34" charset="-122"/>
                          <a:cs typeface="맑은 고딕" pitchFamily="34" charset="-120"/>
                        </a:rPr>
                        <a:t>프로그램</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marL="0" indent="0">
                        <a:buNone/>
                      </a:pPr>
                      <a:r>
                        <a:rPr lang="en-US" sz="1500" b="1" dirty="0">
                          <a:solidFill>
                            <a:srgbClr val="FFFFFF"/>
                          </a:solidFill>
                          <a:latin typeface="맑은 고딕" pitchFamily="34" charset="0"/>
                          <a:ea typeface="맑은 고딕" pitchFamily="34" charset="-122"/>
                          <a:cs typeface="맑은 고딕" pitchFamily="34" charset="-120"/>
                        </a:rPr>
                        <a:t>용도</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marL="0" indent="0">
                        <a:buNone/>
                      </a:pPr>
                      <a:r>
                        <a:rPr lang="en-US" sz="1500" b="1" dirty="0">
                          <a:solidFill>
                            <a:srgbClr val="FFFFFF"/>
                          </a:solidFill>
                          <a:latin typeface="맑은 고딕" pitchFamily="34" charset="0"/>
                          <a:ea typeface="맑은 고딕" pitchFamily="34" charset="-122"/>
                          <a:cs typeface="맑은 고딕" pitchFamily="34" charset="-120"/>
                        </a:rPr>
                        <a:t>이번에 한 일</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822960">
                <a:tc>
                  <a:txBody>
                    <a:bodyPr/>
                    <a:lstStyle/>
                    <a:p>
                      <a:pPr marL="0" indent="0">
                        <a:buNone/>
                      </a:pPr>
                      <a:r>
                        <a:rPr lang="en-US" sz="1500" b="1" dirty="0">
                          <a:solidFill>
                            <a:srgbClr val="1F2A36"/>
                          </a:solidFill>
                          <a:latin typeface="맑은 고딕" pitchFamily="34" charset="0"/>
                          <a:ea typeface="맑은 고딕" pitchFamily="34" charset="-122"/>
                          <a:cs typeface="맑은 고딕" pitchFamily="34" charset="-120"/>
                        </a:rPr>
                        <a:t>CADCraft</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500" dirty="0">
                          <a:solidFill>
                            <a:srgbClr val="6B7A88"/>
                          </a:solidFill>
                          <a:latin typeface="맑은 고딕" pitchFamily="34" charset="0"/>
                          <a:ea typeface="맑은 고딕" pitchFamily="34" charset="-122"/>
                          <a:cs typeface="맑은 고딕" pitchFamily="34" charset="-120"/>
                        </a:rPr>
                        <a:t>도면</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500" dirty="0">
                          <a:solidFill>
                            <a:srgbClr val="1F2A36"/>
                          </a:solidFill>
                          <a:latin typeface="맑은 고딕" pitchFamily="34" charset="0"/>
                          <a:ea typeface="맑은 고딕" pitchFamily="34" charset="-122"/>
                          <a:cs typeface="맑은 고딕" pitchFamily="34" charset="-120"/>
                        </a:rPr>
                        <a:t>말로 지시해 시험 도면 작성</a:t>
                      </a:r>
                      <a:endParaRPr lang="en-US" sz="1500" dirty="0">
                        <a:latin typeface="맑은 고딕" charset="0"/>
                        <a:ea typeface="맑은 고딕" charset="0"/>
                        <a:cs typeface="맑은 고딕" charset="0"/>
                      </a:endParaRPr>
                    </a:p>
                    <a:p>
                      <a:pPr marL="0" indent="0">
                        <a:buNone/>
                      </a:pPr>
                      <a:r>
                        <a:rPr lang="en-US" sz="1500" dirty="0">
                          <a:solidFill>
                            <a:srgbClr val="1F2A36"/>
                          </a:solidFill>
                          <a:latin typeface="맑은 고딕" pitchFamily="34" charset="0"/>
                          <a:ea typeface="맑은 고딕" pitchFamily="34" charset="-122"/>
                          <a:cs typeface="맑은 고딕" pitchFamily="34" charset="-120"/>
                        </a:rPr>
                        <a:t>DXF와 DWG 파일로 저장</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822960">
                <a:tc>
                  <a:txBody>
                    <a:bodyPr/>
                    <a:lstStyle/>
                    <a:p>
                      <a:pPr marL="0" indent="0">
                        <a:buNone/>
                      </a:pPr>
                      <a:r>
                        <a:rPr lang="en-US" sz="1500" b="1" dirty="0">
                          <a:solidFill>
                            <a:srgbClr val="1F2A36"/>
                          </a:solidFill>
                          <a:latin typeface="맑은 고딕" pitchFamily="34" charset="0"/>
                          <a:ea typeface="맑은 고딕" pitchFamily="34" charset="-122"/>
                          <a:cs typeface="맑은 고딕" pitchFamily="34" charset="-120"/>
                        </a:rPr>
                        <a:t>Blender</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marL="0" indent="0">
                        <a:buNone/>
                      </a:pPr>
                      <a:r>
                        <a:rPr lang="en-US" sz="1500" dirty="0">
                          <a:solidFill>
                            <a:srgbClr val="6B7A88"/>
                          </a:solidFill>
                          <a:latin typeface="맑은 고딕" pitchFamily="34" charset="0"/>
                          <a:ea typeface="맑은 고딕" pitchFamily="34" charset="-122"/>
                          <a:cs typeface="맑은 고딕" pitchFamily="34" charset="-120"/>
                        </a:rPr>
                        <a:t>3D</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marL="0" indent="0">
                        <a:buNone/>
                      </a:pPr>
                      <a:r>
                        <a:rPr lang="en-US" sz="1500" dirty="0">
                          <a:solidFill>
                            <a:srgbClr val="1F2A36"/>
                          </a:solidFill>
                          <a:latin typeface="맑은 고딕" pitchFamily="34" charset="0"/>
                          <a:ea typeface="맑은 고딕" pitchFamily="34" charset="-122"/>
                          <a:cs typeface="맑은 고딕" pitchFamily="34" charset="-120"/>
                        </a:rPr>
                        <a:t>공구 2JJCR 040 010 200 3D 모델. 설명용</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r>
              <a:tr h="822960">
                <a:tc>
                  <a:txBody>
                    <a:bodyPr/>
                    <a:lstStyle/>
                    <a:p>
                      <a:pPr marL="0" indent="0">
                        <a:buNone/>
                      </a:pPr>
                      <a:r>
                        <a:rPr lang="en-US" sz="1500" b="1" dirty="0">
                          <a:solidFill>
                            <a:srgbClr val="1F2A36"/>
                          </a:solidFill>
                          <a:latin typeface="맑은 고딕" pitchFamily="34" charset="0"/>
                          <a:ea typeface="맑은 고딕" pitchFamily="34" charset="-122"/>
                          <a:cs typeface="맑은 고딕" pitchFamily="34" charset="-120"/>
                        </a:rPr>
                        <a:t>FreeCAD</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500" dirty="0">
                          <a:solidFill>
                            <a:srgbClr val="6B7A88"/>
                          </a:solidFill>
                          <a:latin typeface="맑은 고딕" pitchFamily="34" charset="0"/>
                          <a:ea typeface="맑은 고딕" pitchFamily="34" charset="-122"/>
                          <a:cs typeface="맑은 고딕" pitchFamily="34" charset="-120"/>
                        </a:rPr>
                        <a:t>CAM</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500" dirty="0">
                          <a:solidFill>
                            <a:srgbClr val="1F2A36"/>
                          </a:solidFill>
                          <a:latin typeface="맑은 고딕" pitchFamily="34" charset="0"/>
                          <a:ea typeface="맑은 고딕" pitchFamily="34" charset="-122"/>
                          <a:cs typeface="맑은 고딕" pitchFamily="34" charset="-120"/>
                        </a:rPr>
                        <a:t>G코드 생성과 사내 장비용 출력 형식 시험 중</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bl>
          </a:graphicData>
        </a:graphic>
      </p:graphicFrame>
      <p:sp>
        <p:nvSpPr>
          <p:cNvPr id="17" name="cam-flow"/>
          <p:cNvSpPr/>
          <p:nvPr/>
        </p:nvSpPr>
        <p:spPr>
          <a:xfrm>
            <a:off x="6309360" y="5029200"/>
            <a:ext cx="5303520" cy="1051560"/>
          </a:xfrm>
          <a:prstGeom prst="rect">
            <a:avLst/>
          </a:prstGeom>
          <a:solidFill>
            <a:srgbClr val="F4F6F8"/>
          </a:solidFill>
          <a:ln w="9525">
            <a:solidFill>
              <a:srgbClr val="D9E2EC"/>
            </a:solidFill>
            <a:prstDash val="solid"/>
          </a:ln>
        </p:spPr>
      </p:sp>
      <p:sp>
        <p:nvSpPr>
          <p:cNvPr id="18" name="cam-flow-t"/>
          <p:cNvSpPr txBox="1"/>
          <p:nvPr/>
        </p:nvSpPr>
        <p:spPr>
          <a:xfrm>
            <a:off x="6492240" y="5074920"/>
            <a:ext cx="4937760" cy="960120"/>
          </a:xfrm>
          <a:prstGeom prst="rect">
            <a:avLst/>
          </a:prstGeom>
          <a:noFill/>
          <a:ln/>
        </p:spPr>
        <p:txBody>
          <a:bodyPr wrap="square" lIns="0" tIns="0" rIns="0" bIns="0" rtlCol="0" anchor="ctr"/>
          <a:lstStyle/>
          <a:p>
            <a:pPr marL="0" indent="0">
              <a:spcAft>
                <a:spcPts val="400"/>
              </a:spcAft>
              <a:buNone/>
            </a:pPr>
            <a:r>
              <a:rPr lang="en-US" sz="1600" b="1" dirty="0">
                <a:solidFill>
                  <a:srgbClr val="1F2A36"/>
                </a:solidFill>
              </a:rPr>
              <a:t>현장에 쓰기 전 확인</a:t>
            </a:r>
            <a:endParaRPr lang="en-US" sz="1600" dirty="0"/>
          </a:p>
          <a:p>
            <a:pPr marL="0" indent="0">
              <a:spcAft>
                <a:spcPts val="400"/>
              </a:spcAft>
              <a:buNone/>
            </a:pPr>
            <a:r>
              <a:rPr lang="en-US" sz="1600" dirty="0">
                <a:solidFill>
                  <a:srgbClr val="2C3E50"/>
                </a:solidFill>
              </a:rPr>
              <a:t>3D 모델은 설명용으로만 쓰고 새 G코드는 시뮬레이션과 공운전 뒤 사용</a:t>
            </a:r>
            <a:endParaRPr lang="en-US" sz="1600" dirty="0"/>
          </a:p>
        </p:txBody>
      </p:sp>
      <p:sp>
        <p:nvSpPr>
          <p:cNvPr id="19" name="footnote"/>
          <p:cNvSpPr txBox="1"/>
          <p:nvPr/>
        </p:nvSpPr>
        <p:spPr>
          <a:xfrm>
            <a:off x="548640" y="6355080"/>
            <a:ext cx="5943600" cy="320040"/>
          </a:xfrm>
          <a:prstGeom prst="rect">
            <a:avLst/>
          </a:prstGeom>
          <a:noFill/>
          <a:ln/>
        </p:spPr>
        <p:txBody>
          <a:bodyPr wrap="square" lIns="0" tIns="0" rIns="0" bIns="0" rtlCol="0" anchor="ctr"/>
          <a:lstStyle/>
          <a:p>
            <a:pPr marL="0" indent="0">
              <a:buNone/>
            </a:pPr>
            <a:r>
              <a:rPr lang="en-US" sz="1200" dirty="0">
                <a:solidFill>
                  <a:srgbClr val="6B7A88"/>
                </a:solidFill>
              </a:rPr>
              <a:t>3D 모델은 가공 조건 근거로 쓰지 않음  |  자료 기준일 2026-10-23</a:t>
            </a:r>
            <a:endParaRPr lang="en-US" sz="1200" dirty="0"/>
          </a:p>
        </p:txBody>
      </p:sp>
      <p:sp>
        <p:nvSpPr>
          <p:cNvPr id="21" name="Text 0"/>
          <p:cNvSpPr>
            <a:spLocks noGrp="1"/>
          </p:cNvSpPr>
          <p:nvPr>
            <p:ph type="body" idx="100"/>
          </p:nvPr>
        </p:nvSpPr>
        <p:spPr>
          <a:xfrm>
            <a:off x="548640" y="320040"/>
            <a:ext cx="8229600" cy="320040"/>
          </a:xfrm>
          <a:prstGeom prst="rect">
            <a:avLst/>
          </a:prstGeom>
          <a:noFill/>
          <a:ln/>
        </p:spPr>
        <p:txBody>
          <a:bodyPr wrap="square" lIns="0" tIns="0" rIns="0" bIns="0" rtlCol="0"/>
          <a:lstStyle/>
          <a:p>
            <a:pPr marL="0" indent="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3"/>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marL="0" indent="0" algn="ctr">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marL="0" indent="0" algn="ctr">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solidFill>
            <a:srgbClr val="EAF4F5"/>
          </a:solidFill>
          <a:ln/>
        </p:spPr>
        <p:txBody>
          <a:bodyPr wrap="square" lIns="0" tIns="0" rIns="0" bIns="0" rtlCol="0" anchor="ctr"/>
          <a:lstStyle/>
          <a:p>
            <a:pPr marL="0" indent="0" algn="ctr">
              <a:buNone/>
            </a:pPr>
            <a:r>
              <a:rPr lang="en-US" sz="1400" b="1" dirty="0">
                <a:solidFill>
                  <a:srgbClr val="0E7C86"/>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marL="0" indent="0" algn="ctr">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marL="0" indent="0" algn="ctr">
              <a:buNone/>
            </a:pPr>
            <a:r>
              <a:rPr lang="en-US" sz="1400" dirty="0">
                <a:solidFill>
                  <a:srgbClr val="6B7A88"/>
                </a:solidFill>
              </a:rPr>
              <a:t>5 한계와 과제</a:t>
            </a:r>
            <a:endParaRPr lang="en-US" sz="1400" dirty="0"/>
          </a:p>
        </p:txBody>
      </p:sp>
      <p:sp>
        <p:nvSpPr>
          <p:cNvPr id="7" name="Text 0"/>
          <p:cNvSpPr>
            <a:spLocks noGrp="1"/>
          </p:cNvSpPr>
          <p:nvPr>
            <p:ph type="title" idx="101"/>
          </p:nvPr>
        </p:nvSpPr>
        <p:spPr>
          <a:xfrm>
            <a:off x="548640" y="621792"/>
            <a:ext cx="11064240" cy="658368"/>
          </a:xfrm>
          <a:prstGeom prst="rect">
            <a:avLst/>
          </a:prstGeom>
          <a:noFill/>
          <a:ln/>
        </p:spPr>
        <p:txBody>
          <a:bodyPr wrap="square" lIns="0" tIns="0" rIns="0" bIns="0" rtlCol="0" anchor="ctr"/>
          <a:lstStyle/>
          <a:p>
            <a:pPr marL="0" indent="0" algn="l">
              <a:buNone/>
            </a:pPr>
            <a:r>
              <a:rPr lang="en-US" sz="3600" b="1" dirty="0">
                <a:solidFill>
                  <a:schemeClr val="tx1"/>
                </a:solidFill>
              </a:rPr>
              <a:t>자동화 </a:t>
            </a:r>
            <a:r>
              <a:rPr lang="en-US" sz="3600" b="1" dirty="0" err="1">
                <a:solidFill>
                  <a:schemeClr val="tx1"/>
                </a:solidFill>
              </a:rPr>
              <a:t>시스템</a:t>
            </a:r>
            <a:r>
              <a:rPr lang="en-US" sz="3600" b="1" dirty="0">
                <a:solidFill>
                  <a:schemeClr val="tx1"/>
                </a:solidFill>
              </a:rPr>
              <a:t> </a:t>
            </a:r>
            <a:r>
              <a:rPr lang="en-US" sz="3600" b="1" dirty="0" err="1" smtClean="0">
                <a:solidFill>
                  <a:schemeClr val="tx1"/>
                </a:solidFill>
              </a:rPr>
              <a:t>구성</a:t>
            </a:r>
            <a:endParaRPr lang="en-US" sz="3600" dirty="0"/>
          </a:p>
        </p:txBody>
      </p:sp>
      <p:sp>
        <p:nvSpPr>
          <p:cNvPr id="8" name="Text 0"/>
          <p:cNvSpPr>
            <a:spLocks noGrp="1"/>
          </p:cNvSpPr>
          <p:nvPr>
            <p:ph type="body" idx="102"/>
          </p:nvPr>
        </p:nvSpPr>
        <p:spPr>
          <a:xfrm>
            <a:off x="548640" y="1325880"/>
            <a:ext cx="11064240" cy="411480"/>
          </a:xfrm>
          <a:prstGeom prst="rect">
            <a:avLst/>
          </a:prstGeom>
          <a:noFill/>
          <a:ln/>
        </p:spPr>
        <p:txBody>
          <a:bodyPr wrap="square" lIns="0" tIns="0" rIns="0" bIns="0" rtlCol="0" anchor="ctr"/>
          <a:lstStyle/>
          <a:p>
            <a:pPr marL="0" indent="0" algn="l">
              <a:buNone/>
            </a:pPr>
            <a:r>
              <a:rPr lang="en-US" sz="2000" b="1" dirty="0">
                <a:solidFill>
                  <a:schemeClr val="accent1"/>
                </a:solidFill>
              </a:rPr>
              <a:t>▶ 기존 엑셀과 ERP를 그대로 읽어 업무 PC가 정해진 시각에 실행</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col0"/>
          <p:cNvSpPr/>
          <p:nvPr/>
        </p:nvSpPr>
        <p:spPr>
          <a:xfrm>
            <a:off x="548640" y="1965960"/>
            <a:ext cx="3108960" cy="4114800"/>
          </a:xfrm>
          <a:prstGeom prst="rect">
            <a:avLst/>
          </a:prstGeom>
          <a:solidFill>
            <a:srgbClr val="F4F6F8"/>
          </a:solidFill>
          <a:ln w="9525">
            <a:solidFill>
              <a:srgbClr val="D9E2EC"/>
            </a:solidFill>
            <a:prstDash val="solid"/>
          </a:ln>
        </p:spPr>
      </p:sp>
      <p:sp>
        <p:nvSpPr>
          <p:cNvPr id="11" name="col0-h"/>
          <p:cNvSpPr txBox="1"/>
          <p:nvPr/>
        </p:nvSpPr>
        <p:spPr>
          <a:xfrm>
            <a:off x="731520" y="2103120"/>
            <a:ext cx="2743200" cy="411480"/>
          </a:xfrm>
          <a:prstGeom prst="rect">
            <a:avLst/>
          </a:prstGeom>
          <a:noFill/>
          <a:ln/>
        </p:spPr>
        <p:txBody>
          <a:bodyPr wrap="square" lIns="0" tIns="0" rIns="0" bIns="0" rtlCol="0" anchor="ctr"/>
          <a:lstStyle/>
          <a:p>
            <a:pPr marL="0" indent="0">
              <a:buNone/>
            </a:pPr>
            <a:r>
              <a:rPr lang="en-US" sz="1700" b="1" dirty="0">
                <a:solidFill>
                  <a:srgbClr val="1F2A36"/>
                </a:solidFill>
              </a:rPr>
              <a:t>읽는 자료</a:t>
            </a:r>
            <a:endParaRPr lang="en-US" sz="1700" dirty="0"/>
          </a:p>
        </p:txBody>
      </p:sp>
      <p:sp>
        <p:nvSpPr>
          <p:cNvPr id="12" name="col0-i0"/>
          <p:cNvSpPr/>
          <p:nvPr/>
        </p:nvSpPr>
        <p:spPr>
          <a:xfrm>
            <a:off x="731520" y="2697480"/>
            <a:ext cx="2743200" cy="868680"/>
          </a:xfrm>
          <a:prstGeom prst="rect">
            <a:avLst/>
          </a:prstGeom>
          <a:solidFill>
            <a:srgbClr val="FFFFFF"/>
          </a:solidFill>
          <a:ln w="9525">
            <a:solidFill>
              <a:srgbClr val="D9E2EC"/>
            </a:solidFill>
            <a:prstDash val="solid"/>
          </a:ln>
        </p:spPr>
      </p:sp>
      <p:sp>
        <p:nvSpPr>
          <p:cNvPr id="13" name="col0-t0"/>
          <p:cNvSpPr txBox="1"/>
          <p:nvPr/>
        </p:nvSpPr>
        <p:spPr>
          <a:xfrm>
            <a:off x="868680" y="2697480"/>
            <a:ext cx="2468880" cy="868680"/>
          </a:xfrm>
          <a:prstGeom prst="rect">
            <a:avLst/>
          </a:prstGeom>
          <a:noFill/>
          <a:ln/>
        </p:spPr>
        <p:txBody>
          <a:bodyPr wrap="square" lIns="0" tIns="0" rIns="0" bIns="0" rtlCol="0" anchor="ctr"/>
          <a:lstStyle/>
          <a:p>
            <a:pPr marL="0" indent="0">
              <a:buNone/>
            </a:pPr>
            <a:r>
              <a:rPr lang="en-US" sz="1700" dirty="0">
                <a:solidFill>
                  <a:srgbClr val="2C3E50"/>
                </a:solidFill>
              </a:rPr>
              <a:t>ERP 수주와 A/S 조회</a:t>
            </a:r>
            <a:endParaRPr lang="en-US" sz="1700" dirty="0"/>
          </a:p>
        </p:txBody>
      </p:sp>
      <p:sp>
        <p:nvSpPr>
          <p:cNvPr id="14" name="col0-i1"/>
          <p:cNvSpPr/>
          <p:nvPr/>
        </p:nvSpPr>
        <p:spPr>
          <a:xfrm>
            <a:off x="731520" y="3749040"/>
            <a:ext cx="2743200" cy="868680"/>
          </a:xfrm>
          <a:prstGeom prst="rect">
            <a:avLst/>
          </a:prstGeom>
          <a:solidFill>
            <a:srgbClr val="FFFFFF"/>
          </a:solidFill>
          <a:ln w="9525">
            <a:solidFill>
              <a:srgbClr val="D9E2EC"/>
            </a:solidFill>
            <a:prstDash val="solid"/>
          </a:ln>
        </p:spPr>
      </p:sp>
      <p:sp>
        <p:nvSpPr>
          <p:cNvPr id="15" name="col0-t1"/>
          <p:cNvSpPr txBox="1"/>
          <p:nvPr/>
        </p:nvSpPr>
        <p:spPr>
          <a:xfrm>
            <a:off x="868680" y="3749040"/>
            <a:ext cx="2468880" cy="868680"/>
          </a:xfrm>
          <a:prstGeom prst="rect">
            <a:avLst/>
          </a:prstGeom>
          <a:noFill/>
          <a:ln/>
        </p:spPr>
        <p:txBody>
          <a:bodyPr wrap="square" lIns="0" tIns="0" rIns="0" bIns="0" rtlCol="0" anchor="ctr"/>
          <a:lstStyle/>
          <a:p>
            <a:pPr marL="0" indent="0">
              <a:buNone/>
            </a:pPr>
            <a:r>
              <a:rPr lang="en-US" sz="1700" dirty="0">
                <a:solidFill>
                  <a:srgbClr val="2C3E50"/>
                </a:solidFill>
              </a:rPr>
              <a:t>ERP 작업실적 (10-22까지 월간생산일지 엑셀)</a:t>
            </a:r>
            <a:endParaRPr lang="en-US" sz="1700" dirty="0"/>
          </a:p>
        </p:txBody>
      </p:sp>
      <p:sp>
        <p:nvSpPr>
          <p:cNvPr id="16" name="col0-i2"/>
          <p:cNvSpPr/>
          <p:nvPr/>
        </p:nvSpPr>
        <p:spPr>
          <a:xfrm>
            <a:off x="731520" y="4800600"/>
            <a:ext cx="2743200" cy="868680"/>
          </a:xfrm>
          <a:prstGeom prst="rect">
            <a:avLst/>
          </a:prstGeom>
          <a:solidFill>
            <a:srgbClr val="FFFFFF"/>
          </a:solidFill>
          <a:ln w="9525">
            <a:solidFill>
              <a:srgbClr val="D9E2EC"/>
            </a:solidFill>
            <a:prstDash val="solid"/>
          </a:ln>
        </p:spPr>
      </p:sp>
      <p:sp>
        <p:nvSpPr>
          <p:cNvPr id="17" name="col0-t2"/>
          <p:cNvSpPr txBox="1"/>
          <p:nvPr/>
        </p:nvSpPr>
        <p:spPr>
          <a:xfrm>
            <a:off x="868680" y="4800600"/>
            <a:ext cx="2468880" cy="868680"/>
          </a:xfrm>
          <a:prstGeom prst="rect">
            <a:avLst/>
          </a:prstGeom>
          <a:noFill/>
          <a:ln/>
        </p:spPr>
        <p:txBody>
          <a:bodyPr wrap="square" lIns="0" tIns="0" rIns="0" bIns="0" rtlCol="0" anchor="ctr"/>
          <a:lstStyle/>
          <a:p>
            <a:pPr marL="0" indent="0">
              <a:buNone/>
            </a:pPr>
            <a:r>
              <a:rPr lang="en-US" sz="1700" dirty="0">
                <a:solidFill>
                  <a:srgbClr val="2C3E50"/>
                </a:solidFill>
              </a:rPr>
              <a:t>출하현황 엑셀</a:t>
            </a:r>
            <a:endParaRPr lang="en-US" sz="1700" dirty="0"/>
          </a:p>
        </p:txBody>
      </p:sp>
      <p:sp>
        <p:nvSpPr>
          <p:cNvPr id="18" name="col1"/>
          <p:cNvSpPr/>
          <p:nvPr/>
        </p:nvSpPr>
        <p:spPr>
          <a:xfrm>
            <a:off x="4343400" y="1965960"/>
            <a:ext cx="3474720" cy="4114800"/>
          </a:xfrm>
          <a:prstGeom prst="rect">
            <a:avLst/>
          </a:prstGeom>
          <a:solidFill>
            <a:srgbClr val="EAF4F5"/>
          </a:solidFill>
          <a:ln w="9525">
            <a:solidFill>
              <a:srgbClr val="D9E2EC"/>
            </a:solidFill>
            <a:prstDash val="solid"/>
          </a:ln>
        </p:spPr>
      </p:sp>
      <p:sp>
        <p:nvSpPr>
          <p:cNvPr id="19" name="col1-h"/>
          <p:cNvSpPr txBox="1"/>
          <p:nvPr/>
        </p:nvSpPr>
        <p:spPr>
          <a:xfrm>
            <a:off x="4526280" y="2103120"/>
            <a:ext cx="3108960" cy="411480"/>
          </a:xfrm>
          <a:prstGeom prst="rect">
            <a:avLst/>
          </a:prstGeom>
          <a:noFill/>
          <a:ln/>
        </p:spPr>
        <p:txBody>
          <a:bodyPr wrap="square" lIns="0" tIns="0" rIns="0" bIns="0" rtlCol="0" anchor="ctr"/>
          <a:lstStyle/>
          <a:p>
            <a:pPr marL="0" indent="0">
              <a:buNone/>
            </a:pPr>
            <a:r>
              <a:rPr lang="en-US" sz="1700" b="1" dirty="0">
                <a:solidFill>
                  <a:srgbClr val="0E7C86"/>
                </a:solidFill>
              </a:rPr>
              <a:t>업무 PC</a:t>
            </a:r>
            <a:endParaRPr lang="en-US" sz="1700" dirty="0"/>
          </a:p>
        </p:txBody>
      </p:sp>
      <p:sp>
        <p:nvSpPr>
          <p:cNvPr id="20" name="col1-i0"/>
          <p:cNvSpPr/>
          <p:nvPr/>
        </p:nvSpPr>
        <p:spPr>
          <a:xfrm>
            <a:off x="4526280" y="2697480"/>
            <a:ext cx="3108960" cy="868680"/>
          </a:xfrm>
          <a:prstGeom prst="rect">
            <a:avLst/>
          </a:prstGeom>
          <a:solidFill>
            <a:srgbClr val="FFFFFF"/>
          </a:solidFill>
          <a:ln w="9525">
            <a:solidFill>
              <a:srgbClr val="D9E2EC"/>
            </a:solidFill>
            <a:prstDash val="solid"/>
          </a:ln>
        </p:spPr>
      </p:sp>
      <p:sp>
        <p:nvSpPr>
          <p:cNvPr id="21" name="col1-t0"/>
          <p:cNvSpPr txBox="1"/>
          <p:nvPr/>
        </p:nvSpPr>
        <p:spPr>
          <a:xfrm>
            <a:off x="4663440" y="2697480"/>
            <a:ext cx="2834640" cy="868680"/>
          </a:xfrm>
          <a:prstGeom prst="rect">
            <a:avLst/>
          </a:prstGeom>
          <a:noFill/>
          <a:ln/>
        </p:spPr>
        <p:txBody>
          <a:bodyPr wrap="square" lIns="0" tIns="0" rIns="0" bIns="0" rtlCol="0" anchor="ctr"/>
          <a:lstStyle/>
          <a:p>
            <a:pPr marL="0" indent="0">
              <a:buNone/>
            </a:pPr>
            <a:r>
              <a:rPr lang="en-US" sz="1700" dirty="0">
                <a:solidFill>
                  <a:srgbClr val="2C3E50"/>
                </a:solidFill>
              </a:rPr>
              <a:t>예약 실행 07:50과 16:00</a:t>
            </a:r>
            <a:endParaRPr lang="en-US" sz="1700" dirty="0"/>
          </a:p>
        </p:txBody>
      </p:sp>
      <p:sp>
        <p:nvSpPr>
          <p:cNvPr id="22" name="col1-i1"/>
          <p:cNvSpPr/>
          <p:nvPr/>
        </p:nvSpPr>
        <p:spPr>
          <a:xfrm>
            <a:off x="4526280" y="3749040"/>
            <a:ext cx="3108960" cy="868680"/>
          </a:xfrm>
          <a:prstGeom prst="rect">
            <a:avLst/>
          </a:prstGeom>
          <a:solidFill>
            <a:srgbClr val="FFFFFF"/>
          </a:solidFill>
          <a:ln w="9525">
            <a:solidFill>
              <a:srgbClr val="D9E2EC"/>
            </a:solidFill>
            <a:prstDash val="solid"/>
          </a:ln>
        </p:spPr>
      </p:sp>
      <p:sp>
        <p:nvSpPr>
          <p:cNvPr id="23" name="col1-t1"/>
          <p:cNvSpPr txBox="1"/>
          <p:nvPr/>
        </p:nvSpPr>
        <p:spPr>
          <a:xfrm>
            <a:off x="4663440" y="3749040"/>
            <a:ext cx="2834640" cy="868680"/>
          </a:xfrm>
          <a:prstGeom prst="rect">
            <a:avLst/>
          </a:prstGeom>
          <a:noFill/>
          <a:ln/>
        </p:spPr>
        <p:txBody>
          <a:bodyPr wrap="square" lIns="0" tIns="0" rIns="0" bIns="0" rtlCol="0" anchor="ctr"/>
          <a:lstStyle/>
          <a:p>
            <a:pPr marL="0" indent="0">
              <a:buNone/>
            </a:pPr>
            <a:r>
              <a:rPr lang="en-US" sz="1700" dirty="0">
                <a:solidFill>
                  <a:srgbClr val="2C3E50"/>
                </a:solidFill>
              </a:rPr>
              <a:t>Python 스크립트로 집계, 대조, 배정</a:t>
            </a:r>
            <a:endParaRPr lang="en-US" sz="1700" dirty="0"/>
          </a:p>
        </p:txBody>
      </p:sp>
      <p:sp>
        <p:nvSpPr>
          <p:cNvPr id="24" name="col1-i2"/>
          <p:cNvSpPr/>
          <p:nvPr/>
        </p:nvSpPr>
        <p:spPr>
          <a:xfrm>
            <a:off x="4526280" y="4800600"/>
            <a:ext cx="3108960" cy="868680"/>
          </a:xfrm>
          <a:prstGeom prst="rect">
            <a:avLst/>
          </a:prstGeom>
          <a:solidFill>
            <a:srgbClr val="FFFFFF"/>
          </a:solidFill>
          <a:ln w="9525">
            <a:solidFill>
              <a:srgbClr val="D9E2EC"/>
            </a:solidFill>
            <a:prstDash val="solid"/>
          </a:ln>
        </p:spPr>
      </p:sp>
      <p:sp>
        <p:nvSpPr>
          <p:cNvPr id="25" name="col1-t2"/>
          <p:cNvSpPr txBox="1"/>
          <p:nvPr/>
        </p:nvSpPr>
        <p:spPr>
          <a:xfrm>
            <a:off x="4663440" y="4800600"/>
            <a:ext cx="2834640" cy="868680"/>
          </a:xfrm>
          <a:prstGeom prst="rect">
            <a:avLst/>
          </a:prstGeom>
          <a:noFill/>
          <a:ln/>
        </p:spPr>
        <p:txBody>
          <a:bodyPr wrap="square" lIns="0" tIns="0" rIns="0" bIns="0" rtlCol="0" anchor="ctr"/>
          <a:lstStyle/>
          <a:p>
            <a:pPr marL="0" indent="0">
              <a:buNone/>
            </a:pPr>
            <a:r>
              <a:rPr lang="en-US" sz="1700" dirty="0">
                <a:solidFill>
                  <a:srgbClr val="2C3E50"/>
                </a:solidFill>
              </a:rPr>
              <a:t>Claude가 스크립트 작성과 점검</a:t>
            </a:r>
            <a:endParaRPr lang="en-US" sz="1700" dirty="0"/>
          </a:p>
        </p:txBody>
      </p:sp>
      <p:sp>
        <p:nvSpPr>
          <p:cNvPr id="26" name="col2"/>
          <p:cNvSpPr/>
          <p:nvPr/>
        </p:nvSpPr>
        <p:spPr>
          <a:xfrm>
            <a:off x="8503920" y="1965960"/>
            <a:ext cx="3108960" cy="4114800"/>
          </a:xfrm>
          <a:prstGeom prst="rect">
            <a:avLst/>
          </a:prstGeom>
          <a:solidFill>
            <a:srgbClr val="F4F6F8"/>
          </a:solidFill>
          <a:ln w="9525">
            <a:solidFill>
              <a:srgbClr val="D9E2EC"/>
            </a:solidFill>
            <a:prstDash val="solid"/>
          </a:ln>
        </p:spPr>
      </p:sp>
      <p:sp>
        <p:nvSpPr>
          <p:cNvPr id="27" name="col2-h"/>
          <p:cNvSpPr txBox="1"/>
          <p:nvPr/>
        </p:nvSpPr>
        <p:spPr>
          <a:xfrm>
            <a:off x="8686800" y="2103120"/>
            <a:ext cx="2743200" cy="411480"/>
          </a:xfrm>
          <a:prstGeom prst="rect">
            <a:avLst/>
          </a:prstGeom>
          <a:noFill/>
          <a:ln/>
        </p:spPr>
        <p:txBody>
          <a:bodyPr wrap="square" lIns="0" tIns="0" rIns="0" bIns="0" rtlCol="0" anchor="ctr"/>
          <a:lstStyle/>
          <a:p>
            <a:pPr marL="0" indent="0">
              <a:buNone/>
            </a:pPr>
            <a:r>
              <a:rPr lang="en-US" sz="1700" b="1" dirty="0">
                <a:solidFill>
                  <a:srgbClr val="1F2A36"/>
                </a:solidFill>
              </a:rPr>
              <a:t>만드는 것</a:t>
            </a:r>
            <a:endParaRPr lang="en-US" sz="1700" dirty="0"/>
          </a:p>
        </p:txBody>
      </p:sp>
      <p:sp>
        <p:nvSpPr>
          <p:cNvPr id="28" name="col2-i0"/>
          <p:cNvSpPr/>
          <p:nvPr/>
        </p:nvSpPr>
        <p:spPr>
          <a:xfrm>
            <a:off x="8686800" y="2697480"/>
            <a:ext cx="2743200" cy="658368"/>
          </a:xfrm>
          <a:prstGeom prst="rect">
            <a:avLst/>
          </a:prstGeom>
          <a:solidFill>
            <a:srgbClr val="FFFFFF"/>
          </a:solidFill>
          <a:ln w="9525">
            <a:solidFill>
              <a:srgbClr val="D9E2EC"/>
            </a:solidFill>
            <a:prstDash val="solid"/>
          </a:ln>
        </p:spPr>
      </p:sp>
      <p:sp>
        <p:nvSpPr>
          <p:cNvPr id="29" name="col2-t0"/>
          <p:cNvSpPr txBox="1"/>
          <p:nvPr/>
        </p:nvSpPr>
        <p:spPr>
          <a:xfrm>
            <a:off x="8823960" y="2697480"/>
            <a:ext cx="2468880" cy="658368"/>
          </a:xfrm>
          <a:prstGeom prst="rect">
            <a:avLst/>
          </a:prstGeom>
          <a:noFill/>
          <a:ln/>
        </p:spPr>
        <p:txBody>
          <a:bodyPr wrap="square" lIns="0" tIns="0" rIns="0" bIns="0" rtlCol="0" anchor="ctr"/>
          <a:lstStyle/>
          <a:p>
            <a:pPr marL="0" indent="0">
              <a:buNone/>
            </a:pPr>
            <a:r>
              <a:rPr lang="en-US" sz="1700" dirty="0">
                <a:solidFill>
                  <a:srgbClr val="2C3E50"/>
                </a:solidFill>
              </a:rPr>
              <a:t>일일보고 엑셀</a:t>
            </a:r>
            <a:endParaRPr lang="en-US" sz="1700" dirty="0"/>
          </a:p>
        </p:txBody>
      </p:sp>
      <p:sp>
        <p:nvSpPr>
          <p:cNvPr id="30" name="col2-i1"/>
          <p:cNvSpPr/>
          <p:nvPr/>
        </p:nvSpPr>
        <p:spPr>
          <a:xfrm>
            <a:off x="8686800" y="3520440"/>
            <a:ext cx="2743200" cy="658368"/>
          </a:xfrm>
          <a:prstGeom prst="rect">
            <a:avLst/>
          </a:prstGeom>
          <a:solidFill>
            <a:srgbClr val="FFFFFF"/>
          </a:solidFill>
          <a:ln w="9525">
            <a:solidFill>
              <a:srgbClr val="D9E2EC"/>
            </a:solidFill>
            <a:prstDash val="solid"/>
          </a:ln>
        </p:spPr>
      </p:sp>
      <p:sp>
        <p:nvSpPr>
          <p:cNvPr id="31" name="col2-t1"/>
          <p:cNvSpPr txBox="1"/>
          <p:nvPr/>
        </p:nvSpPr>
        <p:spPr>
          <a:xfrm>
            <a:off x="8823960" y="3520440"/>
            <a:ext cx="2468880" cy="658368"/>
          </a:xfrm>
          <a:prstGeom prst="rect">
            <a:avLst/>
          </a:prstGeom>
          <a:noFill/>
          <a:ln/>
        </p:spPr>
        <p:txBody>
          <a:bodyPr wrap="square" lIns="0" tIns="0" rIns="0" bIns="0" rtlCol="0" anchor="ctr"/>
          <a:lstStyle/>
          <a:p>
            <a:pPr marL="0" indent="0">
              <a:buNone/>
            </a:pPr>
            <a:r>
              <a:rPr lang="en-US" sz="1700" dirty="0">
                <a:solidFill>
                  <a:srgbClr val="2C3E50"/>
                </a:solidFill>
              </a:rPr>
              <a:t>공유폴더 현황판</a:t>
            </a:r>
            <a:endParaRPr lang="en-US" sz="1700" dirty="0"/>
          </a:p>
        </p:txBody>
      </p:sp>
      <p:sp>
        <p:nvSpPr>
          <p:cNvPr id="32" name="col2-i2"/>
          <p:cNvSpPr/>
          <p:nvPr/>
        </p:nvSpPr>
        <p:spPr>
          <a:xfrm>
            <a:off x="8686800" y="4343400"/>
            <a:ext cx="2743200" cy="658368"/>
          </a:xfrm>
          <a:prstGeom prst="rect">
            <a:avLst/>
          </a:prstGeom>
          <a:solidFill>
            <a:srgbClr val="FFFFFF"/>
          </a:solidFill>
          <a:ln w="9525">
            <a:solidFill>
              <a:srgbClr val="D9E2EC"/>
            </a:solidFill>
            <a:prstDash val="solid"/>
          </a:ln>
        </p:spPr>
      </p:sp>
      <p:sp>
        <p:nvSpPr>
          <p:cNvPr id="33" name="col2-t2"/>
          <p:cNvSpPr txBox="1"/>
          <p:nvPr/>
        </p:nvSpPr>
        <p:spPr>
          <a:xfrm>
            <a:off x="8823960" y="4343400"/>
            <a:ext cx="2468880" cy="658368"/>
          </a:xfrm>
          <a:prstGeom prst="rect">
            <a:avLst/>
          </a:prstGeom>
          <a:noFill/>
          <a:ln/>
        </p:spPr>
        <p:txBody>
          <a:bodyPr wrap="square" lIns="0" tIns="0" rIns="0" bIns="0" rtlCol="0" anchor="ctr"/>
          <a:lstStyle/>
          <a:p>
            <a:pPr marL="0" indent="0">
              <a:buNone/>
            </a:pPr>
            <a:r>
              <a:rPr lang="en-US" sz="1700" dirty="0">
                <a:solidFill>
                  <a:srgbClr val="2C3E50"/>
                </a:solidFill>
              </a:rPr>
              <a:t>장비별 투입 목록</a:t>
            </a:r>
            <a:endParaRPr lang="en-US" sz="1700" dirty="0"/>
          </a:p>
        </p:txBody>
      </p:sp>
      <p:sp>
        <p:nvSpPr>
          <p:cNvPr id="34" name="col2-i3"/>
          <p:cNvSpPr/>
          <p:nvPr/>
        </p:nvSpPr>
        <p:spPr>
          <a:xfrm>
            <a:off x="8686800" y="5166360"/>
            <a:ext cx="2743200" cy="658368"/>
          </a:xfrm>
          <a:prstGeom prst="rect">
            <a:avLst/>
          </a:prstGeom>
          <a:solidFill>
            <a:srgbClr val="FFFFFF"/>
          </a:solidFill>
          <a:ln w="9525">
            <a:solidFill>
              <a:srgbClr val="D9E2EC"/>
            </a:solidFill>
            <a:prstDash val="solid"/>
          </a:ln>
        </p:spPr>
      </p:sp>
      <p:sp>
        <p:nvSpPr>
          <p:cNvPr id="35" name="col2-t3"/>
          <p:cNvSpPr txBox="1"/>
          <p:nvPr/>
        </p:nvSpPr>
        <p:spPr>
          <a:xfrm>
            <a:off x="8823960" y="5166360"/>
            <a:ext cx="2468880" cy="658368"/>
          </a:xfrm>
          <a:prstGeom prst="rect">
            <a:avLst/>
          </a:prstGeom>
          <a:noFill/>
          <a:ln/>
        </p:spPr>
        <p:txBody>
          <a:bodyPr wrap="square" lIns="0" tIns="0" rIns="0" bIns="0" rtlCol="0" anchor="ctr"/>
          <a:lstStyle/>
          <a:p>
            <a:pPr marL="0" indent="0">
              <a:buNone/>
            </a:pPr>
            <a:r>
              <a:rPr lang="en-US" sz="1700" dirty="0">
                <a:solidFill>
                  <a:srgbClr val="2C3E50"/>
                </a:solidFill>
              </a:rPr>
              <a:t>위키 문서와 결정 기록</a:t>
            </a:r>
            <a:endParaRPr lang="en-US" sz="1700" dirty="0"/>
          </a:p>
        </p:txBody>
      </p:sp>
      <p:sp>
        <p:nvSpPr>
          <p:cNvPr id="36" name="flow-arrow0"/>
          <p:cNvSpPr/>
          <p:nvPr/>
        </p:nvSpPr>
        <p:spPr>
          <a:xfrm>
            <a:off x="3730752" y="3749040"/>
            <a:ext cx="548640" cy="548640"/>
          </a:xfrm>
          <a:prstGeom prst="rightArrow">
            <a:avLst/>
          </a:prstGeom>
          <a:solidFill>
            <a:srgbClr val="0E7C86"/>
          </a:solidFill>
          <a:ln w="12700">
            <a:solidFill>
              <a:srgbClr val="0E7C86"/>
            </a:solidFill>
            <a:prstDash val="solid"/>
          </a:ln>
        </p:spPr>
      </p:sp>
      <p:sp>
        <p:nvSpPr>
          <p:cNvPr id="37" name="flow-arrow1"/>
          <p:cNvSpPr/>
          <p:nvPr/>
        </p:nvSpPr>
        <p:spPr>
          <a:xfrm>
            <a:off x="7891272" y="3749040"/>
            <a:ext cx="548640" cy="548640"/>
          </a:xfrm>
          <a:prstGeom prst="rightArrow">
            <a:avLst/>
          </a:prstGeom>
          <a:solidFill>
            <a:srgbClr val="0E7C86"/>
          </a:solidFill>
          <a:ln w="12700">
            <a:solidFill>
              <a:srgbClr val="0E7C86"/>
            </a:solidFill>
            <a:prstDash val="solid"/>
          </a:ln>
        </p:spPr>
      </p:sp>
      <p:sp>
        <p:nvSpPr>
          <p:cNvPr id="38" name="footnote"/>
          <p:cNvSpPr txBox="1"/>
          <p:nvPr/>
        </p:nvSpPr>
        <p:spPr>
          <a:xfrm>
            <a:off x="548640" y="6355080"/>
            <a:ext cx="5943600" cy="320040"/>
          </a:xfrm>
          <a:prstGeom prst="rect">
            <a:avLst/>
          </a:prstGeom>
          <a:noFill/>
          <a:ln/>
        </p:spPr>
        <p:txBody>
          <a:bodyPr wrap="square" lIns="0" tIns="0" rIns="0" bIns="0" rtlCol="0" anchor="ctr"/>
          <a:lstStyle/>
          <a:p>
            <a:pPr marL="0" indent="0">
              <a:buNone/>
            </a:pPr>
            <a:r>
              <a:rPr lang="en-US" sz="1200" dirty="0">
                <a:solidFill>
                  <a:srgbClr val="6B7A88"/>
                </a:solidFill>
              </a:rPr>
              <a:t>업무 PC 1대에서 예약 작업 2개와 시작 프로그램 1개로 실행</a:t>
            </a:r>
            <a:endParaRPr lang="en-US" sz="1200" dirty="0"/>
          </a:p>
        </p:txBody>
      </p:sp>
      <p:sp>
        <p:nvSpPr>
          <p:cNvPr id="40" name="Text 0"/>
          <p:cNvSpPr>
            <a:spLocks noGrp="1"/>
          </p:cNvSpPr>
          <p:nvPr>
            <p:ph type="body" idx="100"/>
          </p:nvPr>
        </p:nvSpPr>
        <p:spPr>
          <a:xfrm>
            <a:off x="548640" y="320040"/>
            <a:ext cx="8229600" cy="320040"/>
          </a:xfrm>
          <a:prstGeom prst="rect">
            <a:avLst/>
          </a:prstGeom>
          <a:noFill/>
          <a:ln/>
        </p:spPr>
        <p:txBody>
          <a:bodyPr wrap="square" lIns="0" tIns="0" rIns="0" bIns="0" rtlCol="0"/>
          <a:lstStyle/>
          <a:p>
            <a:pPr marL="0" indent="0">
              <a:buNone/>
            </a:pPr>
            <a:endParaRPr lang="en-US" sz="1400" dirty="0"/>
          </a:p>
        </p:txBody>
      </p:sp>
      <p:sp>
        <p:nvSpPr>
          <p:cNvPr id="39"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3"/>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marL="0" indent="0" algn="ctr">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marL="0" indent="0" algn="ctr">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solidFill>
            <a:srgbClr val="EAF4F5"/>
          </a:solidFill>
          <a:ln/>
        </p:spPr>
        <p:txBody>
          <a:bodyPr wrap="square" lIns="0" tIns="0" rIns="0" bIns="0" rtlCol="0" anchor="ctr"/>
          <a:lstStyle/>
          <a:p>
            <a:pPr marL="0" indent="0" algn="ctr">
              <a:buNone/>
            </a:pPr>
            <a:r>
              <a:rPr lang="en-US" sz="1400" b="1" dirty="0">
                <a:solidFill>
                  <a:srgbClr val="0E7C86"/>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marL="0" indent="0" algn="ctr">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marL="0" indent="0" algn="ctr">
              <a:buNone/>
            </a:pPr>
            <a:r>
              <a:rPr lang="en-US" sz="1400" dirty="0">
                <a:solidFill>
                  <a:srgbClr val="6B7A88"/>
                </a:solidFill>
              </a:rPr>
              <a:t>5 한계와 과제</a:t>
            </a:r>
            <a:endParaRPr lang="en-US" sz="1400" dirty="0"/>
          </a:p>
        </p:txBody>
      </p:sp>
      <p:sp>
        <p:nvSpPr>
          <p:cNvPr id="7" name="Text 0"/>
          <p:cNvSpPr>
            <a:spLocks noGrp="1"/>
          </p:cNvSpPr>
          <p:nvPr>
            <p:ph type="title" idx="101"/>
          </p:nvPr>
        </p:nvSpPr>
        <p:spPr>
          <a:xfrm>
            <a:off x="548640" y="621792"/>
            <a:ext cx="11064240" cy="658368"/>
          </a:xfrm>
          <a:prstGeom prst="rect">
            <a:avLst/>
          </a:prstGeom>
          <a:noFill/>
          <a:ln/>
        </p:spPr>
        <p:txBody>
          <a:bodyPr wrap="square" lIns="0" tIns="0" rIns="0" bIns="0" rtlCol="0" anchor="ctr"/>
          <a:lstStyle/>
          <a:p>
            <a:pPr marL="0" indent="0" algn="l">
              <a:buNone/>
            </a:pPr>
            <a:r>
              <a:rPr lang="en-US" sz="3600" b="1" dirty="0">
                <a:solidFill>
                  <a:schemeClr val="tx1"/>
                </a:solidFill>
              </a:rPr>
              <a:t>자동화 </a:t>
            </a:r>
            <a:r>
              <a:rPr lang="en-US" sz="3600" b="1" dirty="0" err="1">
                <a:solidFill>
                  <a:schemeClr val="tx1"/>
                </a:solidFill>
              </a:rPr>
              <a:t>시스템</a:t>
            </a:r>
            <a:r>
              <a:rPr lang="en-US" sz="3600" b="1" dirty="0">
                <a:solidFill>
                  <a:schemeClr val="tx1"/>
                </a:solidFill>
              </a:rPr>
              <a:t> </a:t>
            </a:r>
            <a:r>
              <a:rPr lang="en-US" sz="3600" b="1" dirty="0" err="1" smtClean="0">
                <a:solidFill>
                  <a:schemeClr val="tx1"/>
                </a:solidFill>
              </a:rPr>
              <a:t>실행</a:t>
            </a:r>
            <a:r>
              <a:rPr lang="en-US" sz="3600" b="1" dirty="0" smtClean="0">
                <a:solidFill>
                  <a:schemeClr val="tx1"/>
                </a:solidFill>
              </a:rPr>
              <a:t> </a:t>
            </a:r>
            <a:r>
              <a:rPr lang="en-US" sz="3600" b="1" dirty="0">
                <a:solidFill>
                  <a:schemeClr val="tx1"/>
                </a:solidFill>
              </a:rPr>
              <a:t>화면</a:t>
            </a:r>
            <a:endParaRPr lang="en-US" sz="3600" dirty="0"/>
          </a:p>
        </p:txBody>
      </p:sp>
      <p:sp>
        <p:nvSpPr>
          <p:cNvPr id="8" name="Text 0"/>
          <p:cNvSpPr>
            <a:spLocks noGrp="1"/>
          </p:cNvSpPr>
          <p:nvPr>
            <p:ph type="body" idx="102"/>
          </p:nvPr>
        </p:nvSpPr>
        <p:spPr>
          <a:xfrm>
            <a:off x="548640" y="1325880"/>
            <a:ext cx="11064240" cy="411480"/>
          </a:xfrm>
          <a:prstGeom prst="rect">
            <a:avLst/>
          </a:prstGeom>
          <a:noFill/>
          <a:ln/>
        </p:spPr>
        <p:txBody>
          <a:bodyPr wrap="square" lIns="0" tIns="0" rIns="0" bIns="0" rtlCol="0" anchor="ctr"/>
          <a:lstStyle/>
          <a:p>
            <a:pPr marL="0" indent="0" algn="l">
              <a:buNone/>
            </a:pPr>
            <a:r>
              <a:rPr lang="en-US" sz="2000" b="1" dirty="0">
                <a:solidFill>
                  <a:schemeClr val="accent1"/>
                </a:solidFill>
              </a:rPr>
              <a:t>▶ PC를 켜면 일일보고, 현황판, 투입 목록 생성</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cap0"/>
          <p:cNvSpPr/>
          <p:nvPr/>
        </p:nvSpPr>
        <p:spPr>
          <a:xfrm>
            <a:off x="548640" y="1965960"/>
            <a:ext cx="3566160" cy="3291840"/>
          </a:xfrm>
          <a:prstGeom prst="rect">
            <a:avLst/>
          </a:prstGeom>
          <a:solidFill>
            <a:srgbClr val="F4F6F8"/>
          </a:solidFill>
          <a:ln w="9525">
            <a:solidFill>
              <a:srgbClr val="D9E2EC"/>
            </a:solidFill>
            <a:prstDash val="solid"/>
          </a:ln>
        </p:spPr>
      </p:sp>
      <p:pic>
        <p:nvPicPr>
          <p:cNvPr id="11" name="cap0-img" descr="일일보고 엑셀 화면 (거래처명은 A·B·C로 바꿈)"/>
          <p:cNvPicPr>
            <a:picLocks noChangeAspect="1"/>
          </p:cNvPicPr>
          <p:nvPr/>
        </p:nvPicPr>
        <p:blipFill>
          <a:blip r:embed="rId3"/>
          <a:stretch>
            <a:fillRect/>
          </a:stretch>
        </p:blipFill>
        <p:spPr>
          <a:xfrm>
            <a:off x="640080" y="2976652"/>
            <a:ext cx="3383280" cy="1270456"/>
          </a:xfrm>
          <a:prstGeom prst="rect">
            <a:avLst/>
          </a:prstGeom>
        </p:spPr>
      </p:pic>
      <p:sp>
        <p:nvSpPr>
          <p:cNvPr id="12" name="cap0-cap"/>
          <p:cNvSpPr txBox="1"/>
          <p:nvPr/>
        </p:nvSpPr>
        <p:spPr>
          <a:xfrm>
            <a:off x="548640" y="5349240"/>
            <a:ext cx="3566160" cy="777240"/>
          </a:xfrm>
          <a:prstGeom prst="rect">
            <a:avLst/>
          </a:prstGeom>
          <a:noFill/>
          <a:ln/>
        </p:spPr>
        <p:txBody>
          <a:bodyPr wrap="square" lIns="0" tIns="0" rIns="0" bIns="0" rtlCol="0" anchor="t"/>
          <a:lstStyle/>
          <a:p>
            <a:pPr marL="0" indent="0">
              <a:buNone/>
            </a:pPr>
            <a:r>
              <a:rPr lang="en-US" sz="1700" b="1" dirty="0">
                <a:solidFill>
                  <a:srgbClr val="1F2A36"/>
                </a:solidFill>
              </a:rPr>
              <a:t>일일보고 엑셀</a:t>
            </a:r>
            <a:endParaRPr lang="en-US" sz="1700" dirty="0"/>
          </a:p>
          <a:p>
            <a:pPr marL="0" indent="0">
              <a:buNone/>
            </a:pPr>
            <a:r>
              <a:rPr lang="en-US" sz="1400" dirty="0">
                <a:solidFill>
                  <a:srgbClr val="6B7A88"/>
                </a:solidFill>
              </a:rPr>
              <a:t>16:00 속보값이며 확정치는 다음 날 「전일」 칸</a:t>
            </a:r>
            <a:endParaRPr lang="en-US" sz="1700" dirty="0"/>
          </a:p>
        </p:txBody>
      </p:sp>
      <p:sp>
        <p:nvSpPr>
          <p:cNvPr id="13" name="cap1"/>
          <p:cNvSpPr/>
          <p:nvPr/>
        </p:nvSpPr>
        <p:spPr>
          <a:xfrm>
            <a:off x="4297680" y="1965960"/>
            <a:ext cx="3566160" cy="3291840"/>
          </a:xfrm>
          <a:prstGeom prst="rect">
            <a:avLst/>
          </a:prstGeom>
          <a:solidFill>
            <a:srgbClr val="F4F6F8"/>
          </a:solidFill>
          <a:ln w="9525">
            <a:solidFill>
              <a:srgbClr val="D9E2EC"/>
            </a:solidFill>
            <a:prstDash val="solid"/>
          </a:ln>
        </p:spPr>
      </p:sp>
      <p:pic>
        <p:nvPicPr>
          <p:cNvPr id="14" name="cap1-img" descr="사내 현황판 화면 (거래처명은 A·B·C로 바꿈)"/>
          <p:cNvPicPr>
            <a:picLocks noChangeAspect="1"/>
          </p:cNvPicPr>
          <p:nvPr/>
        </p:nvPicPr>
        <p:blipFill>
          <a:blip r:embed="rId4"/>
          <a:stretch>
            <a:fillRect/>
          </a:stretch>
        </p:blipFill>
        <p:spPr>
          <a:xfrm>
            <a:off x="4389120" y="2074025"/>
            <a:ext cx="3383280" cy="3075709"/>
          </a:xfrm>
          <a:prstGeom prst="rect">
            <a:avLst/>
          </a:prstGeom>
        </p:spPr>
      </p:pic>
      <p:sp>
        <p:nvSpPr>
          <p:cNvPr id="15" name="cap1-cap"/>
          <p:cNvSpPr txBox="1"/>
          <p:nvPr/>
        </p:nvSpPr>
        <p:spPr>
          <a:xfrm>
            <a:off x="4297680" y="5349240"/>
            <a:ext cx="3566160" cy="777240"/>
          </a:xfrm>
          <a:prstGeom prst="rect">
            <a:avLst/>
          </a:prstGeom>
          <a:noFill/>
          <a:ln/>
        </p:spPr>
        <p:txBody>
          <a:bodyPr wrap="square" lIns="0" tIns="0" rIns="0" bIns="0" rtlCol="0" anchor="t"/>
          <a:lstStyle/>
          <a:p>
            <a:pPr marL="0" indent="0">
              <a:buNone/>
            </a:pPr>
            <a:r>
              <a:rPr lang="en-US" sz="1700" b="1" dirty="0">
                <a:solidFill>
                  <a:srgbClr val="1F2A36"/>
                </a:solidFill>
              </a:rPr>
              <a:t>사내 현황판</a:t>
            </a:r>
            <a:endParaRPr lang="en-US" sz="1700" dirty="0"/>
          </a:p>
          <a:p>
            <a:pPr marL="0" indent="0">
              <a:buNone/>
            </a:pPr>
            <a:r>
              <a:rPr lang="en-US" sz="1400" dirty="0">
                <a:solidFill>
                  <a:srgbClr val="6B7A88"/>
                </a:solidFill>
              </a:rPr>
              <a:t>납기 지연과 임박, 미출하 잔량</a:t>
            </a:r>
            <a:endParaRPr lang="en-US" sz="1700" dirty="0"/>
          </a:p>
        </p:txBody>
      </p:sp>
      <p:sp>
        <p:nvSpPr>
          <p:cNvPr id="16" name="cap2"/>
          <p:cNvSpPr/>
          <p:nvPr/>
        </p:nvSpPr>
        <p:spPr>
          <a:xfrm>
            <a:off x="8046720" y="1965960"/>
            <a:ext cx="3566160" cy="3291840"/>
          </a:xfrm>
          <a:prstGeom prst="rect">
            <a:avLst/>
          </a:prstGeom>
          <a:solidFill>
            <a:srgbClr val="F4F6F8"/>
          </a:solidFill>
          <a:ln w="9525">
            <a:solidFill>
              <a:srgbClr val="D9E2EC"/>
            </a:solidFill>
            <a:prstDash val="solid"/>
          </a:ln>
        </p:spPr>
      </p:sp>
      <p:pic>
        <p:nvPicPr>
          <p:cNvPr id="17" name="cap2-img" descr="FG 장비 투입 목록 화면 (거래처명은 A·B·C로 바꿈)"/>
          <p:cNvPicPr>
            <a:picLocks noChangeAspect="1"/>
          </p:cNvPicPr>
          <p:nvPr/>
        </p:nvPicPr>
        <p:blipFill>
          <a:blip r:embed="rId5"/>
          <a:stretch>
            <a:fillRect/>
          </a:stretch>
        </p:blipFill>
        <p:spPr>
          <a:xfrm>
            <a:off x="8381609" y="2057400"/>
            <a:ext cx="2896382" cy="3108960"/>
          </a:xfrm>
          <a:prstGeom prst="rect">
            <a:avLst/>
          </a:prstGeom>
        </p:spPr>
      </p:pic>
      <p:sp>
        <p:nvSpPr>
          <p:cNvPr id="18" name="cap2-cap"/>
          <p:cNvSpPr txBox="1"/>
          <p:nvPr/>
        </p:nvSpPr>
        <p:spPr>
          <a:xfrm>
            <a:off x="8046720" y="5349240"/>
            <a:ext cx="3566160" cy="777240"/>
          </a:xfrm>
          <a:prstGeom prst="rect">
            <a:avLst/>
          </a:prstGeom>
          <a:noFill/>
          <a:ln/>
        </p:spPr>
        <p:txBody>
          <a:bodyPr wrap="square" lIns="0" tIns="0" rIns="0" bIns="0" rtlCol="0" anchor="t"/>
          <a:lstStyle/>
          <a:p>
            <a:pPr marL="0" indent="0">
              <a:buNone/>
            </a:pPr>
            <a:r>
              <a:rPr lang="en-US" sz="1700" b="1" dirty="0">
                <a:solidFill>
                  <a:srgbClr val="1F2A36"/>
                </a:solidFill>
              </a:rPr>
              <a:t>FG 장비 투입 목록</a:t>
            </a:r>
            <a:endParaRPr lang="en-US" sz="1700" dirty="0"/>
          </a:p>
          <a:p>
            <a:pPr marL="0" indent="0">
              <a:buNone/>
            </a:pPr>
            <a:r>
              <a:rPr lang="en-US" sz="1400" dirty="0">
                <a:solidFill>
                  <a:srgbClr val="6B7A88"/>
                </a:solidFill>
              </a:rPr>
              <a:t>납기순으로 같은 형상끼리 묶음</a:t>
            </a:r>
            <a:endParaRPr lang="en-US" sz="1700" dirty="0"/>
          </a:p>
        </p:txBody>
      </p:sp>
      <p:sp>
        <p:nvSpPr>
          <p:cNvPr id="19" name="footnote"/>
          <p:cNvSpPr txBox="1"/>
          <p:nvPr/>
        </p:nvSpPr>
        <p:spPr>
          <a:xfrm>
            <a:off x="548640" y="6355080"/>
            <a:ext cx="5943600" cy="320040"/>
          </a:xfrm>
          <a:prstGeom prst="rect">
            <a:avLst/>
          </a:prstGeom>
          <a:noFill/>
          <a:ln/>
        </p:spPr>
        <p:txBody>
          <a:bodyPr wrap="square" lIns="0" tIns="0" rIns="0" bIns="0" rtlCol="0" anchor="ctr"/>
          <a:lstStyle/>
          <a:p>
            <a:pPr marL="0" indent="0">
              <a:buNone/>
            </a:pPr>
            <a:r>
              <a:rPr lang="en-US" sz="1200" dirty="0">
                <a:solidFill>
                  <a:srgbClr val="6B7A88"/>
                </a:solidFill>
              </a:rPr>
              <a:t>화면: 일일보고 10-16, 현황판 10-19, 거래처명 익명  |  자료 기준일 2026-10-23</a:t>
            </a:r>
            <a:endParaRPr lang="en-US" sz="1200" dirty="0"/>
          </a:p>
        </p:txBody>
      </p:sp>
      <p:sp>
        <p:nvSpPr>
          <p:cNvPr id="21" name="Text 0"/>
          <p:cNvSpPr>
            <a:spLocks noGrp="1"/>
          </p:cNvSpPr>
          <p:nvPr>
            <p:ph type="body" idx="100"/>
          </p:nvPr>
        </p:nvSpPr>
        <p:spPr>
          <a:xfrm>
            <a:off x="548640" y="320040"/>
            <a:ext cx="8229600" cy="320040"/>
          </a:xfrm>
          <a:prstGeom prst="rect">
            <a:avLst/>
          </a:prstGeom>
          <a:noFill/>
          <a:ln/>
        </p:spPr>
        <p:txBody>
          <a:bodyPr wrap="square" lIns="0" tIns="0" rIns="0" bIns="0" rtlCol="0"/>
          <a:lstStyle/>
          <a:p>
            <a:pPr marL="0" indent="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3"/>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marL="0" indent="0" algn="ctr">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marL="0" indent="0" algn="ctr">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solidFill>
            <a:srgbClr val="EAF4F5"/>
          </a:solidFill>
          <a:ln/>
        </p:spPr>
        <p:txBody>
          <a:bodyPr wrap="square" lIns="0" tIns="0" rIns="0" bIns="0" rtlCol="0" anchor="ctr"/>
          <a:lstStyle/>
          <a:p>
            <a:pPr marL="0" indent="0" algn="ctr">
              <a:buNone/>
            </a:pPr>
            <a:r>
              <a:rPr lang="en-US" sz="1400" b="1" dirty="0">
                <a:solidFill>
                  <a:srgbClr val="0E7C86"/>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marL="0" indent="0" algn="ctr">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marL="0" indent="0" algn="ctr">
              <a:buNone/>
            </a:pPr>
            <a:r>
              <a:rPr lang="en-US" sz="1400" dirty="0">
                <a:solidFill>
                  <a:srgbClr val="6B7A88"/>
                </a:solidFill>
              </a:rPr>
              <a:t>5 한계와 과제</a:t>
            </a:r>
            <a:endParaRPr lang="en-US" sz="1400" dirty="0"/>
          </a:p>
        </p:txBody>
      </p:sp>
      <p:sp>
        <p:nvSpPr>
          <p:cNvPr id="7" name="Text 0"/>
          <p:cNvSpPr>
            <a:spLocks noGrp="1"/>
          </p:cNvSpPr>
          <p:nvPr>
            <p:ph type="title" idx="101"/>
          </p:nvPr>
        </p:nvSpPr>
        <p:spPr>
          <a:xfrm>
            <a:off x="548640" y="621792"/>
            <a:ext cx="11064240" cy="658368"/>
          </a:xfrm>
          <a:prstGeom prst="rect">
            <a:avLst/>
          </a:prstGeom>
          <a:noFill/>
          <a:ln/>
        </p:spPr>
        <p:txBody>
          <a:bodyPr wrap="square" lIns="0" tIns="0" rIns="0" bIns="0" rtlCol="0" anchor="ctr"/>
          <a:lstStyle/>
          <a:p>
            <a:pPr marL="0" indent="0" algn="l">
              <a:buNone/>
            </a:pPr>
            <a:r>
              <a:rPr lang="en-US" sz="3600" b="1" dirty="0">
                <a:solidFill>
                  <a:schemeClr val="tx1"/>
                </a:solidFill>
              </a:rPr>
              <a:t>자동화 </a:t>
            </a:r>
            <a:r>
              <a:rPr lang="en-US" sz="3600" b="1" dirty="0" err="1">
                <a:solidFill>
                  <a:schemeClr val="tx1"/>
                </a:solidFill>
              </a:rPr>
              <a:t>시스템</a:t>
            </a:r>
            <a:r>
              <a:rPr lang="en-US" sz="3600" b="1" dirty="0">
                <a:solidFill>
                  <a:schemeClr val="tx1"/>
                </a:solidFill>
              </a:rPr>
              <a:t> </a:t>
            </a:r>
            <a:r>
              <a:rPr lang="en-US" sz="3600" b="1" dirty="0" err="1" smtClean="0">
                <a:solidFill>
                  <a:schemeClr val="tx1"/>
                </a:solidFill>
              </a:rPr>
              <a:t>질의응답</a:t>
            </a:r>
            <a:endParaRPr lang="en-US" sz="3600" dirty="0"/>
          </a:p>
        </p:txBody>
      </p:sp>
      <p:sp>
        <p:nvSpPr>
          <p:cNvPr id="8" name="Text 0"/>
          <p:cNvSpPr>
            <a:spLocks noGrp="1"/>
          </p:cNvSpPr>
          <p:nvPr>
            <p:ph type="body" idx="102"/>
          </p:nvPr>
        </p:nvSpPr>
        <p:spPr>
          <a:xfrm>
            <a:off x="548640" y="1325880"/>
            <a:ext cx="11064240" cy="411480"/>
          </a:xfrm>
          <a:prstGeom prst="rect">
            <a:avLst/>
          </a:prstGeom>
          <a:noFill/>
          <a:ln/>
        </p:spPr>
        <p:txBody>
          <a:bodyPr wrap="square" lIns="0" tIns="0" rIns="0" bIns="0" rtlCol="0" anchor="ctr"/>
          <a:lstStyle/>
          <a:p>
            <a:pPr marL="0" indent="0" algn="l">
              <a:buNone/>
            </a:pPr>
            <a:r>
              <a:rPr lang="en-US" sz="2000" b="1" dirty="0">
                <a:solidFill>
                  <a:schemeClr val="accent1"/>
                </a:solidFill>
              </a:rPr>
              <a:t>▶ 기록에 없는 내용은 「확인 </a:t>
            </a:r>
            <a:r>
              <a:rPr lang="en-US" sz="2000" b="1" dirty="0" err="1">
                <a:solidFill>
                  <a:schemeClr val="accent1"/>
                </a:solidFill>
              </a:rPr>
              <a:t>필요」로</a:t>
            </a:r>
            <a:r>
              <a:rPr lang="en-US" sz="2000" b="1" dirty="0">
                <a:solidFill>
                  <a:schemeClr val="accent1"/>
                </a:solidFill>
              </a:rPr>
              <a:t> </a:t>
            </a:r>
            <a:r>
              <a:rPr lang="en-US" sz="2000" b="1" dirty="0" err="1" smtClean="0">
                <a:solidFill>
                  <a:schemeClr val="accent1"/>
                </a:solidFill>
              </a:rPr>
              <a:t>표시</a:t>
            </a:r>
            <a:r>
              <a:rPr lang="en-US" sz="2000" b="1" dirty="0" smtClean="0">
                <a:solidFill>
                  <a:schemeClr val="accent1"/>
                </a:solidFill>
              </a:rPr>
              <a:t>_</a:t>
            </a:r>
            <a:r>
              <a:rPr lang="ko-KR" altLang="en-US" dirty="0" smtClean="0"/>
              <a:t>이 페이지가 필요한지 </a:t>
            </a:r>
            <a:r>
              <a:rPr lang="en-US" altLang="ko-KR" dirty="0" smtClean="0"/>
              <a:t>??? </a:t>
            </a:r>
            <a:r>
              <a:rPr lang="en-US" sz="2000" b="1" dirty="0" smtClean="0">
                <a:solidFill>
                  <a:schemeClr val="accent1"/>
                </a:solidFill>
              </a:rPr>
              <a:t> </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sp>
        <p:nvSpPr>
          <p:cNvPr id="10" name="qa0-tag"/>
          <p:cNvSpPr txBox="1"/>
          <p:nvPr/>
        </p:nvSpPr>
        <p:spPr>
          <a:xfrm>
            <a:off x="548640" y="1965960"/>
            <a:ext cx="1371600" cy="329184"/>
          </a:xfrm>
          <a:prstGeom prst="rect">
            <a:avLst/>
          </a:prstGeom>
          <a:solidFill>
            <a:srgbClr val="0E7C86"/>
          </a:solidFill>
          <a:ln/>
        </p:spPr>
        <p:txBody>
          <a:bodyPr wrap="square" lIns="0" tIns="0" rIns="0" bIns="0" rtlCol="0" anchor="ctr"/>
          <a:lstStyle/>
          <a:p>
            <a:pPr marL="0" indent="0" algn="ctr">
              <a:buNone/>
            </a:pPr>
            <a:r>
              <a:rPr lang="en-US" sz="1400" b="1" dirty="0">
                <a:solidFill>
                  <a:srgbClr val="FFFFFF"/>
                </a:solidFill>
              </a:rPr>
              <a:t>장비 이력</a:t>
            </a:r>
            <a:endParaRPr lang="en-US" sz="1400" dirty="0"/>
          </a:p>
        </p:txBody>
      </p:sp>
      <p:sp>
        <p:nvSpPr>
          <p:cNvPr id="11" name="qa0-q"/>
          <p:cNvSpPr/>
          <p:nvPr/>
        </p:nvSpPr>
        <p:spPr>
          <a:xfrm>
            <a:off x="548640" y="2377440"/>
            <a:ext cx="5440680" cy="777240"/>
          </a:xfrm>
          <a:prstGeom prst="rect">
            <a:avLst/>
          </a:prstGeom>
          <a:solidFill>
            <a:srgbClr val="1F2A36"/>
          </a:solidFill>
          <a:ln w="9525">
            <a:solidFill>
              <a:srgbClr val="1F2A36"/>
            </a:solidFill>
            <a:prstDash val="solid"/>
          </a:ln>
        </p:spPr>
      </p:sp>
      <p:sp>
        <p:nvSpPr>
          <p:cNvPr id="12" name="qa0-qt"/>
          <p:cNvSpPr txBox="1"/>
          <p:nvPr/>
        </p:nvSpPr>
        <p:spPr>
          <a:xfrm>
            <a:off x="731520" y="2377440"/>
            <a:ext cx="5074920" cy="777240"/>
          </a:xfrm>
          <a:prstGeom prst="rect">
            <a:avLst/>
          </a:prstGeom>
          <a:noFill/>
          <a:ln/>
        </p:spPr>
        <p:txBody>
          <a:bodyPr wrap="square" lIns="0" tIns="0" rIns="0" bIns="0" rtlCol="0" anchor="ctr"/>
          <a:lstStyle/>
          <a:p>
            <a:pPr marL="0" indent="0">
              <a:buNone/>
            </a:pPr>
            <a:r>
              <a:rPr lang="en-US" sz="1800" b="1" dirty="0">
                <a:solidFill>
                  <a:srgbClr val="FFFFFF"/>
                </a:solidFill>
              </a:rPr>
              <a:t>「GX7 로더는 왜 못 썼고, 언제 다시 썼나?」</a:t>
            </a:r>
            <a:endParaRPr lang="en-US" sz="1800" dirty="0"/>
          </a:p>
        </p:txBody>
      </p:sp>
      <p:sp>
        <p:nvSpPr>
          <p:cNvPr id="13" name="qa0-a"/>
          <p:cNvSpPr/>
          <p:nvPr/>
        </p:nvSpPr>
        <p:spPr>
          <a:xfrm>
            <a:off x="548640" y="3246120"/>
            <a:ext cx="5440680" cy="2148840"/>
          </a:xfrm>
          <a:prstGeom prst="rect">
            <a:avLst/>
          </a:prstGeom>
          <a:solidFill>
            <a:srgbClr val="F4F6F8"/>
          </a:solidFill>
          <a:ln w="9525">
            <a:solidFill>
              <a:srgbClr val="D9E2EC"/>
            </a:solidFill>
            <a:prstDash val="solid"/>
          </a:ln>
        </p:spPr>
      </p:sp>
      <p:sp>
        <p:nvSpPr>
          <p:cNvPr id="14" name="qa0-at"/>
          <p:cNvSpPr txBox="1"/>
          <p:nvPr/>
        </p:nvSpPr>
        <p:spPr>
          <a:xfrm>
            <a:off x="731520" y="3383280"/>
            <a:ext cx="5074920" cy="16002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C3E50"/>
                </a:solidFill>
              </a:rPr>
              <a:t>08-13 외부 점검에서 실린더 이상 발견해 로더 사용 금지</a:t>
            </a:r>
            <a:endParaRPr lang="en-US" sz="1700" dirty="0"/>
          </a:p>
          <a:p>
            <a:pPr marL="342900" indent="-342900">
              <a:spcAft>
                <a:spcPts val="800"/>
              </a:spcAft>
              <a:buSzPct val="100000"/>
              <a:buChar char="•"/>
            </a:pPr>
            <a:r>
              <a:rPr lang="en-US" sz="1700" dirty="0">
                <a:solidFill>
                  <a:srgbClr val="2C3E50"/>
                </a:solidFill>
              </a:rPr>
              <a:t>08-14 부품 발주 후 10-12 교체 수리 완료</a:t>
            </a:r>
            <a:endParaRPr lang="en-US" sz="1700" dirty="0"/>
          </a:p>
          <a:p>
            <a:pPr marL="342900" indent="-342900">
              <a:spcAft>
                <a:spcPts val="800"/>
              </a:spcAft>
              <a:buSzPct val="100000"/>
              <a:buChar char="•"/>
            </a:pPr>
            <a:r>
              <a:rPr lang="en-US" sz="1700" dirty="0">
                <a:solidFill>
                  <a:srgbClr val="2C3E50"/>
                </a:solidFill>
              </a:rPr>
              <a:t>10-13 생산 재개 (고장 원인은 「확인 필요」)</a:t>
            </a:r>
            <a:endParaRPr lang="en-US" sz="1700" dirty="0"/>
          </a:p>
        </p:txBody>
      </p:sp>
      <p:sp>
        <p:nvSpPr>
          <p:cNvPr id="15" name="qa0-src"/>
          <p:cNvSpPr txBox="1"/>
          <p:nvPr/>
        </p:nvSpPr>
        <p:spPr>
          <a:xfrm>
            <a:off x="731520" y="4983480"/>
            <a:ext cx="5074920" cy="320040"/>
          </a:xfrm>
          <a:prstGeom prst="rect">
            <a:avLst/>
          </a:prstGeom>
          <a:noFill/>
          <a:ln/>
        </p:spPr>
        <p:txBody>
          <a:bodyPr wrap="square" lIns="0" tIns="0" rIns="0" bIns="0" rtlCol="0" anchor="ctr"/>
          <a:lstStyle/>
          <a:p>
            <a:pPr marL="0" indent="0">
              <a:buNone/>
            </a:pPr>
            <a:r>
              <a:rPr lang="en-US" sz="1300" dirty="0">
                <a:solidFill>
                  <a:srgbClr val="6B7A88"/>
                </a:solidFill>
              </a:rPr>
              <a:t>근거: 수리 이력 페이지, 10월 생산일지(10-12 「수리 중」)</a:t>
            </a:r>
            <a:endParaRPr lang="en-US" sz="1300" dirty="0"/>
          </a:p>
        </p:txBody>
      </p:sp>
      <p:sp>
        <p:nvSpPr>
          <p:cNvPr id="16" name="qa1-tag"/>
          <p:cNvSpPr txBox="1"/>
          <p:nvPr/>
        </p:nvSpPr>
        <p:spPr>
          <a:xfrm>
            <a:off x="6172200" y="1965960"/>
            <a:ext cx="1371600" cy="329184"/>
          </a:xfrm>
          <a:prstGeom prst="rect">
            <a:avLst/>
          </a:prstGeom>
          <a:solidFill>
            <a:srgbClr val="0E7C86"/>
          </a:solidFill>
          <a:ln/>
        </p:spPr>
        <p:txBody>
          <a:bodyPr wrap="square" lIns="0" tIns="0" rIns="0" bIns="0" rtlCol="0" anchor="ctr"/>
          <a:lstStyle/>
          <a:p>
            <a:pPr marL="0" indent="0" algn="ctr">
              <a:buNone/>
            </a:pPr>
            <a:r>
              <a:rPr lang="en-US" sz="1400" b="1" dirty="0">
                <a:solidFill>
                  <a:srgbClr val="FFFFFF"/>
                </a:solidFill>
              </a:rPr>
              <a:t>연삭 조건</a:t>
            </a:r>
            <a:endParaRPr lang="en-US" sz="1400" dirty="0"/>
          </a:p>
        </p:txBody>
      </p:sp>
      <p:sp>
        <p:nvSpPr>
          <p:cNvPr id="17" name="qa1-q"/>
          <p:cNvSpPr/>
          <p:nvPr/>
        </p:nvSpPr>
        <p:spPr>
          <a:xfrm>
            <a:off x="6172200" y="2377440"/>
            <a:ext cx="5440680" cy="777240"/>
          </a:xfrm>
          <a:prstGeom prst="rect">
            <a:avLst/>
          </a:prstGeom>
          <a:solidFill>
            <a:srgbClr val="1F2A36"/>
          </a:solidFill>
          <a:ln w="9525">
            <a:solidFill>
              <a:srgbClr val="1F2A36"/>
            </a:solidFill>
            <a:prstDash val="solid"/>
          </a:ln>
        </p:spPr>
      </p:sp>
      <p:sp>
        <p:nvSpPr>
          <p:cNvPr id="18" name="qa1-qt"/>
          <p:cNvSpPr txBox="1"/>
          <p:nvPr/>
        </p:nvSpPr>
        <p:spPr>
          <a:xfrm>
            <a:off x="6355080" y="2377440"/>
            <a:ext cx="5074920" cy="777240"/>
          </a:xfrm>
          <a:prstGeom prst="rect">
            <a:avLst/>
          </a:prstGeom>
          <a:noFill/>
          <a:ln/>
        </p:spPr>
        <p:txBody>
          <a:bodyPr wrap="square" lIns="0" tIns="0" rIns="0" bIns="0" rtlCol="0" anchor="ctr"/>
          <a:lstStyle/>
          <a:p>
            <a:pPr marL="0" indent="0">
              <a:buNone/>
            </a:pPr>
            <a:r>
              <a:rPr lang="en-US" sz="1800" b="1" dirty="0">
                <a:solidFill>
                  <a:srgbClr val="FFFFFF"/>
                </a:solidFill>
              </a:rPr>
              <a:t>「Ø125 휠로 19 m/s를 내려면 몇 rpm?」</a:t>
            </a:r>
            <a:endParaRPr lang="en-US" sz="1800" dirty="0"/>
          </a:p>
        </p:txBody>
      </p:sp>
      <p:sp>
        <p:nvSpPr>
          <p:cNvPr id="19" name="qa1-a"/>
          <p:cNvSpPr/>
          <p:nvPr/>
        </p:nvSpPr>
        <p:spPr>
          <a:xfrm>
            <a:off x="6172200" y="3246120"/>
            <a:ext cx="5440680" cy="2148840"/>
          </a:xfrm>
          <a:prstGeom prst="rect">
            <a:avLst/>
          </a:prstGeom>
          <a:solidFill>
            <a:srgbClr val="F4F6F8"/>
          </a:solidFill>
          <a:ln w="9525">
            <a:solidFill>
              <a:srgbClr val="D9E2EC"/>
            </a:solidFill>
            <a:prstDash val="solid"/>
          </a:ln>
        </p:spPr>
      </p:sp>
      <p:sp>
        <p:nvSpPr>
          <p:cNvPr id="20" name="qa1-at"/>
          <p:cNvSpPr txBox="1"/>
          <p:nvPr/>
        </p:nvSpPr>
        <p:spPr>
          <a:xfrm>
            <a:off x="6355080" y="3383280"/>
            <a:ext cx="5074920" cy="160020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2C3E50"/>
                </a:solidFill>
              </a:rPr>
              <a:t>N = 60,000 × 19 ÷ (π × 125) ≈ 2,903 rpm</a:t>
            </a:r>
            <a:endParaRPr lang="en-US" sz="1700" dirty="0"/>
          </a:p>
          <a:p>
            <a:pPr marL="342900" indent="-342900">
              <a:spcAft>
                <a:spcPts val="800"/>
              </a:spcAft>
              <a:buSzPct val="100000"/>
              <a:buChar char="•"/>
            </a:pPr>
            <a:r>
              <a:rPr lang="en-US" sz="1700" dirty="0">
                <a:solidFill>
                  <a:srgbClr val="2C3E50"/>
                </a:solidFill>
              </a:rPr>
              <a:t>사내 실사용 2,600 ~ 3,000 rpm 범위 안</a:t>
            </a:r>
            <a:endParaRPr lang="en-US" sz="1700" dirty="0"/>
          </a:p>
          <a:p>
            <a:pPr marL="342900" indent="-342900">
              <a:spcAft>
                <a:spcPts val="800"/>
              </a:spcAft>
              <a:buSzPct val="100000"/>
              <a:buChar char="•"/>
            </a:pPr>
            <a:r>
              <a:rPr lang="en-US" sz="1700" dirty="0">
                <a:solidFill>
                  <a:srgbClr val="2C3E50"/>
                </a:solidFill>
              </a:rPr>
              <a:t>제조사 ANCA 적용 사례 18 ~ 22 m/s</a:t>
            </a:r>
            <a:endParaRPr lang="en-US" sz="1700" dirty="0"/>
          </a:p>
        </p:txBody>
      </p:sp>
      <p:sp>
        <p:nvSpPr>
          <p:cNvPr id="21" name="qa1-src"/>
          <p:cNvSpPr txBox="1"/>
          <p:nvPr/>
        </p:nvSpPr>
        <p:spPr>
          <a:xfrm>
            <a:off x="6355080" y="4983480"/>
            <a:ext cx="5074920" cy="320040"/>
          </a:xfrm>
          <a:prstGeom prst="rect">
            <a:avLst/>
          </a:prstGeom>
          <a:noFill/>
          <a:ln/>
        </p:spPr>
        <p:txBody>
          <a:bodyPr wrap="square" lIns="0" tIns="0" rIns="0" bIns="0" rtlCol="0" anchor="ctr"/>
          <a:lstStyle/>
          <a:p>
            <a:pPr marL="0" indent="0">
              <a:buNone/>
            </a:pPr>
            <a:r>
              <a:rPr lang="en-US" sz="1300" dirty="0">
                <a:solidFill>
                  <a:srgbClr val="6B7A88"/>
                </a:solidFill>
              </a:rPr>
              <a:t>근거: 휠 기준 페이지, 제조사 자료 3종, 사내 상한 25 m/s</a:t>
            </a:r>
            <a:endParaRPr lang="en-US" sz="1300" dirty="0"/>
          </a:p>
        </p:txBody>
      </p:sp>
      <p:sp>
        <p:nvSpPr>
          <p:cNvPr id="22" name="qa-limit"/>
          <p:cNvSpPr/>
          <p:nvPr/>
        </p:nvSpPr>
        <p:spPr>
          <a:xfrm>
            <a:off x="548640" y="5532120"/>
            <a:ext cx="11064240" cy="548640"/>
          </a:xfrm>
          <a:prstGeom prst="rect">
            <a:avLst/>
          </a:prstGeom>
          <a:solidFill>
            <a:srgbClr val="EAF4F5"/>
          </a:solidFill>
          <a:ln w="9525">
            <a:solidFill>
              <a:srgbClr val="D9E2EC"/>
            </a:solidFill>
            <a:prstDash val="solid"/>
          </a:ln>
        </p:spPr>
      </p:sp>
      <p:sp>
        <p:nvSpPr>
          <p:cNvPr id="23" name="qa-limit-t"/>
          <p:cNvSpPr txBox="1"/>
          <p:nvPr/>
        </p:nvSpPr>
        <p:spPr>
          <a:xfrm>
            <a:off x="731520" y="5532120"/>
            <a:ext cx="10698480" cy="548640"/>
          </a:xfrm>
          <a:prstGeom prst="rect">
            <a:avLst/>
          </a:prstGeom>
          <a:noFill/>
          <a:ln/>
        </p:spPr>
        <p:txBody>
          <a:bodyPr wrap="square" lIns="0" tIns="0" rIns="0" bIns="0" rtlCol="0" anchor="ctr"/>
          <a:lstStyle/>
          <a:p>
            <a:pPr marL="0" indent="0">
              <a:buNone/>
            </a:pPr>
            <a:r>
              <a:rPr lang="en-US" sz="1700" dirty="0">
                <a:solidFill>
                  <a:srgbClr val="1F2A36"/>
                </a:solidFill>
              </a:rPr>
              <a:t>조건 답변은 iGrind 입력 전 검산용이며 확정은 현장 시험으로</a:t>
            </a:r>
            <a:endParaRPr lang="en-US" sz="1700" dirty="0"/>
          </a:p>
        </p:txBody>
      </p:sp>
      <p:sp>
        <p:nvSpPr>
          <p:cNvPr id="24" name="footnote"/>
          <p:cNvSpPr txBox="1"/>
          <p:nvPr/>
        </p:nvSpPr>
        <p:spPr>
          <a:xfrm>
            <a:off x="548640" y="6355080"/>
            <a:ext cx="5943600" cy="320040"/>
          </a:xfrm>
          <a:prstGeom prst="rect">
            <a:avLst/>
          </a:prstGeom>
          <a:noFill/>
          <a:ln/>
        </p:spPr>
        <p:txBody>
          <a:bodyPr wrap="square" lIns="0" tIns="0" rIns="0" bIns="0" rtlCol="0" anchor="ctr"/>
          <a:lstStyle/>
          <a:p>
            <a:pPr marL="0" indent="0">
              <a:buNone/>
            </a:pPr>
            <a:r>
              <a:rPr lang="en-US" sz="1200" dirty="0">
                <a:solidFill>
                  <a:srgbClr val="6B7A88"/>
                </a:solidFill>
              </a:rPr>
              <a:t>10-19에 실제로 물은 질문과 답을 줄여 옮김</a:t>
            </a:r>
            <a:endParaRPr lang="en-US" sz="1200" dirty="0"/>
          </a:p>
        </p:txBody>
      </p:sp>
      <p:sp>
        <p:nvSpPr>
          <p:cNvPr id="26" name="Text 0"/>
          <p:cNvSpPr>
            <a:spLocks noGrp="1"/>
          </p:cNvSpPr>
          <p:nvPr>
            <p:ph type="body" idx="100"/>
          </p:nvPr>
        </p:nvSpPr>
        <p:spPr>
          <a:xfrm>
            <a:off x="548640" y="320040"/>
            <a:ext cx="8229600" cy="320040"/>
          </a:xfrm>
          <a:prstGeom prst="rect">
            <a:avLst/>
          </a:prstGeom>
          <a:noFill/>
          <a:ln/>
        </p:spPr>
        <p:txBody>
          <a:bodyPr wrap="square" lIns="0" tIns="0" rIns="0" bIns="0" rtlCol="0"/>
          <a:lstStyle/>
          <a:p>
            <a:pPr marL="0" indent="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3"/>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marL="0" indent="0" algn="ctr">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marL="0" indent="0" algn="ctr">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marL="0" indent="0" algn="ctr">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solidFill>
            <a:srgbClr val="EAF4F5"/>
          </a:solidFill>
          <a:ln/>
        </p:spPr>
        <p:txBody>
          <a:bodyPr wrap="square" lIns="0" tIns="0" rIns="0" bIns="0" rtlCol="0" anchor="ctr"/>
          <a:lstStyle/>
          <a:p>
            <a:pPr marL="0" indent="0" algn="ctr">
              <a:buNone/>
            </a:pPr>
            <a:r>
              <a:rPr lang="en-US" sz="1400" b="1" dirty="0">
                <a:solidFill>
                  <a:srgbClr val="0E7C86"/>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marL="0" indent="0" algn="ctr">
              <a:buNone/>
            </a:pPr>
            <a:r>
              <a:rPr lang="en-US" sz="1400" dirty="0">
                <a:solidFill>
                  <a:srgbClr val="6B7A88"/>
                </a:solidFill>
              </a:rPr>
              <a:t>5 한계와 과제</a:t>
            </a:r>
            <a:endParaRPr lang="en-US" sz="1400" dirty="0"/>
          </a:p>
        </p:txBody>
      </p:sp>
      <p:sp>
        <p:nvSpPr>
          <p:cNvPr id="7" name="Text 0"/>
          <p:cNvSpPr>
            <a:spLocks noGrp="1"/>
          </p:cNvSpPr>
          <p:nvPr>
            <p:ph type="title" idx="101"/>
          </p:nvPr>
        </p:nvSpPr>
        <p:spPr>
          <a:xfrm>
            <a:off x="548640" y="621792"/>
            <a:ext cx="11064240" cy="658368"/>
          </a:xfrm>
          <a:prstGeom prst="rect">
            <a:avLst/>
          </a:prstGeom>
          <a:noFill/>
          <a:ln/>
        </p:spPr>
        <p:txBody>
          <a:bodyPr wrap="square" lIns="0" tIns="0" rIns="0" bIns="0" rtlCol="0" anchor="ctr"/>
          <a:lstStyle/>
          <a:p>
            <a:pPr marL="0" indent="0" algn="l">
              <a:buNone/>
            </a:pPr>
            <a:r>
              <a:rPr lang="en-US" sz="3600" b="1" dirty="0">
                <a:solidFill>
                  <a:schemeClr val="tx1"/>
                </a:solidFill>
              </a:rPr>
              <a:t>업무 적용 전후 </a:t>
            </a:r>
            <a:r>
              <a:rPr lang="en-US" sz="3600" b="1" dirty="0" err="1">
                <a:solidFill>
                  <a:schemeClr val="tx1"/>
                </a:solidFill>
              </a:rPr>
              <a:t>비교</a:t>
            </a:r>
            <a:r>
              <a:rPr lang="en-US" sz="3600" b="1" dirty="0">
                <a:solidFill>
                  <a:schemeClr val="tx1"/>
                </a:solidFill>
              </a:rPr>
              <a:t> </a:t>
            </a:r>
            <a:r>
              <a:rPr lang="en-US" sz="3600" b="1" dirty="0" smtClean="0">
                <a:solidFill>
                  <a:schemeClr val="tx1"/>
                </a:solidFill>
              </a:rPr>
              <a:t>_</a:t>
            </a:r>
            <a:r>
              <a:rPr lang="en-US" sz="3600" b="1" dirty="0" err="1" smtClean="0">
                <a:solidFill>
                  <a:schemeClr val="tx1"/>
                </a:solidFill>
              </a:rPr>
              <a:t>일일보고</a:t>
            </a:r>
            <a:endParaRPr lang="en-US" sz="3600" dirty="0"/>
          </a:p>
        </p:txBody>
      </p:sp>
      <p:sp>
        <p:nvSpPr>
          <p:cNvPr id="8" name="Text 0"/>
          <p:cNvSpPr>
            <a:spLocks noGrp="1"/>
          </p:cNvSpPr>
          <p:nvPr>
            <p:ph type="body" idx="102"/>
          </p:nvPr>
        </p:nvSpPr>
        <p:spPr>
          <a:xfrm>
            <a:off x="548640" y="1325880"/>
            <a:ext cx="11064240" cy="411480"/>
          </a:xfrm>
          <a:prstGeom prst="rect">
            <a:avLst/>
          </a:prstGeom>
          <a:noFill/>
          <a:ln/>
        </p:spPr>
        <p:txBody>
          <a:bodyPr wrap="square" lIns="0" tIns="0" rIns="0" bIns="0" rtlCol="0" anchor="ctr"/>
          <a:lstStyle/>
          <a:p>
            <a:pPr marL="0" indent="0" algn="l">
              <a:buNone/>
            </a:pPr>
            <a:r>
              <a:rPr lang="en-US" sz="2000" b="1" dirty="0">
                <a:solidFill>
                  <a:schemeClr val="accent1"/>
                </a:solidFill>
              </a:rPr>
              <a:t>▶ 최근 20영업일 동안 20건 모두 자동 생성</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graphicFrame>
        <p:nvGraphicFramePr>
          <p:cNvPr id="10" name="daily-chart"/>
          <p:cNvGraphicFramePr/>
          <p:nvPr/>
        </p:nvGraphicFramePr>
        <p:xfrm>
          <a:off x="548640" y="1920240"/>
          <a:ext cx="685800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11" name="ba-panel"/>
          <p:cNvSpPr/>
          <p:nvPr/>
        </p:nvSpPr>
        <p:spPr>
          <a:xfrm>
            <a:off x="7680960" y="1920240"/>
            <a:ext cx="3931920" cy="4206240"/>
          </a:xfrm>
          <a:prstGeom prst="rect">
            <a:avLst/>
          </a:prstGeom>
          <a:solidFill>
            <a:srgbClr val="F4F6F8"/>
          </a:solidFill>
          <a:ln w="9525">
            <a:solidFill>
              <a:srgbClr val="D9E2EC"/>
            </a:solidFill>
            <a:prstDash val="solid"/>
          </a:ln>
        </p:spPr>
      </p:sp>
      <p:sp>
        <p:nvSpPr>
          <p:cNvPr id="12" name="ba0-h"/>
          <p:cNvSpPr txBox="1"/>
          <p:nvPr/>
        </p:nvSpPr>
        <p:spPr>
          <a:xfrm>
            <a:off x="7909560" y="2103120"/>
            <a:ext cx="3474720" cy="329184"/>
          </a:xfrm>
          <a:prstGeom prst="rect">
            <a:avLst/>
          </a:prstGeom>
          <a:noFill/>
          <a:ln/>
        </p:spPr>
        <p:txBody>
          <a:bodyPr wrap="square" lIns="0" tIns="0" rIns="0" bIns="0" rtlCol="0" anchor="ctr"/>
          <a:lstStyle/>
          <a:p>
            <a:r>
              <a:rPr lang="en-US" altLang="ko-KR" sz="1500" b="1" dirty="0" smtClean="0">
                <a:solidFill>
                  <a:srgbClr val="0E7C86"/>
                </a:solidFill>
              </a:rPr>
              <a:t>- </a:t>
            </a:r>
            <a:r>
              <a:rPr lang="en-US" altLang="ko-KR" sz="1500" b="1" dirty="0" err="1" smtClean="0">
                <a:solidFill>
                  <a:srgbClr val="0E7C86"/>
                </a:solidFill>
              </a:rPr>
              <a:t>적용</a:t>
            </a:r>
            <a:r>
              <a:rPr lang="en-US" altLang="ko-KR" sz="1500" b="1" dirty="0" smtClean="0">
                <a:solidFill>
                  <a:srgbClr val="0E7C86"/>
                </a:solidFill>
              </a:rPr>
              <a:t> </a:t>
            </a:r>
            <a:r>
              <a:rPr lang="ko-KR" altLang="en-US" sz="1500" b="1" dirty="0" smtClean="0">
                <a:solidFill>
                  <a:srgbClr val="0E7C86"/>
                </a:solidFill>
              </a:rPr>
              <a:t>전</a:t>
            </a:r>
            <a:endParaRPr lang="en-US" altLang="ko-KR" sz="1500" dirty="0"/>
          </a:p>
        </p:txBody>
      </p:sp>
      <p:sp>
        <p:nvSpPr>
          <p:cNvPr id="13" name="ba0-t"/>
          <p:cNvSpPr txBox="1"/>
          <p:nvPr/>
        </p:nvSpPr>
        <p:spPr>
          <a:xfrm>
            <a:off x="7909560" y="2468880"/>
            <a:ext cx="3474720" cy="777240"/>
          </a:xfrm>
          <a:prstGeom prst="rect">
            <a:avLst/>
          </a:prstGeom>
          <a:noFill/>
          <a:ln/>
        </p:spPr>
        <p:txBody>
          <a:bodyPr wrap="square" lIns="0" tIns="0" rIns="0" bIns="0" rtlCol="0" anchor="t"/>
          <a:lstStyle/>
          <a:p>
            <a:pPr marL="0" indent="0">
              <a:buNone/>
            </a:pPr>
            <a:r>
              <a:rPr lang="en-US" sz="1800" dirty="0">
                <a:solidFill>
                  <a:srgbClr val="2C3E50"/>
                </a:solidFill>
              </a:rPr>
              <a:t>담당자가 매일 엑셀로 손집계</a:t>
            </a:r>
            <a:endParaRPr lang="en-US" sz="1800" dirty="0"/>
          </a:p>
        </p:txBody>
      </p:sp>
      <p:sp>
        <p:nvSpPr>
          <p:cNvPr id="14" name="ba1-h"/>
          <p:cNvSpPr txBox="1"/>
          <p:nvPr/>
        </p:nvSpPr>
        <p:spPr>
          <a:xfrm>
            <a:off x="7909560" y="3429000"/>
            <a:ext cx="3474720" cy="329184"/>
          </a:xfrm>
          <a:prstGeom prst="rect">
            <a:avLst/>
          </a:prstGeom>
          <a:noFill/>
          <a:ln/>
        </p:spPr>
        <p:txBody>
          <a:bodyPr wrap="square" lIns="0" tIns="0" rIns="0" bIns="0" rtlCol="0" anchor="ctr"/>
          <a:lstStyle/>
          <a:p>
            <a:pPr marL="0" indent="0">
              <a:buNone/>
            </a:pPr>
            <a:r>
              <a:rPr lang="en-US" sz="1500" b="1" dirty="0" smtClean="0">
                <a:solidFill>
                  <a:srgbClr val="0E7C86"/>
                </a:solidFill>
              </a:rPr>
              <a:t>- </a:t>
            </a:r>
            <a:r>
              <a:rPr lang="en-US" sz="1500" b="1" dirty="0" err="1" smtClean="0">
                <a:solidFill>
                  <a:srgbClr val="0E7C86"/>
                </a:solidFill>
              </a:rPr>
              <a:t>적용</a:t>
            </a:r>
            <a:r>
              <a:rPr lang="en-US" sz="1500" b="1" dirty="0" smtClean="0">
                <a:solidFill>
                  <a:srgbClr val="0E7C86"/>
                </a:solidFill>
              </a:rPr>
              <a:t> </a:t>
            </a:r>
            <a:r>
              <a:rPr lang="en-US" sz="1500" b="1" dirty="0">
                <a:solidFill>
                  <a:srgbClr val="0E7C86"/>
                </a:solidFill>
              </a:rPr>
              <a:t>후</a:t>
            </a:r>
            <a:endParaRPr lang="en-US" sz="1500" dirty="0"/>
          </a:p>
        </p:txBody>
      </p:sp>
      <p:sp>
        <p:nvSpPr>
          <p:cNvPr id="15" name="ba1-t"/>
          <p:cNvSpPr txBox="1"/>
          <p:nvPr/>
        </p:nvSpPr>
        <p:spPr>
          <a:xfrm>
            <a:off x="7909560" y="3794760"/>
            <a:ext cx="3474720" cy="777240"/>
          </a:xfrm>
          <a:prstGeom prst="rect">
            <a:avLst/>
          </a:prstGeom>
          <a:noFill/>
          <a:ln/>
        </p:spPr>
        <p:txBody>
          <a:bodyPr wrap="square" lIns="0" tIns="0" rIns="0" bIns="0" rtlCol="0" anchor="t"/>
          <a:lstStyle/>
          <a:p>
            <a:pPr marL="0" indent="0">
              <a:buNone/>
            </a:pPr>
            <a:r>
              <a:rPr lang="en-US" sz="1800" dirty="0">
                <a:solidFill>
                  <a:srgbClr val="2C3E50"/>
                </a:solidFill>
              </a:rPr>
              <a:t>07:50과 16:00에 자동 생성되어 담당자는 확인만</a:t>
            </a:r>
            <a:endParaRPr lang="en-US" sz="1800" dirty="0"/>
          </a:p>
        </p:txBody>
      </p:sp>
      <p:sp>
        <p:nvSpPr>
          <p:cNvPr id="18" name="footnote"/>
          <p:cNvSpPr txBox="1"/>
          <p:nvPr/>
        </p:nvSpPr>
        <p:spPr>
          <a:xfrm>
            <a:off x="548640" y="6355080"/>
            <a:ext cx="5943600" cy="320040"/>
          </a:xfrm>
          <a:prstGeom prst="rect">
            <a:avLst/>
          </a:prstGeom>
          <a:noFill/>
          <a:ln/>
        </p:spPr>
        <p:txBody>
          <a:bodyPr wrap="square" lIns="0" tIns="0" rIns="0" bIns="0" rtlCol="0" anchor="ctr"/>
          <a:lstStyle/>
          <a:p>
            <a:pPr marL="0" indent="0">
              <a:buNone/>
            </a:pPr>
            <a:r>
              <a:rPr lang="en-US" sz="1200" dirty="0">
                <a:solidFill>
                  <a:srgbClr val="6B7A88"/>
                </a:solidFill>
              </a:rPr>
              <a:t>파일 수정 시각 실측, *10월은 23일까지  |  자료 기준일 2026-10-23</a:t>
            </a:r>
            <a:endParaRPr lang="en-US" sz="1200" dirty="0"/>
          </a:p>
        </p:txBody>
      </p:sp>
      <p:sp>
        <p:nvSpPr>
          <p:cNvPr id="20" name="Text 0"/>
          <p:cNvSpPr>
            <a:spLocks noGrp="1"/>
          </p:cNvSpPr>
          <p:nvPr>
            <p:ph type="body" idx="100"/>
          </p:nvPr>
        </p:nvSpPr>
        <p:spPr>
          <a:xfrm>
            <a:off x="548640" y="320040"/>
            <a:ext cx="8229600" cy="320040"/>
          </a:xfrm>
          <a:prstGeom prst="rect">
            <a:avLst/>
          </a:prstGeom>
          <a:noFill/>
          <a:ln/>
        </p:spPr>
        <p:txBody>
          <a:bodyPr wrap="square" lIns="0" tIns="0" rIns="0" bIns="0" rtlCol="0"/>
          <a:lstStyle/>
          <a:p>
            <a:pPr marL="0" indent="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3"/>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marL="0" indent="0" algn="ctr">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marL="0" indent="0" algn="ctr">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marL="0" indent="0" algn="ctr">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solidFill>
            <a:srgbClr val="EAF4F5"/>
          </a:solidFill>
          <a:ln/>
        </p:spPr>
        <p:txBody>
          <a:bodyPr wrap="square" lIns="0" tIns="0" rIns="0" bIns="0" rtlCol="0" anchor="ctr"/>
          <a:lstStyle/>
          <a:p>
            <a:pPr marL="0" indent="0" algn="ctr">
              <a:buNone/>
            </a:pPr>
            <a:r>
              <a:rPr lang="en-US" sz="1400" b="1" dirty="0">
                <a:solidFill>
                  <a:srgbClr val="0E7C86"/>
                </a:solidFill>
              </a:rPr>
              <a:t>4 전후 비교 ③</a:t>
            </a:r>
            <a:endParaRPr lang="en-US" sz="1400" dirty="0"/>
          </a:p>
        </p:txBody>
      </p:sp>
      <p:sp>
        <p:nvSpPr>
          <p:cNvPr id="6" name="nav4"/>
          <p:cNvSpPr txBox="1"/>
          <p:nvPr/>
        </p:nvSpPr>
        <p:spPr>
          <a:xfrm>
            <a:off x="10149840" y="201168"/>
            <a:ext cx="1389888" cy="329184"/>
          </a:xfrm>
          <a:prstGeom prst="rect">
            <a:avLst/>
          </a:prstGeom>
          <a:noFill/>
          <a:ln/>
        </p:spPr>
        <p:txBody>
          <a:bodyPr wrap="square" lIns="0" tIns="0" rIns="0" bIns="0" rtlCol="0" anchor="ctr"/>
          <a:lstStyle/>
          <a:p>
            <a:pPr marL="0" indent="0" algn="ctr">
              <a:buNone/>
            </a:pPr>
            <a:r>
              <a:rPr lang="en-US" sz="1400" dirty="0">
                <a:solidFill>
                  <a:srgbClr val="6B7A88"/>
                </a:solidFill>
              </a:rPr>
              <a:t>5 한계와 과제</a:t>
            </a:r>
            <a:endParaRPr lang="en-US" sz="1400" dirty="0"/>
          </a:p>
        </p:txBody>
      </p:sp>
      <p:sp>
        <p:nvSpPr>
          <p:cNvPr id="7" name="Text 0"/>
          <p:cNvSpPr>
            <a:spLocks noGrp="1"/>
          </p:cNvSpPr>
          <p:nvPr>
            <p:ph type="title" idx="101"/>
          </p:nvPr>
        </p:nvSpPr>
        <p:spPr>
          <a:xfrm>
            <a:off x="548640" y="621792"/>
            <a:ext cx="11064240" cy="658368"/>
          </a:xfrm>
          <a:prstGeom prst="rect">
            <a:avLst/>
          </a:prstGeom>
          <a:noFill/>
          <a:ln/>
        </p:spPr>
        <p:txBody>
          <a:bodyPr wrap="square" lIns="0" tIns="0" rIns="0" bIns="0" rtlCol="0" anchor="ctr"/>
          <a:lstStyle/>
          <a:p>
            <a:pPr marL="0" indent="0" algn="l">
              <a:buNone/>
            </a:pPr>
            <a:r>
              <a:rPr lang="en-US" sz="3600" b="1" dirty="0">
                <a:solidFill>
                  <a:schemeClr val="tx1"/>
                </a:solidFill>
              </a:rPr>
              <a:t>업무 적용 전후 </a:t>
            </a:r>
            <a:r>
              <a:rPr lang="en-US" sz="3600" b="1" dirty="0" err="1">
                <a:solidFill>
                  <a:schemeClr val="tx1"/>
                </a:solidFill>
              </a:rPr>
              <a:t>비교</a:t>
            </a:r>
            <a:r>
              <a:rPr lang="en-US" sz="3600" b="1" dirty="0">
                <a:solidFill>
                  <a:schemeClr val="tx1"/>
                </a:solidFill>
              </a:rPr>
              <a:t> </a:t>
            </a:r>
            <a:endParaRPr lang="en-US" sz="3600" dirty="0"/>
          </a:p>
        </p:txBody>
      </p:sp>
      <p:sp>
        <p:nvSpPr>
          <p:cNvPr id="8" name="Text 0"/>
          <p:cNvSpPr>
            <a:spLocks noGrp="1"/>
          </p:cNvSpPr>
          <p:nvPr>
            <p:ph type="body" idx="102"/>
          </p:nvPr>
        </p:nvSpPr>
        <p:spPr>
          <a:xfrm>
            <a:off x="548640" y="1325880"/>
            <a:ext cx="11064240" cy="411480"/>
          </a:xfrm>
          <a:prstGeom prst="rect">
            <a:avLst/>
          </a:prstGeom>
          <a:noFill/>
          <a:ln/>
        </p:spPr>
        <p:txBody>
          <a:bodyPr wrap="square" lIns="0" tIns="0" rIns="0" bIns="0" rtlCol="0" anchor="ctr"/>
          <a:lstStyle/>
          <a:p>
            <a:pPr marL="0" indent="0" algn="l">
              <a:buNone/>
            </a:pPr>
            <a:r>
              <a:rPr lang="en-US" sz="2000" b="1" dirty="0">
                <a:solidFill>
                  <a:schemeClr val="accent1"/>
                </a:solidFill>
              </a:rPr>
              <a:t>▶ 6개 항목 중 4개는 실측으로 확인</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graphicFrame>
        <p:nvGraphicFramePr>
          <p:cNvPr id="11" name="ba-table"/>
          <p:cNvGraphicFramePr>
            <a:graphicFrameLocks noGrp="1"/>
          </p:cNvGraphicFramePr>
          <p:nvPr>
            <p:extLst>
              <p:ext uri="{D42A27DB-BD31-4B8C-83A1-F6EECF244321}">
                <p14:modId xmlns:p14="http://schemas.microsoft.com/office/powerpoint/2010/main" val="2967549134"/>
              </p:ext>
            </p:extLst>
          </p:nvPr>
        </p:nvGraphicFramePr>
        <p:xfrm>
          <a:off x="548640" y="1965960"/>
          <a:ext cx="11064240" cy="4078224"/>
        </p:xfrm>
        <a:graphic>
          <a:graphicData uri="http://schemas.openxmlformats.org/drawingml/2006/table">
            <a:tbl>
              <a:tblPr/>
              <a:tblGrid>
                <a:gridCol w="2194560"/>
                <a:gridCol w="2651760"/>
                <a:gridCol w="3477191"/>
                <a:gridCol w="1552009"/>
                <a:gridCol w="1188720"/>
              </a:tblGrid>
              <a:tr h="457200">
                <a:tc>
                  <a:txBody>
                    <a:bodyPr/>
                    <a:lstStyle/>
                    <a:p>
                      <a:pPr marL="0" indent="0">
                        <a:buNone/>
                      </a:pPr>
                      <a:r>
                        <a:rPr lang="en-US" sz="1700" b="1" dirty="0">
                          <a:solidFill>
                            <a:srgbClr val="FFFFFF"/>
                          </a:solidFill>
                          <a:latin typeface="맑은 고딕" pitchFamily="34" charset="0"/>
                          <a:ea typeface="맑은 고딕" pitchFamily="34" charset="-122"/>
                          <a:cs typeface="맑은 고딕" pitchFamily="34" charset="-120"/>
                        </a:rPr>
                        <a:t>항목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marL="0" indent="0">
                        <a:buNone/>
                      </a:pPr>
                      <a:r>
                        <a:rPr lang="en-US" sz="1700" b="1" dirty="0">
                          <a:solidFill>
                            <a:srgbClr val="FFFFFF"/>
                          </a:solidFill>
                          <a:latin typeface="맑은 고딕" pitchFamily="34" charset="0"/>
                          <a:ea typeface="맑은 고딕" pitchFamily="34" charset="-122"/>
                          <a:cs typeface="맑은 고딕" pitchFamily="34" charset="-120"/>
                        </a:rPr>
                        <a:t>적용 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marL="0" indent="0">
                        <a:buNone/>
                      </a:pPr>
                      <a:r>
                        <a:rPr lang="en-US" sz="1700" b="1" dirty="0">
                          <a:solidFill>
                            <a:srgbClr val="FFFFFF"/>
                          </a:solidFill>
                          <a:latin typeface="맑은 고딕" pitchFamily="34" charset="0"/>
                          <a:ea typeface="맑은 고딕" pitchFamily="34" charset="-122"/>
                          <a:cs typeface="맑은 고딕" pitchFamily="34" charset="-120"/>
                        </a:rPr>
                        <a:t>적용 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marL="0" indent="0">
                        <a:buNone/>
                      </a:pPr>
                      <a:r>
                        <a:rPr lang="en-US" sz="1700" b="1" dirty="0">
                          <a:solidFill>
                            <a:srgbClr val="FFFFFF"/>
                          </a:solidFill>
                          <a:latin typeface="맑은 고딕" pitchFamily="34" charset="0"/>
                          <a:ea typeface="맑은 고딕" pitchFamily="34" charset="-122"/>
                          <a:cs typeface="맑은 고딕" pitchFamily="34" charset="-120"/>
                        </a:rPr>
                        <a:t>근거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marL="0" indent="0" algn="ctr">
                        <a:buNone/>
                      </a:pPr>
                      <a:r>
                        <a:rPr lang="en-US" sz="1700" b="1" dirty="0">
                          <a:solidFill>
                            <a:srgbClr val="FFFFFF"/>
                          </a:solidFill>
                          <a:latin typeface="맑은 고딕" pitchFamily="34" charset="0"/>
                          <a:ea typeface="맑은 고딕" pitchFamily="34" charset="-122"/>
                          <a:cs typeface="맑은 고딕" pitchFamily="34" charset="-120"/>
                        </a:rPr>
                        <a:t>신뢰도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603504">
                <a:tc>
                  <a:txBody>
                    <a:bodyPr/>
                    <a:lstStyle/>
                    <a:p>
                      <a:pPr marL="0" indent="0">
                        <a:buNone/>
                      </a:pPr>
                      <a:r>
                        <a:rPr lang="en-US" sz="1700" b="1" dirty="0">
                          <a:solidFill>
                            <a:srgbClr val="1F2A36"/>
                          </a:solidFill>
                          <a:latin typeface="맑은 고딕" pitchFamily="34" charset="0"/>
                          <a:ea typeface="맑은 고딕" pitchFamily="34" charset="-122"/>
                          <a:cs typeface="맑은 고딕" pitchFamily="34" charset="-120"/>
                        </a:rPr>
                        <a:t>일일보고 집계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marL="0" indent="0">
                        <a:buNone/>
                      </a:pPr>
                      <a:r>
                        <a:rPr lang="en-US" sz="1700" dirty="0">
                          <a:solidFill>
                            <a:srgbClr val="6B7A88"/>
                          </a:solidFill>
                          <a:latin typeface="맑은 고딕" pitchFamily="34" charset="0"/>
                          <a:ea typeface="맑은 고딕" pitchFamily="34" charset="-122"/>
                          <a:cs typeface="맑은 고딕" pitchFamily="34" charset="-120"/>
                        </a:rPr>
                        <a:t>매일 수작업 집계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marL="0" indent="0">
                        <a:buNone/>
                      </a:pPr>
                      <a:r>
                        <a:rPr lang="en-US" sz="1700" b="1" dirty="0">
                          <a:solidFill>
                            <a:srgbClr val="0E7C86"/>
                          </a:solidFill>
                          <a:latin typeface="맑은 고딕" pitchFamily="34" charset="0"/>
                          <a:ea typeface="맑은 고딕" pitchFamily="34" charset="-122"/>
                          <a:cs typeface="맑은 고딕" pitchFamily="34" charset="-120"/>
                        </a:rPr>
                        <a:t>자동 생성 18 / 18 영업일</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marL="0" indent="0">
                        <a:buNone/>
                      </a:pPr>
                      <a:r>
                        <a:rPr lang="en-US" sz="1400" dirty="0">
                          <a:solidFill>
                            <a:srgbClr val="6B7A88"/>
                          </a:solidFill>
                          <a:latin typeface="맑은 고딕" pitchFamily="34" charset="0"/>
                          <a:ea typeface="맑은 고딕" pitchFamily="34" charset="-122"/>
                          <a:cs typeface="맑은 고딕" pitchFamily="34" charset="-120"/>
                        </a:rPr>
                        <a:t>성적표 10-07</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c>
                  <a:txBody>
                    <a:bodyPr/>
                    <a:lstStyle/>
                    <a:p>
                      <a:pPr marL="0" indent="0" algn="ctr">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EAF4F5"/>
                    </a:solidFill>
                  </a:tcPr>
                </a:tc>
              </a:tr>
              <a:tr h="603504">
                <a:tc>
                  <a:txBody>
                    <a:bodyPr/>
                    <a:lstStyle/>
                    <a:p>
                      <a:pPr marL="0" indent="0">
                        <a:buNone/>
                      </a:pPr>
                      <a:r>
                        <a:rPr lang="en-US" sz="1700" b="1" dirty="0">
                          <a:solidFill>
                            <a:srgbClr val="1F2A36"/>
                          </a:solidFill>
                          <a:latin typeface="맑은 고딕" pitchFamily="34" charset="0"/>
                          <a:ea typeface="맑은 고딕" pitchFamily="34" charset="-122"/>
                          <a:cs typeface="맑은 고딕" pitchFamily="34" charset="-120"/>
                        </a:rPr>
                        <a:t>집계와 판단 소요</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700" dirty="0">
                          <a:solidFill>
                            <a:srgbClr val="6B7A88"/>
                          </a:solidFill>
                          <a:latin typeface="맑은 고딕" pitchFamily="34" charset="0"/>
                          <a:ea typeface="맑은 고딕" pitchFamily="34" charset="-122"/>
                          <a:cs typeface="맑은 고딕" pitchFamily="34" charset="-120"/>
                        </a:rPr>
                        <a:t>하루 15분 이하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700" b="1" dirty="0">
                          <a:solidFill>
                            <a:srgbClr val="0E7C86"/>
                          </a:solidFill>
                          <a:latin typeface="맑은 고딕" pitchFamily="34" charset="0"/>
                          <a:ea typeface="맑은 고딕" pitchFamily="34" charset="-122"/>
                          <a:cs typeface="맑은 고딕" pitchFamily="34" charset="-120"/>
                        </a:rPr>
                        <a:t>확인만 하여 월 5시간 이하 절약</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400" dirty="0">
                          <a:solidFill>
                            <a:srgbClr val="6B7A88"/>
                          </a:solidFill>
                          <a:latin typeface="맑은 고딕" pitchFamily="34" charset="0"/>
                          <a:ea typeface="맑은 고딕" pitchFamily="34" charset="-122"/>
                          <a:cs typeface="맑은 고딕" pitchFamily="34" charset="-120"/>
                        </a:rPr>
                        <a:t>담당자 확인</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A36"/>
                          </a:solidFill>
                          <a:latin typeface="맑은 고딕" pitchFamily="34" charset="0"/>
                          <a:ea typeface="맑은 고딕" pitchFamily="34" charset="-122"/>
                          <a:cs typeface="맑은 고딕" pitchFamily="34" charset="-120"/>
                        </a:rPr>
                        <a:t>사내 경험값</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03504">
                <a:tc>
                  <a:txBody>
                    <a:bodyPr/>
                    <a:lstStyle/>
                    <a:p>
                      <a:pPr marL="0" indent="0">
                        <a:buNone/>
                      </a:pPr>
                      <a:r>
                        <a:rPr lang="en-US" sz="1700" b="1" dirty="0">
                          <a:solidFill>
                            <a:srgbClr val="1F2A36"/>
                          </a:solidFill>
                          <a:latin typeface="맑은 고딕" pitchFamily="34" charset="0"/>
                          <a:ea typeface="맑은 고딕" pitchFamily="34" charset="-122"/>
                          <a:cs typeface="맑은 고딕" pitchFamily="34" charset="-120"/>
                        </a:rPr>
                        <a:t>판단 근거 기록</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700" dirty="0">
                          <a:solidFill>
                            <a:srgbClr val="6B7A88"/>
                          </a:solidFill>
                          <a:latin typeface="맑은 고딕" pitchFamily="34" charset="0"/>
                          <a:ea typeface="맑은 고딕" pitchFamily="34" charset="-122"/>
                          <a:cs typeface="맑은 고딕" pitchFamily="34" charset="-120"/>
                        </a:rPr>
                        <a:t>개인 기억과 메신저</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700" b="1" dirty="0">
                          <a:solidFill>
                            <a:srgbClr val="0E7C86"/>
                          </a:solidFill>
                          <a:latin typeface="맑은 고딕" pitchFamily="34" charset="0"/>
                          <a:ea typeface="맑은 고딕" pitchFamily="34" charset="-122"/>
                          <a:cs typeface="맑은 고딕" pitchFamily="34" charset="-120"/>
                        </a:rPr>
                        <a:t>결정 기록 330여 건</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400" dirty="0">
                          <a:solidFill>
                            <a:srgbClr val="6B7A88"/>
                          </a:solidFill>
                          <a:latin typeface="맑은 고딕" pitchFamily="34" charset="0"/>
                          <a:ea typeface="맑은 고딕" pitchFamily="34" charset="-122"/>
                          <a:cs typeface="맑은 고딕" pitchFamily="34" charset="-120"/>
                        </a:rPr>
                        <a:t>결정 기록</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lgn="ctr">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03504">
                <a:tc>
                  <a:txBody>
                    <a:bodyPr/>
                    <a:lstStyle/>
                    <a:p>
                      <a:pPr marL="0" indent="0">
                        <a:buNone/>
                      </a:pPr>
                      <a:r>
                        <a:rPr lang="en-US" sz="1700" b="1" dirty="0">
                          <a:solidFill>
                            <a:srgbClr val="1F2A36"/>
                          </a:solidFill>
                          <a:latin typeface="맑은 고딕" pitchFamily="34" charset="0"/>
                          <a:ea typeface="맑은 고딕" pitchFamily="34" charset="-122"/>
                          <a:cs typeface="맑은 고딕" pitchFamily="34" charset="-120"/>
                        </a:rPr>
                        <a:t>장비 수리 이력</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700" dirty="0">
                          <a:solidFill>
                            <a:srgbClr val="6B7A88"/>
                          </a:solidFill>
                          <a:latin typeface="맑은 고딕" pitchFamily="34" charset="0"/>
                          <a:ea typeface="맑은 고딕" pitchFamily="34" charset="-122"/>
                          <a:cs typeface="맑은 고딕" pitchFamily="34" charset="-120"/>
                        </a:rPr>
                        <a:t>PDF, 사진, 메일에 분산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700" b="1" dirty="0">
                          <a:solidFill>
                            <a:srgbClr val="0E7C86"/>
                          </a:solidFill>
                          <a:latin typeface="맑은 고딕" pitchFamily="34" charset="0"/>
                          <a:ea typeface="맑은 고딕" pitchFamily="34" charset="-122"/>
                          <a:cs typeface="맑은 고딕" pitchFamily="34" charset="-120"/>
                        </a:rPr>
                        <a:t>과거 12건과 올해 5건 정리</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400" dirty="0">
                          <a:solidFill>
                            <a:srgbClr val="6B7A88"/>
                          </a:solidFill>
                          <a:latin typeface="맑은 고딕" pitchFamily="34" charset="0"/>
                          <a:ea typeface="맑은 고딕" pitchFamily="34" charset="-122"/>
                          <a:cs typeface="맑은 고딕" pitchFamily="34" charset="-120"/>
                        </a:rPr>
                        <a:t>수리 이력 페이지</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603504">
                <a:tc>
                  <a:txBody>
                    <a:bodyPr/>
                    <a:lstStyle/>
                    <a:p>
                      <a:pPr marL="0" indent="0">
                        <a:buNone/>
                      </a:pPr>
                      <a:r>
                        <a:rPr lang="en-US" sz="1700" b="1" dirty="0">
                          <a:solidFill>
                            <a:srgbClr val="1F2A36"/>
                          </a:solidFill>
                          <a:latin typeface="맑은 고딕" pitchFamily="34" charset="0"/>
                          <a:ea typeface="맑은 고딕" pitchFamily="34" charset="-122"/>
                          <a:cs typeface="맑은 고딕" pitchFamily="34" charset="-120"/>
                        </a:rPr>
                        <a:t>단가표 검수</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700" dirty="0">
                          <a:solidFill>
                            <a:srgbClr val="6B7A88"/>
                          </a:solidFill>
                          <a:latin typeface="맑은 고딕" pitchFamily="34" charset="0"/>
                          <a:ea typeface="맑은 고딕" pitchFamily="34" charset="-122"/>
                          <a:cs typeface="맑은 고딕" pitchFamily="34" charset="-120"/>
                        </a:rPr>
                        <a:t>수작업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700" b="1" dirty="0">
                          <a:solidFill>
                            <a:srgbClr val="0E7C86"/>
                          </a:solidFill>
                          <a:latin typeface="맑은 고딕" pitchFamily="34" charset="0"/>
                          <a:ea typeface="맑은 고딕" pitchFamily="34" charset="-122"/>
                          <a:cs typeface="맑은 고딕" pitchFamily="34" charset="-120"/>
                        </a:rPr>
                        <a:t>10,744건 자동 대조</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400" dirty="0">
                          <a:solidFill>
                            <a:srgbClr val="6B7A88"/>
                          </a:solidFill>
                          <a:latin typeface="맑은 고딕" pitchFamily="34" charset="0"/>
                          <a:ea typeface="맑은 고딕" pitchFamily="34" charset="-122"/>
                          <a:cs typeface="맑은 고딕" pitchFamily="34" charset="-120"/>
                        </a:rPr>
                        <a:t>중간보고 09-14</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lgn="ctr">
                        <a:buNone/>
                      </a:pPr>
                      <a:r>
                        <a:rPr lang="en-US" sz="1400" dirty="0">
                          <a:solidFill>
                            <a:srgbClr val="1F2A36"/>
                          </a:solidFill>
                          <a:latin typeface="맑은 고딕" pitchFamily="34" charset="0"/>
                          <a:ea typeface="맑은 고딕" pitchFamily="34" charset="-122"/>
                          <a:cs typeface="맑은 고딕" pitchFamily="34" charset="-120"/>
                        </a:rPr>
                        <a:t>실측</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603504">
                <a:tc>
                  <a:txBody>
                    <a:bodyPr/>
                    <a:lstStyle/>
                    <a:p>
                      <a:pPr marL="0" indent="0">
                        <a:buNone/>
                      </a:pPr>
                      <a:r>
                        <a:rPr lang="en-US" sz="1700" b="1" dirty="0">
                          <a:solidFill>
                            <a:srgbClr val="1F2A36"/>
                          </a:solidFill>
                          <a:latin typeface="맑은 고딕" pitchFamily="34" charset="0"/>
                          <a:ea typeface="맑은 고딕" pitchFamily="34" charset="-122"/>
                          <a:cs typeface="맑은 고딕" pitchFamily="34" charset="-120"/>
                        </a:rPr>
                        <a:t>장비별 투입</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700" dirty="0">
                          <a:solidFill>
                            <a:srgbClr val="6B7A88"/>
                          </a:solidFill>
                          <a:latin typeface="맑은 고딕" pitchFamily="34" charset="0"/>
                          <a:ea typeface="맑은 고딕" pitchFamily="34" charset="-122"/>
                          <a:cs typeface="맑은 고딕" pitchFamily="34" charset="-120"/>
                        </a:rPr>
                        <a:t>매일 경험으로 판단</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700" b="1" dirty="0">
                          <a:solidFill>
                            <a:srgbClr val="0E7C86"/>
                          </a:solidFill>
                          <a:latin typeface="맑은 고딕" pitchFamily="34" charset="0"/>
                          <a:ea typeface="맑은 고딕" pitchFamily="34" charset="-122"/>
                          <a:cs typeface="맑은 고딕" pitchFamily="34" charset="-120"/>
                        </a:rPr>
                        <a:t>목록 자동 생성 (효과 측정 중)</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400" dirty="0">
                          <a:solidFill>
                            <a:srgbClr val="6B7A88"/>
                          </a:solidFill>
                          <a:latin typeface="맑은 고딕" pitchFamily="34" charset="0"/>
                          <a:ea typeface="맑은 고딕" pitchFamily="34" charset="-122"/>
                          <a:cs typeface="맑은 고딕" pitchFamily="34" charset="-120"/>
                        </a:rPr>
                        <a:t>작업일지 셋업 분석</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F2A36"/>
                          </a:solidFill>
                          <a:latin typeface="맑은 고딕" pitchFamily="34" charset="0"/>
                          <a:ea typeface="맑은 고딕" pitchFamily="34" charset="-122"/>
                          <a:cs typeface="맑은 고딕" pitchFamily="34" charset="-120"/>
                        </a:rPr>
                        <a:t>판단 보류</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10" name="footnote"/>
          <p:cNvSpPr txBox="1"/>
          <p:nvPr/>
        </p:nvSpPr>
        <p:spPr>
          <a:xfrm>
            <a:off x="548640" y="6355080"/>
            <a:ext cx="5943600" cy="320040"/>
          </a:xfrm>
          <a:prstGeom prst="rect">
            <a:avLst/>
          </a:prstGeom>
          <a:noFill/>
          <a:ln/>
        </p:spPr>
        <p:txBody>
          <a:bodyPr wrap="square" lIns="0" tIns="0" rIns="0" bIns="0" rtlCol="0" anchor="ctr"/>
          <a:lstStyle/>
          <a:p>
            <a:pPr marL="0" indent="0">
              <a:buNone/>
            </a:pPr>
            <a:r>
              <a:rPr lang="en-US" sz="1200" dirty="0">
                <a:solidFill>
                  <a:srgbClr val="6B7A88"/>
                </a:solidFill>
              </a:rPr>
              <a:t>주: 실측은 기록으로 센 값이고 사내 경험값은 담당자 확인값</a:t>
            </a:r>
            <a:endParaRPr lang="en-US" sz="1200" dirty="0"/>
          </a:p>
        </p:txBody>
      </p:sp>
      <p:sp>
        <p:nvSpPr>
          <p:cNvPr id="13" name="Text 0"/>
          <p:cNvSpPr>
            <a:spLocks noGrp="1"/>
          </p:cNvSpPr>
          <p:nvPr>
            <p:ph type="body" idx="100"/>
          </p:nvPr>
        </p:nvSpPr>
        <p:spPr>
          <a:xfrm>
            <a:off x="548640" y="320040"/>
            <a:ext cx="8229600" cy="320040"/>
          </a:xfrm>
          <a:prstGeom prst="rect">
            <a:avLst/>
          </a:prstGeom>
          <a:noFill/>
          <a:ln/>
        </p:spPr>
        <p:txBody>
          <a:bodyPr wrap="square" lIns="0" tIns="0" rIns="0" bIns="0" rtlCol="0"/>
          <a:lstStyle/>
          <a:p>
            <a:pPr marL="0" indent="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3"/>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marL="0" indent="0" algn="ctr">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marL="0" indent="0" algn="ctr">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marL="0" indent="0" algn="ctr">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marL="0" indent="0" algn="ctr">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solidFill>
            <a:srgbClr val="EAF4F5"/>
          </a:solidFill>
          <a:ln/>
        </p:spPr>
        <p:txBody>
          <a:bodyPr wrap="square" lIns="0" tIns="0" rIns="0" bIns="0" rtlCol="0" anchor="ctr"/>
          <a:lstStyle/>
          <a:p>
            <a:pPr marL="0" indent="0" algn="ctr">
              <a:buNone/>
            </a:pPr>
            <a:r>
              <a:rPr lang="en-US" sz="1400" b="1" dirty="0">
                <a:solidFill>
                  <a:srgbClr val="0E7C86"/>
                </a:solidFill>
              </a:rPr>
              <a:t>5 한계와 과제</a:t>
            </a:r>
            <a:endParaRPr lang="en-US" sz="1400" dirty="0"/>
          </a:p>
        </p:txBody>
      </p:sp>
      <p:sp>
        <p:nvSpPr>
          <p:cNvPr id="7" name="Text 0"/>
          <p:cNvSpPr>
            <a:spLocks noGrp="1"/>
          </p:cNvSpPr>
          <p:nvPr>
            <p:ph type="title" idx="101"/>
          </p:nvPr>
        </p:nvSpPr>
        <p:spPr>
          <a:xfrm>
            <a:off x="548640" y="621792"/>
            <a:ext cx="11064240" cy="658368"/>
          </a:xfrm>
          <a:prstGeom prst="rect">
            <a:avLst/>
          </a:prstGeom>
          <a:noFill/>
          <a:ln/>
        </p:spPr>
        <p:txBody>
          <a:bodyPr wrap="square" lIns="0" tIns="0" rIns="0" bIns="0" rtlCol="0" anchor="ctr"/>
          <a:lstStyle/>
          <a:p>
            <a:pPr marL="0" indent="0" algn="l">
              <a:buNone/>
            </a:pPr>
            <a:r>
              <a:rPr lang="en-US" sz="3600" b="1" dirty="0">
                <a:solidFill>
                  <a:schemeClr val="tx1"/>
                </a:solidFill>
              </a:rPr>
              <a:t>향후 </a:t>
            </a:r>
            <a:r>
              <a:rPr lang="en-US" sz="3600" b="1" dirty="0" err="1">
                <a:solidFill>
                  <a:schemeClr val="tx1"/>
                </a:solidFill>
              </a:rPr>
              <a:t>과제</a:t>
            </a:r>
            <a:r>
              <a:rPr lang="en-US" sz="3600" b="1" dirty="0">
                <a:solidFill>
                  <a:schemeClr val="tx1"/>
                </a:solidFill>
              </a:rPr>
              <a:t> </a:t>
            </a:r>
            <a:r>
              <a:rPr lang="en-US" sz="3600" b="1" dirty="0" smtClean="0">
                <a:solidFill>
                  <a:schemeClr val="tx1"/>
                </a:solidFill>
              </a:rPr>
              <a:t>_</a:t>
            </a:r>
            <a:r>
              <a:rPr lang="en-US" sz="3600" b="1" dirty="0" err="1" smtClean="0">
                <a:solidFill>
                  <a:schemeClr val="tx1"/>
                </a:solidFill>
              </a:rPr>
              <a:t>생산</a:t>
            </a:r>
            <a:r>
              <a:rPr lang="en-US" sz="3600" b="1" dirty="0" smtClean="0">
                <a:solidFill>
                  <a:schemeClr val="tx1"/>
                </a:solidFill>
              </a:rPr>
              <a:t> </a:t>
            </a:r>
            <a:r>
              <a:rPr lang="en-US" sz="3600" b="1" dirty="0">
                <a:solidFill>
                  <a:schemeClr val="tx1"/>
                </a:solidFill>
              </a:rPr>
              <a:t>실적 ERP 단일 기록</a:t>
            </a:r>
            <a:endParaRPr lang="en-US" sz="3600" dirty="0"/>
          </a:p>
        </p:txBody>
      </p:sp>
      <p:sp>
        <p:nvSpPr>
          <p:cNvPr id="8" name="Text 0"/>
          <p:cNvSpPr>
            <a:spLocks noGrp="1"/>
          </p:cNvSpPr>
          <p:nvPr>
            <p:ph type="body" idx="102"/>
          </p:nvPr>
        </p:nvSpPr>
        <p:spPr>
          <a:xfrm>
            <a:off x="548640" y="1325880"/>
            <a:ext cx="11064240" cy="411480"/>
          </a:xfrm>
          <a:prstGeom prst="rect">
            <a:avLst/>
          </a:prstGeom>
          <a:noFill/>
          <a:ln/>
        </p:spPr>
        <p:txBody>
          <a:bodyPr wrap="square" lIns="0" tIns="0" rIns="0" bIns="0" rtlCol="0" anchor="ctr"/>
          <a:lstStyle/>
          <a:p>
            <a:pPr marL="0" indent="0" algn="l">
              <a:buNone/>
            </a:pPr>
            <a:r>
              <a:rPr lang="en-US" sz="2000" b="1" dirty="0">
                <a:solidFill>
                  <a:schemeClr val="accent1"/>
                </a:solidFill>
              </a:rPr>
              <a:t>▶ 10-23부터 엑셀 작업일지 입력 중단, 생산 실적은 ERP에만 기록</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graphicFrame>
        <p:nvGraphicFramePr>
          <p:cNvPr id="12" name="erp-table"/>
          <p:cNvGraphicFramePr>
            <a:graphicFrameLocks noGrp="1"/>
          </p:cNvGraphicFramePr>
          <p:nvPr>
            <p:extLst>
              <p:ext uri="{D42A27DB-BD31-4B8C-83A1-F6EECF244321}">
                <p14:modId xmlns:p14="http://schemas.microsoft.com/office/powerpoint/2010/main" val="1759177665"/>
              </p:ext>
            </p:extLst>
          </p:nvPr>
        </p:nvGraphicFramePr>
        <p:xfrm>
          <a:off x="548640" y="1965960"/>
          <a:ext cx="6949440" cy="2651760"/>
        </p:xfrm>
        <a:graphic>
          <a:graphicData uri="http://schemas.openxmlformats.org/drawingml/2006/table">
            <a:tbl>
              <a:tblPr/>
              <a:tblGrid>
                <a:gridCol w="1659101"/>
                <a:gridCol w="2141837"/>
                <a:gridCol w="3148502"/>
              </a:tblGrid>
              <a:tr h="384048">
                <a:tc>
                  <a:txBody>
                    <a:bodyPr/>
                    <a:lstStyle/>
                    <a:p>
                      <a:pPr marL="0" indent="0">
                        <a:buNone/>
                      </a:pPr>
                      <a:r>
                        <a:rPr lang="en-US" sz="1500" b="1" dirty="0">
                          <a:solidFill>
                            <a:srgbClr val="FFFFFF"/>
                          </a:solidFill>
                          <a:latin typeface="맑은 고딕" pitchFamily="34" charset="0"/>
                          <a:ea typeface="맑은 고딕" pitchFamily="34" charset="-122"/>
                          <a:cs typeface="맑은 고딕" pitchFamily="34" charset="-120"/>
                        </a:rPr>
                        <a:t>항목</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marL="0" indent="0">
                        <a:buNone/>
                      </a:pPr>
                      <a:r>
                        <a:rPr lang="en-US" sz="1500" b="1" dirty="0">
                          <a:solidFill>
                            <a:srgbClr val="FFFFFF"/>
                          </a:solidFill>
                          <a:latin typeface="맑은 고딕" pitchFamily="34" charset="0"/>
                          <a:ea typeface="맑은 고딕" pitchFamily="34" charset="-122"/>
                          <a:cs typeface="맑은 고딕" pitchFamily="34" charset="-120"/>
                        </a:rPr>
                        <a:t>10-22까지</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marL="0" indent="0">
                        <a:buNone/>
                      </a:pPr>
                      <a:r>
                        <a:rPr lang="en-US" sz="1500" b="1" dirty="0">
                          <a:solidFill>
                            <a:srgbClr val="FFFFFF"/>
                          </a:solidFill>
                          <a:latin typeface="맑은 고딕" pitchFamily="34" charset="0"/>
                          <a:ea typeface="맑은 고딕" pitchFamily="34" charset="-122"/>
                          <a:cs typeface="맑은 고딕" pitchFamily="34" charset="-120"/>
                        </a:rPr>
                        <a:t>10-23부터</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566928">
                <a:tc>
                  <a:txBody>
                    <a:bodyPr/>
                    <a:lstStyle/>
                    <a:p>
                      <a:pPr marL="0" indent="0">
                        <a:buNone/>
                      </a:pPr>
                      <a:r>
                        <a:rPr lang="en-US" sz="1500" b="1" dirty="0">
                          <a:solidFill>
                            <a:srgbClr val="1F2A36"/>
                          </a:solidFill>
                          <a:latin typeface="맑은 고딕" pitchFamily="34" charset="0"/>
                          <a:ea typeface="맑은 고딕" pitchFamily="34" charset="-122"/>
                          <a:cs typeface="맑은 고딕" pitchFamily="34" charset="-120"/>
                        </a:rPr>
                        <a:t>실적 입력</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500" dirty="0">
                          <a:solidFill>
                            <a:srgbClr val="6B7A88"/>
                          </a:solidFill>
                          <a:latin typeface="맑은 고딕" pitchFamily="34" charset="0"/>
                          <a:ea typeface="맑은 고딕" pitchFamily="34" charset="-122"/>
                          <a:cs typeface="맑은 고딕" pitchFamily="34" charset="-120"/>
                        </a:rPr>
                        <a:t>엑셀과 ERP에 두 번</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500" b="1" dirty="0">
                          <a:solidFill>
                            <a:srgbClr val="0E7C86"/>
                          </a:solidFill>
                          <a:latin typeface="맑은 고딕" pitchFamily="34" charset="0"/>
                          <a:ea typeface="맑은 고딕" pitchFamily="34" charset="-122"/>
                          <a:cs typeface="맑은 고딕" pitchFamily="34" charset="-120"/>
                        </a:rPr>
                        <a:t>ERP 작업실적에 한 번</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566928">
                <a:tc>
                  <a:txBody>
                    <a:bodyPr/>
                    <a:lstStyle/>
                    <a:p>
                      <a:pPr marL="0" indent="0">
                        <a:buNone/>
                      </a:pPr>
                      <a:r>
                        <a:rPr lang="en-US" sz="1500" b="1" dirty="0">
                          <a:solidFill>
                            <a:srgbClr val="1F2A36"/>
                          </a:solidFill>
                          <a:latin typeface="맑은 고딕" pitchFamily="34" charset="0"/>
                          <a:ea typeface="맑은 고딕" pitchFamily="34" charset="-122"/>
                          <a:cs typeface="맑은 고딕" pitchFamily="34" charset="-120"/>
                        </a:rPr>
                        <a:t>일일보고</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500" dirty="0">
                          <a:solidFill>
                            <a:srgbClr val="6B7A88"/>
                          </a:solidFill>
                          <a:latin typeface="맑은 고딕" pitchFamily="34" charset="0"/>
                          <a:ea typeface="맑은 고딕" pitchFamily="34" charset="-122"/>
                          <a:cs typeface="맑은 고딕" pitchFamily="34" charset="-120"/>
                        </a:rPr>
                        <a:t>엑셀의 FG, GX7 수량과 가공시간</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500" b="1" dirty="0">
                          <a:solidFill>
                            <a:srgbClr val="0E7C86"/>
                          </a:solidFill>
                          <a:latin typeface="맑은 고딕" pitchFamily="34" charset="0"/>
                          <a:ea typeface="맑은 고딕" pitchFamily="34" charset="-122"/>
                          <a:cs typeface="맑은 고딕" pitchFamily="34" charset="-120"/>
                        </a:rPr>
                        <a:t>ERP NC 수량, 가공시간은 표준공수 추정</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566928">
                <a:tc>
                  <a:txBody>
                    <a:bodyPr/>
                    <a:lstStyle/>
                    <a:p>
                      <a:pPr marL="0" indent="0">
                        <a:buNone/>
                      </a:pPr>
                      <a:r>
                        <a:rPr lang="en-US" sz="1500" b="1" dirty="0">
                          <a:solidFill>
                            <a:srgbClr val="1F2A36"/>
                          </a:solidFill>
                          <a:latin typeface="맑은 고딕" pitchFamily="34" charset="0"/>
                          <a:ea typeface="맑은 고딕" pitchFamily="34" charset="-122"/>
                          <a:cs typeface="맑은 고딕" pitchFamily="34" charset="-120"/>
                        </a:rPr>
                        <a:t>현황판 오늘 실적</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500" dirty="0">
                          <a:solidFill>
                            <a:srgbClr val="6B7A88"/>
                          </a:solidFill>
                          <a:latin typeface="맑은 고딕" pitchFamily="34" charset="0"/>
                          <a:ea typeface="맑은 고딕" pitchFamily="34" charset="-122"/>
                          <a:cs typeface="맑은 고딕" pitchFamily="34" charset="-120"/>
                        </a:rPr>
                        <a:t>엑셀 작업일지</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500" b="1" dirty="0">
                          <a:solidFill>
                            <a:srgbClr val="0E7C86"/>
                          </a:solidFill>
                          <a:latin typeface="맑은 고딕" pitchFamily="34" charset="0"/>
                          <a:ea typeface="맑은 고딕" pitchFamily="34" charset="-122"/>
                          <a:cs typeface="맑은 고딕" pitchFamily="34" charset="-120"/>
                        </a:rPr>
                        <a:t>ERP 작업실적</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566928">
                <a:tc>
                  <a:txBody>
                    <a:bodyPr/>
                    <a:lstStyle/>
                    <a:p>
                      <a:pPr marL="0" indent="0">
                        <a:buNone/>
                      </a:pPr>
                      <a:r>
                        <a:rPr lang="en-US" sz="1500" b="1" dirty="0">
                          <a:solidFill>
                            <a:srgbClr val="1F2A36"/>
                          </a:solidFill>
                          <a:latin typeface="맑은 고딕" pitchFamily="34" charset="0"/>
                          <a:ea typeface="맑은 고딕" pitchFamily="34" charset="-122"/>
                          <a:cs typeface="맑은 고딕" pitchFamily="34" charset="-120"/>
                        </a:rPr>
                        <a:t>장비별 투입 목록</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500" dirty="0">
                          <a:solidFill>
                            <a:srgbClr val="6B7A88"/>
                          </a:solidFill>
                          <a:latin typeface="맑은 고딕" pitchFamily="34" charset="0"/>
                          <a:ea typeface="맑은 고딕" pitchFamily="34" charset="-122"/>
                          <a:cs typeface="맑은 고딕" pitchFamily="34" charset="-120"/>
                        </a:rPr>
                        <a:t>작업일지 가공분 차감</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500" b="1" dirty="0">
                          <a:solidFill>
                            <a:srgbClr val="0E7C86"/>
                          </a:solidFill>
                          <a:latin typeface="맑은 고딕" pitchFamily="34" charset="0"/>
                          <a:ea typeface="맑은 고딕" pitchFamily="34" charset="-122"/>
                          <a:cs typeface="맑은 고딕" pitchFamily="34" charset="-120"/>
                        </a:rPr>
                        <a:t>ERP 작업실적 가공분 차감</a:t>
                      </a:r>
                      <a:endParaRPr lang="en-US" sz="1500" dirty="0">
                        <a:latin typeface="맑은 고딕" charset="0"/>
                        <a:ea typeface="맑은 고딕" charset="0"/>
                        <a:cs typeface="맑은 고딕" charset="0"/>
                      </a:endParaRPr>
                    </a:p>
                  </a:txBody>
                  <a:tcPr marL="76200" marR="76200" marT="38100" marB="381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bl>
          </a:graphicData>
        </a:graphic>
      </p:graphicFrame>
      <p:sp>
        <p:nvSpPr>
          <p:cNvPr id="11" name="erp-cmp"/>
          <p:cNvSpPr/>
          <p:nvPr/>
        </p:nvSpPr>
        <p:spPr>
          <a:xfrm>
            <a:off x="7772400" y="1965960"/>
            <a:ext cx="3840480" cy="2651760"/>
          </a:xfrm>
          <a:prstGeom prst="rect">
            <a:avLst/>
          </a:prstGeom>
          <a:solidFill>
            <a:srgbClr val="F4F6F8"/>
          </a:solidFill>
          <a:ln w="9525">
            <a:solidFill>
              <a:srgbClr val="D9E2EC"/>
            </a:solidFill>
            <a:prstDash val="solid"/>
          </a:ln>
        </p:spPr>
      </p:sp>
      <p:sp>
        <p:nvSpPr>
          <p:cNvPr id="10" name="erp-cmp-h"/>
          <p:cNvSpPr txBox="1"/>
          <p:nvPr/>
        </p:nvSpPr>
        <p:spPr>
          <a:xfrm>
            <a:off x="7955280" y="2057400"/>
            <a:ext cx="3474720" cy="329184"/>
          </a:xfrm>
          <a:prstGeom prst="rect">
            <a:avLst/>
          </a:prstGeom>
          <a:noFill/>
          <a:ln/>
        </p:spPr>
        <p:txBody>
          <a:bodyPr wrap="square" lIns="0" tIns="0" rIns="0" bIns="0" rtlCol="0" anchor="ctr"/>
          <a:lstStyle/>
          <a:p>
            <a:pPr marL="0" indent="0">
              <a:buNone/>
            </a:pPr>
            <a:r>
              <a:rPr lang="en-US" sz="1400" b="1" dirty="0">
                <a:solidFill>
                  <a:srgbClr val="3A506B"/>
                </a:solidFill>
              </a:rPr>
              <a:t>엑셀과 ERP 수량 대조 (10-01 ~ 10-23)</a:t>
            </a:r>
            <a:endParaRPr lang="en-US" sz="1400" dirty="0"/>
          </a:p>
        </p:txBody>
      </p:sp>
      <p:sp>
        <p:nvSpPr>
          <p:cNvPr id="13" name="erp-cmp-n"/>
          <p:cNvSpPr txBox="1"/>
          <p:nvPr/>
        </p:nvSpPr>
        <p:spPr>
          <a:xfrm>
            <a:off x="7955280" y="2468880"/>
            <a:ext cx="3474720" cy="1417320"/>
          </a:xfrm>
          <a:prstGeom prst="rect">
            <a:avLst/>
          </a:prstGeom>
          <a:noFill/>
          <a:ln/>
        </p:spPr>
        <p:txBody>
          <a:bodyPr wrap="square" lIns="0" tIns="0" rIns="0" bIns="0" rtlCol="0" anchor="t"/>
          <a:lstStyle/>
          <a:p>
            <a:pPr marL="0" indent="0">
              <a:buNone/>
            </a:pPr>
            <a:r>
              <a:rPr lang="en-US" sz="1600" dirty="0">
                <a:solidFill>
                  <a:srgbClr val="6B7A88"/>
                </a:solidFill>
              </a:rPr>
              <a:t>엑셀  </a:t>
            </a:r>
            <a:r>
              <a:rPr lang="en-US" sz="3600" b="1" dirty="0">
                <a:solidFill>
                  <a:srgbClr val="1F2A36"/>
                </a:solidFill>
              </a:rPr>
              <a:t>971</a:t>
            </a:r>
            <a:r>
              <a:rPr lang="en-US" sz="1600" dirty="0">
                <a:solidFill>
                  <a:srgbClr val="1F2A36"/>
                </a:solidFill>
              </a:rPr>
              <a:t> 개</a:t>
            </a:r>
            <a:endParaRPr lang="en-US" sz="1600" dirty="0"/>
          </a:p>
          <a:p>
            <a:pPr marL="0" indent="0">
              <a:buNone/>
            </a:pPr>
            <a:r>
              <a:rPr lang="en-US" sz="1600" dirty="0">
                <a:solidFill>
                  <a:srgbClr val="6B7A88"/>
                </a:solidFill>
              </a:rPr>
              <a:t>ERP  </a:t>
            </a:r>
            <a:r>
              <a:rPr lang="en-US" sz="3600" b="1" dirty="0">
                <a:solidFill>
                  <a:srgbClr val="0E7C86"/>
                </a:solidFill>
              </a:rPr>
              <a:t>955</a:t>
            </a:r>
            <a:r>
              <a:rPr lang="en-US" sz="1600" dirty="0">
                <a:solidFill>
                  <a:srgbClr val="0E7C86"/>
                </a:solidFill>
              </a:rPr>
              <a:t> 개</a:t>
            </a:r>
            <a:endParaRPr lang="en-US" sz="1600" dirty="0"/>
          </a:p>
        </p:txBody>
      </p:sp>
      <p:sp>
        <p:nvSpPr>
          <p:cNvPr id="14" name="erp-cmp-t"/>
          <p:cNvSpPr txBox="1"/>
          <p:nvPr/>
        </p:nvSpPr>
        <p:spPr>
          <a:xfrm>
            <a:off x="7955280" y="3977640"/>
            <a:ext cx="3474720" cy="502920"/>
          </a:xfrm>
          <a:prstGeom prst="rect">
            <a:avLst/>
          </a:prstGeom>
          <a:noFill/>
          <a:ln/>
        </p:spPr>
        <p:txBody>
          <a:bodyPr wrap="square" lIns="0" tIns="0" rIns="0" bIns="0" rtlCol="0" anchor="t"/>
          <a:lstStyle/>
          <a:p>
            <a:pPr marL="0" indent="0">
              <a:buNone/>
            </a:pPr>
            <a:r>
              <a:rPr lang="en-US" sz="1400" dirty="0">
                <a:solidFill>
                  <a:srgbClr val="2C3E50"/>
                </a:solidFill>
              </a:rPr>
              <a:t>차이 1.6 %, 하루 단위로는 −18 ~ +12개</a:t>
            </a:r>
            <a:endParaRPr lang="en-US" sz="1400" dirty="0"/>
          </a:p>
        </p:txBody>
      </p:sp>
      <p:sp>
        <p:nvSpPr>
          <p:cNvPr id="15" name="erp-left"/>
          <p:cNvSpPr/>
          <p:nvPr/>
        </p:nvSpPr>
        <p:spPr>
          <a:xfrm>
            <a:off x="548640" y="4846320"/>
            <a:ext cx="11064240" cy="1234440"/>
          </a:xfrm>
          <a:prstGeom prst="rect">
            <a:avLst/>
          </a:prstGeom>
          <a:solidFill>
            <a:srgbClr val="EAF4F5"/>
          </a:solidFill>
          <a:ln w="9525">
            <a:solidFill>
              <a:srgbClr val="D9E2EC"/>
            </a:solidFill>
            <a:prstDash val="solid"/>
          </a:ln>
        </p:spPr>
      </p:sp>
      <p:sp>
        <p:nvSpPr>
          <p:cNvPr id="16" name="erp-left-t"/>
          <p:cNvSpPr txBox="1"/>
          <p:nvPr/>
        </p:nvSpPr>
        <p:spPr>
          <a:xfrm>
            <a:off x="731520" y="4892040"/>
            <a:ext cx="10698480" cy="1143000"/>
          </a:xfrm>
          <a:prstGeom prst="rect">
            <a:avLst/>
          </a:prstGeom>
          <a:noFill/>
          <a:ln/>
        </p:spPr>
        <p:txBody>
          <a:bodyPr wrap="square" lIns="0" tIns="0" rIns="0" bIns="0" rtlCol="0" anchor="ctr"/>
          <a:lstStyle/>
          <a:p>
            <a:pPr marL="0" indent="0">
              <a:spcAft>
                <a:spcPts val="400"/>
              </a:spcAft>
              <a:buNone/>
            </a:pPr>
            <a:r>
              <a:rPr lang="ko-KR" altLang="en-US" sz="1600" b="1" dirty="0" smtClean="0">
                <a:solidFill>
                  <a:srgbClr val="1F2A36"/>
                </a:solidFill>
              </a:rPr>
              <a:t>단</a:t>
            </a:r>
            <a:r>
              <a:rPr lang="ko-KR" altLang="en-US" sz="1600" b="1" dirty="0">
                <a:solidFill>
                  <a:srgbClr val="1F2A36"/>
                </a:solidFill>
              </a:rPr>
              <a:t>점</a:t>
            </a:r>
            <a:endParaRPr lang="en-US" sz="1600" dirty="0"/>
          </a:p>
          <a:p>
            <a:pPr marL="342900" indent="-342900">
              <a:spcAft>
                <a:spcPts val="400"/>
              </a:spcAft>
              <a:buSzPct val="100000"/>
              <a:buChar char="•"/>
            </a:pPr>
            <a:r>
              <a:rPr lang="en-US" sz="1600" dirty="0" err="1" smtClean="0">
                <a:solidFill>
                  <a:srgbClr val="2C3E50"/>
                </a:solidFill>
              </a:rPr>
              <a:t>FG</a:t>
            </a:r>
            <a:r>
              <a:rPr lang="en-US" sz="1600" dirty="0" err="1">
                <a:solidFill>
                  <a:srgbClr val="2C3E50"/>
                </a:solidFill>
              </a:rPr>
              <a:t>와</a:t>
            </a:r>
            <a:r>
              <a:rPr lang="en-US" sz="1600" dirty="0">
                <a:solidFill>
                  <a:srgbClr val="2C3E50"/>
                </a:solidFill>
              </a:rPr>
              <a:t> GX7 구분 </a:t>
            </a:r>
            <a:r>
              <a:rPr lang="en-US" sz="1600" dirty="0" err="1">
                <a:solidFill>
                  <a:srgbClr val="2C3E50"/>
                </a:solidFill>
              </a:rPr>
              <a:t>없음</a:t>
            </a:r>
            <a:r>
              <a:rPr lang="en-US" sz="1600" dirty="0">
                <a:solidFill>
                  <a:srgbClr val="2C3E50"/>
                </a:solidFill>
              </a:rPr>
              <a:t> </a:t>
            </a:r>
            <a:r>
              <a:rPr lang="en-US" sz="1600" dirty="0" smtClean="0">
                <a:solidFill>
                  <a:srgbClr val="2C3E50"/>
                </a:solidFill>
              </a:rPr>
              <a:t>(</a:t>
            </a:r>
            <a:r>
              <a:rPr lang="ko-KR" altLang="en-US" sz="1600" dirty="0" err="1" smtClean="0">
                <a:solidFill>
                  <a:srgbClr val="2C3E50"/>
                </a:solidFill>
              </a:rPr>
              <a:t>장비별</a:t>
            </a:r>
            <a:r>
              <a:rPr lang="ko-KR" altLang="en-US" sz="1600" dirty="0" smtClean="0">
                <a:solidFill>
                  <a:srgbClr val="2C3E50"/>
                </a:solidFill>
              </a:rPr>
              <a:t> 수량 구분 없음</a:t>
            </a:r>
            <a:r>
              <a:rPr lang="en-US" sz="1600" dirty="0" smtClean="0">
                <a:solidFill>
                  <a:srgbClr val="2C3E50"/>
                </a:solidFill>
              </a:rPr>
              <a:t>) &gt; </a:t>
            </a:r>
            <a:r>
              <a:rPr lang="en-US" sz="1600" dirty="0">
                <a:solidFill>
                  <a:srgbClr val="2C3E50"/>
                </a:solidFill>
              </a:rPr>
              <a:t>필요할 때만 기간을 정해 비고 칸에 기록</a:t>
            </a:r>
            <a:endParaRPr lang="en-US" sz="1600" dirty="0"/>
          </a:p>
          <a:p>
            <a:pPr marL="342900" indent="-342900">
              <a:spcAft>
                <a:spcPts val="400"/>
              </a:spcAft>
              <a:buSzPct val="100000"/>
              <a:buChar char="•"/>
            </a:pPr>
            <a:r>
              <a:rPr lang="en-US" sz="1600" dirty="0" err="1" smtClean="0">
                <a:solidFill>
                  <a:srgbClr val="2C3E50"/>
                </a:solidFill>
              </a:rPr>
              <a:t>가공시간은</a:t>
            </a:r>
            <a:r>
              <a:rPr lang="ko-KR" altLang="en-US" sz="1600" dirty="0">
                <a:solidFill>
                  <a:srgbClr val="2C3E50"/>
                </a:solidFill>
              </a:rPr>
              <a:t> </a:t>
            </a:r>
            <a:r>
              <a:rPr lang="ko-KR" altLang="en-US" sz="1600" dirty="0" err="1" smtClean="0">
                <a:solidFill>
                  <a:srgbClr val="2C3E50"/>
                </a:solidFill>
              </a:rPr>
              <a:t>미입력으로</a:t>
            </a:r>
            <a:r>
              <a:rPr lang="ko-KR" altLang="en-US" sz="1600" dirty="0" smtClean="0">
                <a:solidFill>
                  <a:srgbClr val="2C3E50"/>
                </a:solidFill>
              </a:rPr>
              <a:t> 실제 가공 후 확인 가능 </a:t>
            </a:r>
            <a:r>
              <a:rPr lang="en-US" altLang="ko-KR" sz="1600" dirty="0" smtClean="0">
                <a:solidFill>
                  <a:srgbClr val="2C3E50"/>
                </a:solidFill>
              </a:rPr>
              <a:t>&gt; </a:t>
            </a:r>
            <a:r>
              <a:rPr lang="ko-KR" altLang="en-US" sz="1600" dirty="0" smtClean="0">
                <a:solidFill>
                  <a:srgbClr val="2C3E50"/>
                </a:solidFill>
              </a:rPr>
              <a:t>기존 자료 기반으로 대략적인 값</a:t>
            </a:r>
            <a:endParaRPr lang="en-US" sz="1600" dirty="0"/>
          </a:p>
        </p:txBody>
      </p:sp>
      <p:sp>
        <p:nvSpPr>
          <p:cNvPr id="17" name="footnote"/>
          <p:cNvSpPr txBox="1"/>
          <p:nvPr/>
        </p:nvSpPr>
        <p:spPr>
          <a:xfrm>
            <a:off x="548640" y="6355080"/>
            <a:ext cx="5943600" cy="320040"/>
          </a:xfrm>
          <a:prstGeom prst="rect">
            <a:avLst/>
          </a:prstGeom>
          <a:noFill/>
          <a:ln/>
        </p:spPr>
        <p:txBody>
          <a:bodyPr wrap="square" lIns="0" tIns="0" rIns="0" bIns="0" rtlCol="0" anchor="ctr"/>
          <a:lstStyle/>
          <a:p>
            <a:pPr marL="0" indent="0">
              <a:buNone/>
            </a:pPr>
            <a:r>
              <a:rPr lang="en-US" sz="1200" dirty="0">
                <a:solidFill>
                  <a:srgbClr val="6B7A88"/>
                </a:solidFill>
              </a:rPr>
              <a:t>엑셀은 FG와 GX7 합, ERP는 NC 양품과 불량  |  자료 기준일 2026-10-23</a:t>
            </a:r>
            <a:endParaRPr lang="en-US" sz="1200" dirty="0"/>
          </a:p>
        </p:txBody>
      </p:sp>
      <p:sp>
        <p:nvSpPr>
          <p:cNvPr id="19" name="Text 0"/>
          <p:cNvSpPr>
            <a:spLocks noGrp="1"/>
          </p:cNvSpPr>
          <p:nvPr>
            <p:ph type="body" idx="100"/>
          </p:nvPr>
        </p:nvSpPr>
        <p:spPr>
          <a:xfrm>
            <a:off x="548640" y="320040"/>
            <a:ext cx="8229600" cy="320040"/>
          </a:xfrm>
          <a:prstGeom prst="rect">
            <a:avLst/>
          </a:prstGeom>
          <a:noFill/>
          <a:ln/>
        </p:spPr>
        <p:txBody>
          <a:bodyPr wrap="square" lIns="0" tIns="0" rIns="0" bIns="0" rtlCol="0"/>
          <a:lstStyle/>
          <a:p>
            <a:pPr marL="0" indent="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3"/>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nav0"/>
          <p:cNvSpPr txBox="1"/>
          <p:nvPr/>
        </p:nvSpPr>
        <p:spPr>
          <a:xfrm>
            <a:off x="4434840" y="201168"/>
            <a:ext cx="841248" cy="329184"/>
          </a:xfrm>
          <a:prstGeom prst="rect">
            <a:avLst/>
          </a:prstGeom>
          <a:noFill/>
          <a:ln/>
        </p:spPr>
        <p:txBody>
          <a:bodyPr wrap="square" lIns="0" tIns="0" rIns="0" bIns="0" rtlCol="0" anchor="ctr"/>
          <a:lstStyle/>
          <a:p>
            <a:pPr marL="0" indent="0" algn="ctr">
              <a:buNone/>
            </a:pPr>
            <a:r>
              <a:rPr lang="en-US" sz="1400" dirty="0">
                <a:solidFill>
                  <a:srgbClr val="6B7A88"/>
                </a:solidFill>
              </a:rPr>
              <a:t>1 배경</a:t>
            </a:r>
            <a:endParaRPr lang="en-US" sz="1400" dirty="0"/>
          </a:p>
        </p:txBody>
      </p:sp>
      <p:sp>
        <p:nvSpPr>
          <p:cNvPr id="3" name="nav1"/>
          <p:cNvSpPr txBox="1"/>
          <p:nvPr/>
        </p:nvSpPr>
        <p:spPr>
          <a:xfrm>
            <a:off x="5349240" y="201168"/>
            <a:ext cx="1435608" cy="329184"/>
          </a:xfrm>
          <a:prstGeom prst="rect">
            <a:avLst/>
          </a:prstGeom>
          <a:noFill/>
          <a:ln/>
        </p:spPr>
        <p:txBody>
          <a:bodyPr wrap="square" lIns="0" tIns="0" rIns="0" bIns="0" rtlCol="0" anchor="ctr"/>
          <a:lstStyle/>
          <a:p>
            <a:pPr marL="0" indent="0" algn="ctr">
              <a:buNone/>
            </a:pPr>
            <a:r>
              <a:rPr lang="en-US" sz="1400" dirty="0">
                <a:solidFill>
                  <a:srgbClr val="6B7A88"/>
                </a:solidFill>
              </a:rPr>
              <a:t>2 활용 현황 ①</a:t>
            </a:r>
            <a:endParaRPr lang="en-US" sz="1400" dirty="0"/>
          </a:p>
        </p:txBody>
      </p:sp>
      <p:sp>
        <p:nvSpPr>
          <p:cNvPr id="4" name="nav2"/>
          <p:cNvSpPr txBox="1"/>
          <p:nvPr/>
        </p:nvSpPr>
        <p:spPr>
          <a:xfrm>
            <a:off x="6858000" y="201168"/>
            <a:ext cx="1709928" cy="329184"/>
          </a:xfrm>
          <a:prstGeom prst="rect">
            <a:avLst/>
          </a:prstGeom>
          <a:noFill/>
          <a:ln/>
        </p:spPr>
        <p:txBody>
          <a:bodyPr wrap="square" lIns="0" tIns="0" rIns="0" bIns="0" rtlCol="0" anchor="ctr"/>
          <a:lstStyle/>
          <a:p>
            <a:pPr marL="0" indent="0" algn="ctr">
              <a:buNone/>
            </a:pPr>
            <a:r>
              <a:rPr lang="en-US" sz="1400" dirty="0">
                <a:solidFill>
                  <a:srgbClr val="6B7A88"/>
                </a:solidFill>
              </a:rPr>
              <a:t>3 자동화 시스템 ②</a:t>
            </a:r>
            <a:endParaRPr lang="en-US" sz="1400" dirty="0"/>
          </a:p>
        </p:txBody>
      </p:sp>
      <p:sp>
        <p:nvSpPr>
          <p:cNvPr id="5" name="nav3"/>
          <p:cNvSpPr txBox="1"/>
          <p:nvPr/>
        </p:nvSpPr>
        <p:spPr>
          <a:xfrm>
            <a:off x="8641080" y="201168"/>
            <a:ext cx="1435608" cy="329184"/>
          </a:xfrm>
          <a:prstGeom prst="rect">
            <a:avLst/>
          </a:prstGeom>
          <a:noFill/>
          <a:ln/>
        </p:spPr>
        <p:txBody>
          <a:bodyPr wrap="square" lIns="0" tIns="0" rIns="0" bIns="0" rtlCol="0" anchor="ctr"/>
          <a:lstStyle/>
          <a:p>
            <a:pPr marL="0" indent="0" algn="ctr">
              <a:buNone/>
            </a:pPr>
            <a:r>
              <a:rPr lang="en-US" sz="1400" dirty="0">
                <a:solidFill>
                  <a:srgbClr val="6B7A88"/>
                </a:solidFill>
              </a:rPr>
              <a:t>4 전후 비교 ③</a:t>
            </a:r>
            <a:endParaRPr lang="en-US" sz="1400" dirty="0"/>
          </a:p>
        </p:txBody>
      </p:sp>
      <p:sp>
        <p:nvSpPr>
          <p:cNvPr id="6" name="nav4"/>
          <p:cNvSpPr txBox="1"/>
          <p:nvPr/>
        </p:nvSpPr>
        <p:spPr>
          <a:xfrm>
            <a:off x="10149840" y="201168"/>
            <a:ext cx="1389888" cy="329184"/>
          </a:xfrm>
          <a:prstGeom prst="rect">
            <a:avLst/>
          </a:prstGeom>
          <a:solidFill>
            <a:srgbClr val="EAF4F5"/>
          </a:solidFill>
          <a:ln/>
        </p:spPr>
        <p:txBody>
          <a:bodyPr wrap="square" lIns="0" tIns="0" rIns="0" bIns="0" rtlCol="0" anchor="ctr"/>
          <a:lstStyle/>
          <a:p>
            <a:pPr marL="0" indent="0" algn="ctr">
              <a:buNone/>
            </a:pPr>
            <a:r>
              <a:rPr lang="en-US" sz="1400" b="1" dirty="0">
                <a:solidFill>
                  <a:srgbClr val="0E7C86"/>
                </a:solidFill>
              </a:rPr>
              <a:t>5 한계와 과제</a:t>
            </a:r>
            <a:endParaRPr lang="en-US" sz="1400" dirty="0"/>
          </a:p>
        </p:txBody>
      </p:sp>
      <p:sp>
        <p:nvSpPr>
          <p:cNvPr id="7" name="Text 0"/>
          <p:cNvSpPr>
            <a:spLocks noGrp="1"/>
          </p:cNvSpPr>
          <p:nvPr>
            <p:ph type="title" idx="101"/>
          </p:nvPr>
        </p:nvSpPr>
        <p:spPr>
          <a:xfrm>
            <a:off x="548640" y="621792"/>
            <a:ext cx="11064240" cy="658368"/>
          </a:xfrm>
          <a:prstGeom prst="rect">
            <a:avLst/>
          </a:prstGeom>
          <a:noFill/>
          <a:ln/>
        </p:spPr>
        <p:txBody>
          <a:bodyPr wrap="square" lIns="0" tIns="0" rIns="0" bIns="0" rtlCol="0" anchor="ctr"/>
          <a:lstStyle/>
          <a:p>
            <a:pPr marL="0" indent="0" algn="l">
              <a:buNone/>
            </a:pPr>
            <a:r>
              <a:rPr lang="en-US" sz="3600" b="1" dirty="0" err="1">
                <a:solidFill>
                  <a:schemeClr val="tx1"/>
                </a:solidFill>
              </a:rPr>
              <a:t>한계와</a:t>
            </a:r>
            <a:r>
              <a:rPr lang="en-US" sz="3600" b="1" dirty="0">
                <a:solidFill>
                  <a:schemeClr val="tx1"/>
                </a:solidFill>
              </a:rPr>
              <a:t> </a:t>
            </a:r>
            <a:r>
              <a:rPr lang="ko-KR" altLang="en-US" sz="3600" b="1" smtClean="0">
                <a:solidFill>
                  <a:schemeClr val="tx1"/>
                </a:solidFill>
              </a:rPr>
              <a:t>과제</a:t>
            </a:r>
            <a:endParaRPr lang="en-US" sz="3600" dirty="0"/>
          </a:p>
        </p:txBody>
      </p:sp>
      <p:sp>
        <p:nvSpPr>
          <p:cNvPr id="8" name="Text 0"/>
          <p:cNvSpPr>
            <a:spLocks noGrp="1"/>
          </p:cNvSpPr>
          <p:nvPr>
            <p:ph type="body" idx="102"/>
          </p:nvPr>
        </p:nvSpPr>
        <p:spPr>
          <a:xfrm>
            <a:off x="548640" y="1325880"/>
            <a:ext cx="11064240" cy="411480"/>
          </a:xfrm>
          <a:prstGeom prst="rect">
            <a:avLst/>
          </a:prstGeom>
          <a:noFill/>
          <a:ln/>
        </p:spPr>
        <p:txBody>
          <a:bodyPr wrap="square" lIns="0" tIns="0" rIns="0" bIns="0" rtlCol="0" anchor="ctr"/>
          <a:lstStyle/>
          <a:p>
            <a:pPr marL="0" indent="0" algn="l">
              <a:buNone/>
            </a:pPr>
            <a:r>
              <a:rPr lang="en-US" sz="2000" b="1" dirty="0">
                <a:solidFill>
                  <a:schemeClr val="accent1"/>
                </a:solidFill>
              </a:rPr>
              <a:t>▶ 효과 없는 자동화 4건은 10-07에 중단</a:t>
            </a:r>
            <a:endParaRPr lang="en-US" sz="2000" dirty="0"/>
          </a:p>
        </p:txBody>
      </p:sp>
      <p:sp>
        <p:nvSpPr>
          <p:cNvPr id="9" name="title-rule"/>
          <p:cNvSpPr/>
          <p:nvPr/>
        </p:nvSpPr>
        <p:spPr>
          <a:xfrm>
            <a:off x="548640" y="1810512"/>
            <a:ext cx="11064240" cy="0"/>
          </a:xfrm>
          <a:prstGeom prst="line">
            <a:avLst/>
          </a:prstGeom>
          <a:noFill/>
          <a:ln w="12700">
            <a:solidFill>
              <a:srgbClr val="D9E2EC"/>
            </a:solidFill>
            <a:prstDash val="solid"/>
          </a:ln>
        </p:spPr>
      </p:sp>
      <p:graphicFrame>
        <p:nvGraphicFramePr>
          <p:cNvPr id="13" name="lim-table"/>
          <p:cNvGraphicFramePr>
            <a:graphicFrameLocks noGrp="1"/>
          </p:cNvGraphicFramePr>
          <p:nvPr>
            <p:extLst>
              <p:ext uri="{D42A27DB-BD31-4B8C-83A1-F6EECF244321}">
                <p14:modId xmlns:p14="http://schemas.microsoft.com/office/powerpoint/2010/main" val="1579011935"/>
              </p:ext>
            </p:extLst>
          </p:nvPr>
        </p:nvGraphicFramePr>
        <p:xfrm>
          <a:off x="548640" y="2926080"/>
          <a:ext cx="11064240" cy="2468880"/>
        </p:xfrm>
        <a:graphic>
          <a:graphicData uri="http://schemas.openxmlformats.org/drawingml/2006/table">
            <a:tbl>
              <a:tblPr/>
              <a:tblGrid>
                <a:gridCol w="1920240"/>
                <a:gridCol w="4754880"/>
                <a:gridCol w="4389120"/>
              </a:tblGrid>
              <a:tr h="365760">
                <a:tc>
                  <a:txBody>
                    <a:bodyPr/>
                    <a:lstStyle/>
                    <a:p>
                      <a:pPr marL="0" indent="0">
                        <a:buNone/>
                      </a:pPr>
                      <a:r>
                        <a:rPr lang="en-US" sz="1700" b="1" dirty="0">
                          <a:solidFill>
                            <a:srgbClr val="FFFFFF"/>
                          </a:solidFill>
                          <a:latin typeface="맑은 고딕" pitchFamily="34" charset="0"/>
                          <a:ea typeface="맑은 고딕" pitchFamily="34" charset="-122"/>
                          <a:cs typeface="맑은 고딕" pitchFamily="34" charset="-120"/>
                        </a:rPr>
                        <a:t>구분</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marL="0" indent="0">
                        <a:buNone/>
                      </a:pPr>
                      <a:r>
                        <a:rPr lang="en-US" sz="1700" b="1" dirty="0">
                          <a:solidFill>
                            <a:srgbClr val="FFFFFF"/>
                          </a:solidFill>
                          <a:latin typeface="맑은 고딕" pitchFamily="34" charset="0"/>
                          <a:ea typeface="맑은 고딕" pitchFamily="34" charset="-122"/>
                          <a:cs typeface="맑은 고딕" pitchFamily="34" charset="-120"/>
                        </a:rPr>
                        <a:t>확인된 내용</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c>
                  <a:txBody>
                    <a:bodyPr/>
                    <a:lstStyle/>
                    <a:p>
                      <a:pPr marL="0" indent="0">
                        <a:buNone/>
                      </a:pPr>
                      <a:r>
                        <a:rPr lang="en-US" sz="1700" b="1" dirty="0">
                          <a:solidFill>
                            <a:srgbClr val="FFFFFF"/>
                          </a:solidFill>
                          <a:latin typeface="맑은 고딕" pitchFamily="34" charset="0"/>
                          <a:ea typeface="맑은 고딕" pitchFamily="34" charset="-122"/>
                          <a:cs typeface="맑은 고딕" pitchFamily="34" charset="-120"/>
                        </a:rPr>
                        <a:t>대응</a:t>
                      </a:r>
                      <a:endParaRPr lang="en-US" sz="17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1F2A36"/>
                    </a:solidFill>
                  </a:tcPr>
                </a:tc>
              </a:tr>
              <a:tr h="420624">
                <a:tc>
                  <a:txBody>
                    <a:bodyPr/>
                    <a:lstStyle/>
                    <a:p>
                      <a:pPr marL="0" indent="0">
                        <a:buNone/>
                      </a:pPr>
                      <a:r>
                        <a:rPr lang="en-US" sz="1400" b="1" dirty="0">
                          <a:solidFill>
                            <a:srgbClr val="1F2A36"/>
                          </a:solidFill>
                          <a:latin typeface="맑은 고딕" pitchFamily="34" charset="0"/>
                          <a:ea typeface="맑은 고딕" pitchFamily="34" charset="-122"/>
                          <a:cs typeface="맑은 고딕" pitchFamily="34" charset="-120"/>
                        </a:rPr>
                        <a:t>효과 없는 자동화</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400" dirty="0">
                          <a:solidFill>
                            <a:srgbClr val="1F2A36"/>
                          </a:solidFill>
                          <a:latin typeface="맑은 고딕" pitchFamily="34" charset="0"/>
                          <a:ea typeface="맑은 고딕" pitchFamily="34" charset="-122"/>
                          <a:cs typeface="맑은 고딕" pitchFamily="34" charset="-120"/>
                        </a:rPr>
                        <a:t>알림 메일 48통을 아무도 열지 않는 등 4건</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400" dirty="0">
                          <a:solidFill>
                            <a:srgbClr val="0E7C86"/>
                          </a:solidFill>
                          <a:latin typeface="맑은 고딕" pitchFamily="34" charset="0"/>
                          <a:ea typeface="맑은 고딕" pitchFamily="34" charset="-122"/>
                          <a:cs typeface="맑은 고딕" pitchFamily="34" charset="-120"/>
                        </a:rPr>
                        <a:t>10-07에 4건 중단</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420624">
                <a:tc>
                  <a:txBody>
                    <a:bodyPr/>
                    <a:lstStyle/>
                    <a:p>
                      <a:pPr marL="0" indent="0">
                        <a:buNone/>
                      </a:pPr>
                      <a:r>
                        <a:rPr lang="en-US" sz="1400" b="1" dirty="0">
                          <a:solidFill>
                            <a:srgbClr val="1F2A36"/>
                          </a:solidFill>
                          <a:latin typeface="맑은 고딕" pitchFamily="34" charset="0"/>
                          <a:ea typeface="맑은 고딕" pitchFamily="34" charset="-122"/>
                          <a:cs typeface="맑은 고딕" pitchFamily="34" charset="-120"/>
                        </a:rPr>
                        <a:t>정상으로 찍힌 실패</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400" dirty="0">
                          <a:solidFill>
                            <a:srgbClr val="1F2A36"/>
                          </a:solidFill>
                          <a:latin typeface="맑은 고딕" pitchFamily="34" charset="0"/>
                          <a:ea typeface="맑은 고딕" pitchFamily="34" charset="-122"/>
                          <a:cs typeface="맑은 고딕" pitchFamily="34" charset="-120"/>
                        </a:rPr>
                        <a:t>「정상 완료」로 남았지만 결과물이 없던 3건</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400" dirty="0">
                          <a:solidFill>
                            <a:srgbClr val="0E7C86"/>
                          </a:solidFill>
                          <a:latin typeface="맑은 고딕" pitchFamily="34" charset="0"/>
                          <a:ea typeface="맑은 고딕" pitchFamily="34" charset="-122"/>
                          <a:cs typeface="맑은 고딕" pitchFamily="34" charset="-120"/>
                        </a:rPr>
                        <a:t>결과물이 있는지로 정상 여부 판정</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420624">
                <a:tc>
                  <a:txBody>
                    <a:bodyPr/>
                    <a:lstStyle/>
                    <a:p>
                      <a:pPr marL="0" indent="0">
                        <a:buNone/>
                      </a:pPr>
                      <a:r>
                        <a:rPr lang="en-US" sz="1400" b="1" dirty="0">
                          <a:solidFill>
                            <a:srgbClr val="1F2A36"/>
                          </a:solidFill>
                          <a:latin typeface="맑은 고딕" pitchFamily="34" charset="0"/>
                          <a:ea typeface="맑은 고딕" pitchFamily="34" charset="-122"/>
                          <a:cs typeface="맑은 고딕" pitchFamily="34" charset="-120"/>
                        </a:rPr>
                        <a:t>AI 계산 오류</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400" dirty="0">
                          <a:solidFill>
                            <a:srgbClr val="1F2A36"/>
                          </a:solidFill>
                          <a:latin typeface="맑은 고딕" pitchFamily="34" charset="0"/>
                          <a:ea typeface="맑은 고딕" pitchFamily="34" charset="-122"/>
                          <a:cs typeface="맑은 고딕" pitchFamily="34" charset="-120"/>
                        </a:rPr>
                        <a:t>표준 인용 오류로 문서 19개 정정</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400" dirty="0">
                          <a:solidFill>
                            <a:srgbClr val="0E7C86"/>
                          </a:solidFill>
                          <a:latin typeface="맑은 고딕" pitchFamily="34" charset="0"/>
                          <a:ea typeface="맑은 고딕" pitchFamily="34" charset="-122"/>
                          <a:cs typeface="맑은 고딕" pitchFamily="34" charset="-120"/>
                        </a:rPr>
                        <a:t>출처와 신뢰도를 붙이고 현장 시험 후 적용</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r h="420624">
                <a:tc>
                  <a:txBody>
                    <a:bodyPr/>
                    <a:lstStyle/>
                    <a:p>
                      <a:pPr marL="0" indent="0">
                        <a:buNone/>
                      </a:pPr>
                      <a:r>
                        <a:rPr lang="en-US" sz="1400" b="1" dirty="0">
                          <a:solidFill>
                            <a:srgbClr val="1F2A36"/>
                          </a:solidFill>
                          <a:latin typeface="맑은 고딕" pitchFamily="34" charset="0"/>
                          <a:ea typeface="맑은 고딕" pitchFamily="34" charset="-122"/>
                          <a:cs typeface="맑은 고딕" pitchFamily="34" charset="-120"/>
                        </a:rPr>
                        <a:t>AI 문서 문체</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400" dirty="0">
                          <a:solidFill>
                            <a:srgbClr val="1F2A36"/>
                          </a:solidFill>
                          <a:latin typeface="맑은 고딕" pitchFamily="34" charset="0"/>
                          <a:ea typeface="맑은 고딕" pitchFamily="34" charset="-122"/>
                          <a:cs typeface="맑은 고딕" pitchFamily="34" charset="-120"/>
                        </a:rPr>
                        <a:t>보고서와 발표 자료가 보고서답지 않다는 지적</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c>
                  <a:txBody>
                    <a:bodyPr/>
                    <a:lstStyle/>
                    <a:p>
                      <a:pPr marL="0" indent="0">
                        <a:buNone/>
                      </a:pPr>
                      <a:r>
                        <a:rPr lang="en-US" sz="1400" dirty="0">
                          <a:solidFill>
                            <a:srgbClr val="0E7C86"/>
                          </a:solidFill>
                          <a:latin typeface="맑은 고딕" pitchFamily="34" charset="0"/>
                          <a:ea typeface="맑은 고딕" pitchFamily="34" charset="-122"/>
                          <a:cs typeface="맑은 고딕" pitchFamily="34" charset="-120"/>
                        </a:rPr>
                        <a:t>공식 양식과 논문을 대조해 작성 기준 마련</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FFFFF"/>
                    </a:solidFill>
                  </a:tcPr>
                </a:tc>
              </a:tr>
              <a:tr h="420624">
                <a:tc>
                  <a:txBody>
                    <a:bodyPr/>
                    <a:lstStyle/>
                    <a:p>
                      <a:pPr marL="0" indent="0">
                        <a:buNone/>
                      </a:pPr>
                      <a:r>
                        <a:rPr lang="en-US" sz="1400" b="1" dirty="0">
                          <a:solidFill>
                            <a:srgbClr val="1F2A36"/>
                          </a:solidFill>
                          <a:latin typeface="맑은 고딕" pitchFamily="34" charset="0"/>
                          <a:ea typeface="맑은 고딕" pitchFamily="34" charset="-122"/>
                          <a:cs typeface="맑은 고딕" pitchFamily="34" charset="-120"/>
                        </a:rPr>
                        <a:t>담당자 1명</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400" dirty="0">
                          <a:solidFill>
                            <a:srgbClr val="1F2A36"/>
                          </a:solidFill>
                          <a:latin typeface="맑은 고딕" pitchFamily="34" charset="0"/>
                          <a:ea typeface="맑은 고딕" pitchFamily="34" charset="-122"/>
                          <a:cs typeface="맑은 고딕" pitchFamily="34" charset="-120"/>
                        </a:rPr>
                        <a:t>만들고 고치는 사람이 1명</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c>
                  <a:txBody>
                    <a:bodyPr/>
                    <a:lstStyle/>
                    <a:p>
                      <a:pPr marL="0" indent="0">
                        <a:buNone/>
                      </a:pPr>
                      <a:r>
                        <a:rPr lang="en-US" sz="1400" dirty="0">
                          <a:solidFill>
                            <a:srgbClr val="0E7C86"/>
                          </a:solidFill>
                          <a:latin typeface="맑은 고딕" pitchFamily="34" charset="0"/>
                          <a:ea typeface="맑은 고딕" pitchFamily="34" charset="-122"/>
                          <a:cs typeface="맑은 고딕" pitchFamily="34" charset="-120"/>
                        </a:rPr>
                        <a:t>작업 기록과 결정 근거를 문서로 남김</a:t>
                      </a:r>
                      <a:endParaRPr lang="en-US" sz="1400" dirty="0">
                        <a:latin typeface="맑은 고딕" charset="0"/>
                        <a:ea typeface="맑은 고딕" charset="0"/>
                        <a:cs typeface="맑은 고딕" charset="0"/>
                      </a:endParaRPr>
                    </a:p>
                  </a:txBody>
                  <a:tcPr marL="101600" marR="101600" marT="50800" marB="50800" anchor="ctr">
                    <a:lnL w="9525" cap="flat" cmpd="sng" algn="ctr">
                      <a:solidFill>
                        <a:srgbClr val="D9E2EC"/>
                      </a:solidFill>
                      <a:prstDash val="solid"/>
                      <a:round/>
                      <a:headEnd type="none" w="med" len="med"/>
                      <a:tailEnd type="none" w="med" len="med"/>
                    </a:lnL>
                    <a:lnR w="9525" cap="flat" cmpd="sng" algn="ctr">
                      <a:solidFill>
                        <a:srgbClr val="D9E2EC"/>
                      </a:solidFill>
                      <a:prstDash val="solid"/>
                      <a:round/>
                      <a:headEnd type="none" w="med" len="med"/>
                      <a:tailEnd type="none" w="med" len="med"/>
                    </a:lnR>
                    <a:lnT w="9525" cap="flat" cmpd="sng" algn="ctr">
                      <a:solidFill>
                        <a:srgbClr val="D9E2EC"/>
                      </a:solidFill>
                      <a:prstDash val="solid"/>
                      <a:round/>
                      <a:headEnd type="none" w="med" len="med"/>
                      <a:tailEnd type="none" w="med" len="med"/>
                    </a:lnT>
                    <a:lnB w="9525" cap="flat" cmpd="sng" algn="ctr">
                      <a:solidFill>
                        <a:srgbClr val="D9E2EC"/>
                      </a:solidFill>
                      <a:prstDash val="solid"/>
                      <a:round/>
                      <a:headEnd type="none" w="med" len="med"/>
                      <a:tailEnd type="none" w="med" len="med"/>
                    </a:lnB>
                    <a:solidFill>
                      <a:srgbClr val="F4F6F8"/>
                    </a:solidFill>
                  </a:tcPr>
                </a:tc>
              </a:tr>
            </a:tbl>
          </a:graphicData>
        </a:graphic>
      </p:graphicFrame>
      <p:sp>
        <p:nvSpPr>
          <p:cNvPr id="11" name="cost-pct"/>
          <p:cNvSpPr txBox="1"/>
          <p:nvPr/>
        </p:nvSpPr>
        <p:spPr>
          <a:xfrm>
            <a:off x="548640" y="1920240"/>
            <a:ext cx="1737360" cy="822960"/>
          </a:xfrm>
          <a:prstGeom prst="rect">
            <a:avLst/>
          </a:prstGeom>
          <a:noFill/>
          <a:ln/>
        </p:spPr>
        <p:txBody>
          <a:bodyPr wrap="square" lIns="0" tIns="0" rIns="0" bIns="0" rtlCol="0" anchor="ctr"/>
          <a:lstStyle/>
          <a:p>
            <a:pPr marL="0" indent="0">
              <a:buNone/>
            </a:pPr>
            <a:r>
              <a:rPr lang="en-US" sz="4400" b="1" dirty="0">
                <a:solidFill>
                  <a:srgbClr val="E8930C"/>
                </a:solidFill>
              </a:rPr>
              <a:t>36</a:t>
            </a:r>
            <a:r>
              <a:rPr lang="en-US" sz="2200" b="1" dirty="0">
                <a:solidFill>
                  <a:srgbClr val="E8930C"/>
                </a:solidFill>
              </a:rPr>
              <a:t> %</a:t>
            </a:r>
            <a:endParaRPr lang="en-US" sz="4400" dirty="0"/>
          </a:p>
        </p:txBody>
      </p:sp>
      <p:sp>
        <p:nvSpPr>
          <p:cNvPr id="12" name="cost-h"/>
          <p:cNvSpPr txBox="1"/>
          <p:nvPr/>
        </p:nvSpPr>
        <p:spPr>
          <a:xfrm>
            <a:off x="2286000" y="1920240"/>
            <a:ext cx="7772400" cy="329184"/>
          </a:xfrm>
          <a:prstGeom prst="rect">
            <a:avLst/>
          </a:prstGeom>
          <a:noFill/>
          <a:ln/>
        </p:spPr>
        <p:txBody>
          <a:bodyPr wrap="square" lIns="0" tIns="0" rIns="0" bIns="0" rtlCol="0" anchor="ctr"/>
          <a:lstStyle/>
          <a:p>
            <a:pPr marL="0" indent="0">
              <a:buNone/>
            </a:pPr>
            <a:r>
              <a:rPr lang="en-US" sz="1600" b="1" dirty="0">
                <a:solidFill>
                  <a:srgbClr val="1F2A36"/>
                </a:solidFill>
              </a:rPr>
              <a:t>4주간 결정 84건 중 30건이 자동화 수리와 운영 (10-07 1차 판정)</a:t>
            </a:r>
            <a:endParaRPr lang="en-US" sz="1600" dirty="0"/>
          </a:p>
        </p:txBody>
      </p:sp>
      <p:graphicFrame>
        <p:nvGraphicFramePr>
          <p:cNvPr id="10" name="cost-chart"/>
          <p:cNvGraphicFramePr/>
          <p:nvPr/>
        </p:nvGraphicFramePr>
        <p:xfrm>
          <a:off x="2194560" y="2194560"/>
          <a:ext cx="9418320" cy="676656"/>
        </p:xfrm>
        <a:graphic>
          <a:graphicData uri="http://schemas.openxmlformats.org/drawingml/2006/chart">
            <c:chart xmlns:c="http://schemas.openxmlformats.org/drawingml/2006/chart" xmlns:r="http://schemas.openxmlformats.org/officeDocument/2006/relationships" r:id="rId3"/>
          </a:graphicData>
        </a:graphic>
      </p:graphicFrame>
      <p:sp>
        <p:nvSpPr>
          <p:cNvPr id="14" name="next"/>
          <p:cNvSpPr/>
          <p:nvPr/>
        </p:nvSpPr>
        <p:spPr>
          <a:xfrm>
            <a:off x="548640" y="5513832"/>
            <a:ext cx="11064240" cy="603504"/>
          </a:xfrm>
          <a:prstGeom prst="rect">
            <a:avLst/>
          </a:prstGeom>
          <a:solidFill>
            <a:srgbClr val="1F2A36"/>
          </a:solidFill>
          <a:ln w="9525">
            <a:solidFill>
              <a:srgbClr val="1F2A36"/>
            </a:solidFill>
            <a:prstDash val="solid"/>
          </a:ln>
        </p:spPr>
      </p:sp>
      <p:sp>
        <p:nvSpPr>
          <p:cNvPr id="15" name="next-t"/>
          <p:cNvSpPr txBox="1"/>
          <p:nvPr/>
        </p:nvSpPr>
        <p:spPr>
          <a:xfrm>
            <a:off x="777240" y="5513832"/>
            <a:ext cx="10698480" cy="603504"/>
          </a:xfrm>
          <a:prstGeom prst="rect">
            <a:avLst/>
          </a:prstGeom>
          <a:noFill/>
          <a:ln/>
        </p:spPr>
        <p:txBody>
          <a:bodyPr wrap="square" lIns="0" tIns="0" rIns="0" bIns="0" rtlCol="0" anchor="ctr"/>
          <a:lstStyle/>
          <a:p>
            <a:pPr marL="0" indent="0">
              <a:buNone/>
            </a:pPr>
            <a:r>
              <a:rPr lang="en-US" sz="1700" b="1" dirty="0">
                <a:solidFill>
                  <a:srgbClr val="FFFFFF"/>
                </a:solidFill>
              </a:rPr>
              <a:t>다음 과제: 11월 4일 자동화 2차 판정, 투입 목록 효과 재측정, 원목 연삭 테스트 3, CAM 출력 시험</a:t>
            </a:r>
            <a:endParaRPr lang="en-US" sz="1700" dirty="0"/>
          </a:p>
        </p:txBody>
      </p:sp>
      <p:sp>
        <p:nvSpPr>
          <p:cNvPr id="16" name="footnote"/>
          <p:cNvSpPr txBox="1"/>
          <p:nvPr/>
        </p:nvSpPr>
        <p:spPr>
          <a:xfrm>
            <a:off x="548640" y="6355080"/>
            <a:ext cx="5943600" cy="320040"/>
          </a:xfrm>
          <a:prstGeom prst="rect">
            <a:avLst/>
          </a:prstGeom>
          <a:noFill/>
          <a:ln/>
        </p:spPr>
        <p:txBody>
          <a:bodyPr wrap="square" lIns="0" tIns="0" rIns="0" bIns="0" rtlCol="0" anchor="ctr"/>
          <a:lstStyle/>
          <a:p>
            <a:pPr marL="0" indent="0">
              <a:buNone/>
            </a:pPr>
            <a:r>
              <a:rPr lang="en-US" sz="1200" dirty="0">
                <a:solidFill>
                  <a:srgbClr val="6B7A88"/>
                </a:solidFill>
              </a:rPr>
              <a:t>다른 팀도 바로 쓸 수 있는 것: 엑셀 보고 집계, 자료 정리, 문서 조사</a:t>
            </a:r>
            <a:endParaRPr lang="en-US" sz="1200" dirty="0"/>
          </a:p>
        </p:txBody>
      </p:sp>
      <p:sp>
        <p:nvSpPr>
          <p:cNvPr id="18" name="Text 0"/>
          <p:cNvSpPr>
            <a:spLocks noGrp="1"/>
          </p:cNvSpPr>
          <p:nvPr>
            <p:ph type="body" idx="100"/>
          </p:nvPr>
        </p:nvSpPr>
        <p:spPr>
          <a:xfrm>
            <a:off x="548640" y="320040"/>
            <a:ext cx="8229600" cy="320040"/>
          </a:xfrm>
          <a:prstGeom prst="rect">
            <a:avLst/>
          </a:prstGeom>
          <a:noFill/>
          <a:ln/>
        </p:spPr>
        <p:txBody>
          <a:bodyPr wrap="square" lIns="0" tIns="0" rIns="0" bIns="0" rtlCol="0"/>
          <a:lstStyle/>
          <a:p>
            <a:pPr marL="0" indent="0">
              <a:buNone/>
            </a:pP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xmlns="" val="0"/>
            </a:ext>
          </a:extLst>
        </p:spPr>
        <p:txBody>
          <a:bodyPr/>
          <a:lstStyle>
            <a:lvl1pPr>
              <a:defRPr sz="1100">
                <a:solidFill>
                  <a:schemeClr val="accent3"/>
                </a:solidFill>
              </a:defRPr>
            </a:lvl1pPr>
          </a:lstStyle>
          <a:p>
            <a:pPr algn="r"/>
            <a:fld id="{F7021451-1387-4CA6-816F-3879F97B5CBC}" type="slidenum">
              <a:rPr lang="en-US" b="0"/>
              <a:t>12</a:t>
            </a:fld>
            <a:endParaRPr lang="en-US"/>
          </a:p>
        </p:txBody>
      </p:sp>
    </p:spTree>
  </p:cSld>
  <p:clrMapOvr>
    <a:masterClrMapping/>
  </p:clrMapOvr>
</p:sld>
</file>

<file path=ppt/theme/theme1.xml><?xml version="1.0" encoding="utf-8"?>
<a:theme xmlns:a="http://schemas.openxmlformats.org/drawingml/2006/main" name="TOOLKOREA 생산팀">
  <a:themeElements>
    <a:clrScheme name="TOOLKOREA 생산팀">
      <a:dk1>
        <a:srgbClr val="1F2A36"/>
      </a:dk1>
      <a:lt1>
        <a:srgbClr val="FFFFFF"/>
      </a:lt1>
      <a:dk2>
        <a:srgbClr val="3A506B"/>
      </a:dk2>
      <a:lt2>
        <a:srgbClr val="F4F6F8"/>
      </a:lt2>
      <a:accent1>
        <a:srgbClr val="0E7C86"/>
      </a:accent1>
      <a:accent2>
        <a:srgbClr val="2C3E50"/>
      </a:accent2>
      <a:accent3>
        <a:srgbClr val="6B7A88"/>
      </a:accent3>
      <a:accent4>
        <a:srgbClr val="E8930C"/>
      </a:accent4>
      <a:accent5>
        <a:srgbClr val="D9E2EC"/>
      </a:accent5>
      <a:accent6>
        <a:srgbClr val="EAF4F5"/>
      </a:accent6>
      <a:hlink>
        <a:srgbClr val="0E7C86"/>
      </a:hlink>
      <a:folHlink>
        <a:srgbClr val="3A506B"/>
      </a:folHlink>
    </a:clrScheme>
    <a:fontScheme name="TOOLKOREA 생산팀">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2128</Words>
  <Application>Microsoft Office PowerPoint</Application>
  <PresentationFormat>사용자 지정</PresentationFormat>
  <Paragraphs>308</Paragraphs>
  <Slides>12</Slides>
  <Notes>12</Notes>
  <HiddenSlides>0</HiddenSlides>
  <MMClips>0</MMClips>
  <ScaleCrop>false</ScaleCrop>
  <HeadingPairs>
    <vt:vector size="4" baseType="variant">
      <vt:variant>
        <vt:lpstr>테마</vt:lpstr>
      </vt:variant>
      <vt:variant>
        <vt:i4>1</vt:i4>
      </vt:variant>
      <vt:variant>
        <vt:lpstr>슬라이드 제목</vt:lpstr>
      </vt:variant>
      <vt:variant>
        <vt:i4>12</vt:i4>
      </vt:variant>
    </vt:vector>
  </HeadingPairs>
  <TitlesOfParts>
    <vt:vector size="13" baseType="lpstr">
      <vt:lpstr>TOOLKOREA 생산팀</vt:lpstr>
      <vt:lpstr>현장 데이터의 정리와 업무 자동화</vt:lpstr>
      <vt:lpstr>목차</vt:lpstr>
      <vt:lpstr>추진 배경</vt:lpstr>
      <vt:lpstr>활용 현황_문서기록</vt:lpstr>
      <vt:lpstr>활용 현황_설계 프로그램 연결</vt:lpstr>
      <vt:lpstr>자동화 시스템 구성</vt:lpstr>
      <vt:lpstr>자동화 시스템 실행 화면</vt:lpstr>
      <vt:lpstr>자동화 시스템 질의응답</vt:lpstr>
      <vt:lpstr>업무 적용 전후 비교 _일일보고</vt:lpstr>
      <vt:lpstr>업무 적용 전후 비교 </vt:lpstr>
      <vt:lpstr>향후 과제 _생산 실적 ERP 단일 기록</vt:lpstr>
      <vt:lpstr>한계와 과제</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AI 활용 성과 — 파일럿 2기 (생산팀)</dc:title>
  <dc:subject>PptxGenJS Presentation</dc:subject>
  <dc:creator>생산팀</dc:creator>
  <cp:lastModifiedBy>TOOLKOREA</cp:lastModifiedBy>
  <cp:revision>5</cp:revision>
  <dcterms:created xsi:type="dcterms:W3CDTF">2026-10-23T05:34:48Z</dcterms:created>
  <dcterms:modified xsi:type="dcterms:W3CDTF">2026-10-23T05:52:25Z</dcterms:modified>
</cp:coreProperties>
</file>