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54b3bae2-9df9-408e-b448-8bb898cb3990}">
          <p14:sldIdLst>
            <p14:sldId id="256"/>
            <p14:sldId id="257"/>
          </p14:sldIdLst>
        </p14:section>
        <p14:section name="01 추진 배경" id="{f5259bf0-f72d-5015-430d-348551f9aaee}">
          <p14:sldIdLst>
            <p14:sldId id="258"/>
          </p14:sldIdLst>
        </p14:section>
        <p14:section name="02 활용 현황" id="{e8600a35-4f2f-b389-e656-d6597ceb2fbe}">
          <p14:sldIdLst>
            <p14:sldId id="259"/>
            <p14:sldId id="260"/>
            <p14:sldId id="261"/>
          </p14:sldIdLst>
        </p14:section>
        <p14:section name="03 자동화 시스템" id="{ab8b64ed-a4e7-143a-6f4b-33cbeefefa44}">
          <p14:sldIdLst>
            <p14:sldId id="262"/>
            <p14:sldId id="263"/>
            <p14:sldId id="264"/>
          </p14:sldIdLst>
        </p14:section>
        <p14:section name="04 전후 비교" id="{6f183c44-ab70-1df1-e80f-89302e247842}">
          <p14:sldIdLst>
            <p14:sldId id="265"/>
          </p14:sldIdLst>
        </p14:section>
        <p14:section name="05 한계와 과제" id="{caf4d0eb-8067-8df0-c629-aacd4db03883}">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6"/>
                </a:solidFill>
                <a:latin typeface="+mn-lt"/>
              </a:defRPr>
            </a:pPr>
            <a:r>
              <a:rPr sz="1400" b="0" i="0" u="none" strike="noStrike">
                <a:solidFill>
                  <a:srgbClr val="1F2A36"/>
                </a:solidFill>
                <a:latin typeface="+mn-lt"/>
              </a:rPr>
              <a:t>일일보고 월별 생성 건수 (건)</a:t>
            </a:r>
          </a:p>
        </c:rich>
      </c:tx>
      <c:layout/>
      <c:overlay val="0"/>
    </c:title>
    <c:autoTitleDeleted val="0"/>
    <c:plotArea>
      <c:layout/>
      <c:barChart>
        <c:barDir val="col"/>
        <c:grouping val="stacked"/>
        <c:varyColors val="0"/>
        <c:ser>
          <c:idx val="0"/>
          <c:order val="0"/>
          <c:tx>
            <c:strRef>
              <c:f>Sheet1!$B$1</c:f>
              <c:strCache>
                <c:ptCount val="1"/>
                <c:pt idx="0">
                  <c:v>소급·수동 생성 (6-09 일괄 등)</c:v>
                </c:pt>
              </c:strCache>
            </c:strRef>
          </c:tx>
          <c:spPr>
            <a:solidFill>
              <a:srgbClr val="6B7A8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Sheet1!$B$2:$B$8</c:f>
              <c:numCache>
                <c:formatCode>General</c:formatCode>
                <c:ptCount val="7"/>
                <c:pt idx="0">
                  <c:v>21</c:v>
                </c:pt>
                <c:pt idx="1">
                  <c:v>19</c:v>
                </c:pt>
                <c:pt idx="2">
                  <c:v>12</c:v>
                </c:pt>
                <c:pt idx="3">
                  <c:v>0</c:v>
                </c:pt>
                <c:pt idx="4">
                  <c:v>0</c:v>
                </c:pt>
                <c:pt idx="5">
                  <c:v>0</c:v>
                </c:pt>
                <c:pt idx="6">
                  <c:v>0</c:v>
                </c:pt>
              </c:numCache>
            </c:numRef>
          </c:val>
        </c:ser>
        <c:ser>
          <c:idx val="1"/>
          <c:order val="1"/>
          <c:tx>
            <c:strRef>
              <c:f>Sheet1!$C$1</c:f>
              <c:strCache>
                <c:ptCount val="1"/>
                <c:pt idx="0">
                  <c:v>매일 자동 생성 (6-18~)</c:v>
                </c:pt>
              </c:strCache>
            </c:strRef>
          </c:tx>
          <c:spPr>
            <a:solidFill>
              <a:srgbClr val="0E7C86"/>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Sheet1!$C$2:$C$8</c:f>
              <c:numCache>
                <c:formatCode>General</c:formatCode>
                <c:ptCount val="7"/>
                <c:pt idx="0">
                  <c:v>0</c:v>
                </c:pt>
                <c:pt idx="1">
                  <c:v>0</c:v>
                </c:pt>
                <c:pt idx="2">
                  <c:v>9</c:v>
                </c:pt>
                <c:pt idx="3">
                  <c:v>22</c:v>
                </c:pt>
                <c:pt idx="4">
                  <c:v>19</c:v>
                </c:pt>
                <c:pt idx="5">
                  <c:v>20</c:v>
                </c:pt>
                <c:pt idx="6">
                  <c:v>11</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자동화 수리·운영</c:v>
                </c:pt>
              </c:strCache>
            </c:strRef>
          </c:tx>
          <c:spPr>
            <a:solidFill>
              <a:srgbClr val="E8930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Sheet1!$C$2:$C$2</c:f>
              <c:numCache>
                <c:formatCode>General</c:formatCode>
                <c:ptCount val="1"/>
                <c:pt idx="0">
                  <c:v>54</c:v>
                </c:pt>
              </c:numCache>
            </c:numRef>
          </c:val>
        </c:ser>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순서입니다. 공지된 필수 항목 세 가지를 2·3·4장에 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(왼쪽 자료를 가리키며) 생산팀은 ANCA 장비 두 대로 재연마를 합니다. 왼쪽이 실제 쓰던 월간생산일지와 수리 발주서입니다. 자료가 ERP, 엑셀, PDF, 사람 머릿속에 흩어져 있었고, 일일보고 집계와 투입 판단을 매일 손으로 했습니다. 그래서 세 방향으로 추진했습니다 — 한곳에 기록, 반복은 자동 실행, 판단 근거는 남긴다.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핵심 수치입니다. 위키 138페이지, 결정 기록 약 300건 — 왜 그렇게 했는지 나중에 찾을 수 있습니다. 일일보고 133건 — 6월 중순부터는 매일 자동 생성, 단가표 1만여 건 자동 대조. 원칙은 모든 수치에 신뢰도를 붙이고, AI 수치는 현장 검증 후에만 쓴다는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활용 영역은 다섯 가지입니다. 2기에 새로 들어간 건 현장 판단 보조 — ERP 수주에서 이미 가공한 것을 빼고 장비별 투입 목록을 만드는 것 — 과 단가표·ERP 데이터 검수, 그리고 8월 로더 고장 때 진단부터 수리 검토보고까지 문서 작업입니다.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그래프는 일일보고 파일 수입니다. 회색은 6월 9일에 지난 분을 한꺼번에 만들거나 손으로 다시 만든 것이고, 청록이 그날그날 자동으로 생성된 것입니다. 6월 18일부터는 매달 영업일 수만큼 빠짐없이 쌓이고 있습니다. 오른쪽은 1기·2기 경과입니다 — 7월 가공 테스트, 8월 로더 고장 대응, 9월 ERP 연동과 투입 목록, 10월 효과 측정.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시스템을 들인 게 아니라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(화면을 짚으며) 왼쪽이 매일 자동으로 만들어지는 일일보고 — 16:00 시점 속보값이라 이후 입력분은 다음 날 「전일」 칸과 월 합계에서 확정됩니다 —, 가운데가 사내 현황판, 오른쪽이 장비별 투입 목록입니다. 투입 목록은 현장 의견을 받아 규칙을 일곱 번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전후 비교입니다. 일일보고는 4주 동안 하루도 빠지지 않고 자동 생성됐습니다. 절약 시간은 하루 15분 이하, 월 5시간 이하인데 정식으로 잰 값이 아니라 경험값이라고 표시했습니다. 결정 기록 약 300건, 수리 이력 17건, 단가표 1만여 건 대조는 실측입니다. 투입 목록은 셋업당 개수로 효과를 재는 도구까지 만들었지만, 기간이 짧고 추석과 장비 수리가 겹쳐 아직 효과라고 말하지 않겠습니다. (질문 대비: FG 7.5→6.7, GX7 3.6→4.9 합산 / 하루 평균 6.5→6.1)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한계도 분명히 있습니다. 결정의 36%가 자동화를 고치는 일이었습니다. 그래서 자동화마다 성적표를 매겼고, 알림 메일 48통을 아무도 안 읽은 것처럼 효과 없는 4건은 껐습니다. 정상이라고 찍혔는데 결과물이 없던 경우도 있어서 판정 기준을 바꿨고, AI 수치는 출처와 신뢰도를 붙여 현장에서 확인합니다. 1인 운용 리스크는 기록으로 대비하고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앞으로는 새 기능을 늘리기보다 지금 돌아가는 것의 효과를 확인하겠습니다. 11월 4일 성적표 2차 판정, 투입 목록 효과 재측정, ERP 실적 연동, 그리고 CAD 도면 보조는 시험 중입니다. 엑셀 보고 집계나 자료 정리는 다른 팀도 바로 쓸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rtlCol="0"/>
          <a:lstStyle>
            <a:lvl1pPr indent="0" marL="0">
              <a:buNone/>
              <a:defRPr lang="en-US" sz="1600" b="1" spc="200" kern="0"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algn="r" indent="0" marL="0">
              <a:buNone/>
            </a:pPr>
            <a:r>
              <a:rPr lang="en-US" sz="1100" dirty="0">
                <a:solidFill>
                  <a:schemeClr val="accent3"/>
                </a:solidFill>
              </a:rPr>
              <a:t>TOOLKOREA 생산팀 ·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lIns="0" tIns="0" rIns="0" bIns="0" rtlCol="0"/>
          <a:lstStyle/>
          <a:p>
            <a:pPr indent="0" marL="0">
              <a:buNone/>
            </a:pPr>
            <a:r>
              <a:rPr lang="en-US" sz="1600" b="1" spc="200" kern="0" dirty="0">
                <a:solidFill>
                  <a:schemeClr val="accent5"/>
                </a:solidFill>
              </a:rPr>
              <a:t>TOOLKOREA 생산팀  ·  Claude AI 파일럿 2기 성과 발표</a:t>
            </a: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lIns="0" tIns="0" rIns="0" bIns="0" rtlCol="0" anchor="t"/>
          <a:lstStyle/>
          <a:p>
            <a:pPr algn="l" indent="0" marL="0">
              <a:buNone/>
            </a:pPr>
            <a:r>
              <a:rPr lang="en-US" sz="4000" b="1" dirty="0">
                <a:solidFill>
                  <a:schemeClr val="bg1"/>
                </a:solidFill>
              </a:rPr>
              <a:t>재연마 현장 데이터의 정리와 업무 자동화</a:t>
            </a: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lIns="0" tIns="0" rIns="0" bIns="0" rtlCol="0" anchor="t"/>
          <a:lstStyle/>
          <a:p>
            <a:pPr algn="l" indent="0" marL="0">
              <a:buNone/>
            </a:pPr>
            <a:r>
              <a:rPr lang="en-US" sz="2000" dirty="0">
                <a:solidFill>
                  <a:schemeClr val="accent5"/>
                </a:solidFill>
              </a:rPr>
              <a:t>지식 기록 · 보고 자동화 · 현장 판단 보조 — 2기(2026. 7 ~ 10)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indent="0" marL="0">
              <a:buNone/>
            </a:pPr>
            <a:r>
              <a:rPr lang="en-US" sz="1800" dirty="0">
                <a:solidFill>
                  <a:srgbClr val="6B7A88"/>
                </a:solidFill>
              </a:rPr>
              <a:t>발표  </a:t>
            </a:r>
            <a:pPr indent="0" marL="0">
              <a:buNone/>
            </a:pPr>
            <a:r>
              <a:rPr lang="en-US" sz="1800" dirty="0">
                <a:solidFill>
                  <a:srgbClr val="FFFFFF"/>
                </a:solidFill>
              </a:rPr>
              <a:t>2026. 11. 10 (화)</a:t>
            </a:r>
            <a:endParaRPr lang="en-US" sz="1800" dirty="0"/>
          </a:p>
          <a:p>
            <a:pPr indent="0" marL="0">
              <a:buNone/>
            </a:pPr>
            <a:r>
              <a:rPr lang="en-US" sz="1800" dirty="0">
                <a:solidFill>
                  <a:srgbClr val="6B7A88"/>
                </a:solidFill>
              </a:rPr>
              <a:t>발표자  </a:t>
            </a:r>
            <a:pPr indent="0" marL="0">
              <a:buNone/>
            </a:pP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indent="0" marL="0">
              <a:buNone/>
            </a:pPr>
            <a:r>
              <a:rPr lang="en-US" sz="1200" dirty="0">
                <a:solidFill>
                  <a:srgbClr val="6B7A88"/>
                </a:solidFill>
              </a:rPr>
              <a:t>근거: 사내 지식 위키(cnc-wiki) 기록 · 자동화 실행 로그  |  자료 기준일 2026-10-19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CONTENTS</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발표 순서</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공지된 필수 3항목(①②③)을 4개 장에 나눠 담았습니다</a:t>
            </a:r>
            <a:endParaRPr lang="en-US" sz="2000" dirty="0"/>
          </a:p>
        </p:txBody>
      </p:sp>
      <p:sp>
        <p:nvSpPr>
          <p:cNvPr id="5"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6" name="toc0-n"/>
          <p:cNvSpPr txBox="1"/>
          <p:nvPr/>
        </p:nvSpPr>
        <p:spPr>
          <a:xfrm>
            <a:off x="777240" y="2011680"/>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01</a:t>
            </a:r>
            <a:endParaRPr lang="en-US" sz="2400" dirty="0"/>
          </a:p>
        </p:txBody>
      </p:sp>
      <p:sp>
        <p:nvSpPr>
          <p:cNvPr id="7" name="toc0-t"/>
          <p:cNvSpPr txBox="1"/>
          <p:nvPr/>
        </p:nvSpPr>
        <p:spPr>
          <a:xfrm>
            <a:off x="1645920" y="2011680"/>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추진 배경</a:t>
            </a:r>
            <a:endParaRPr lang="en-US" sz="2000" dirty="0"/>
          </a:p>
        </p:txBody>
      </p:sp>
      <p:sp>
        <p:nvSpPr>
          <p:cNvPr id="8" name="toc0-d"/>
          <p:cNvSpPr txBox="1"/>
          <p:nvPr/>
        </p:nvSpPr>
        <p:spPr>
          <a:xfrm>
            <a:off x="6217920" y="2011680"/>
            <a:ext cx="4023360" cy="676656"/>
          </a:xfrm>
          <a:prstGeom prst="rect">
            <a:avLst/>
          </a:prstGeom>
          <a:noFill/>
          <a:ln/>
        </p:spPr>
        <p:txBody>
          <a:bodyPr wrap="square" lIns="0" tIns="0" rIns="0" bIns="0" rtlCol="0" anchor="ctr"/>
          <a:lstStyle/>
          <a:p>
            <a:pPr indent="0" marL="0">
              <a:buNone/>
            </a:pPr>
            <a:r>
              <a:rPr lang="en-US" sz="1600" dirty="0">
                <a:solidFill>
                  <a:srgbClr val="6B7A88"/>
                </a:solidFill>
              </a:rPr>
              <a:t>현황과 문제점, 추진 방향</a:t>
            </a:r>
            <a:endParaRPr lang="en-US" sz="1600" dirty="0"/>
          </a:p>
        </p:txBody>
      </p:sp>
      <p:sp>
        <p:nvSpPr>
          <p:cNvPr id="9"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10" name="toc1-n"/>
          <p:cNvSpPr txBox="1"/>
          <p:nvPr/>
        </p:nvSpPr>
        <p:spPr>
          <a:xfrm>
            <a:off x="777240" y="2816352"/>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02</a:t>
            </a:r>
            <a:endParaRPr lang="en-US" sz="2400" dirty="0"/>
          </a:p>
        </p:txBody>
      </p:sp>
      <p:sp>
        <p:nvSpPr>
          <p:cNvPr id="11" name="toc1-t"/>
          <p:cNvSpPr txBox="1"/>
          <p:nvPr/>
        </p:nvSpPr>
        <p:spPr>
          <a:xfrm>
            <a:off x="1645920" y="2816352"/>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팀 내 Claude 활용 현황</a:t>
            </a:r>
            <a:endParaRPr lang="en-US" sz="2000" dirty="0"/>
          </a:p>
        </p:txBody>
      </p:sp>
      <p:sp>
        <p:nvSpPr>
          <p:cNvPr id="12" name="toc1-d"/>
          <p:cNvSpPr txBox="1"/>
          <p:nvPr/>
        </p:nvSpPr>
        <p:spPr>
          <a:xfrm>
            <a:off x="6217920" y="2816352"/>
            <a:ext cx="4023360" cy="676656"/>
          </a:xfrm>
          <a:prstGeom prst="rect">
            <a:avLst/>
          </a:prstGeom>
          <a:noFill/>
          <a:ln/>
        </p:spPr>
        <p:txBody>
          <a:bodyPr wrap="square" lIns="0" tIns="0" rIns="0" bIns="0" rtlCol="0" anchor="ctr"/>
          <a:lstStyle/>
          <a:p>
            <a:pPr indent="0" marL="0">
              <a:buNone/>
            </a:pPr>
            <a:r>
              <a:rPr lang="en-US" sz="1600" dirty="0">
                <a:solidFill>
                  <a:srgbClr val="6B7A88"/>
                </a:solidFill>
              </a:rPr>
              <a:t>핵심 수치 · 활용 영역 · 추진 경과</a:t>
            </a:r>
            <a:endParaRPr lang="en-US" sz="1600" dirty="0"/>
          </a:p>
        </p:txBody>
      </p:sp>
      <p:sp>
        <p:nvSpPr>
          <p:cNvPr id="13"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①</a:t>
            </a:r>
            <a:endParaRPr lang="en-US" sz="1400" dirty="0"/>
          </a:p>
        </p:txBody>
      </p:sp>
      <p:sp>
        <p:nvSpPr>
          <p:cNvPr id="14"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5" name="toc2-n"/>
          <p:cNvSpPr txBox="1"/>
          <p:nvPr/>
        </p:nvSpPr>
        <p:spPr>
          <a:xfrm>
            <a:off x="777240" y="3621024"/>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03</a:t>
            </a:r>
            <a:endParaRPr lang="en-US" sz="2400" dirty="0"/>
          </a:p>
        </p:txBody>
      </p:sp>
      <p:sp>
        <p:nvSpPr>
          <p:cNvPr id="16" name="toc2-t"/>
          <p:cNvSpPr txBox="1"/>
          <p:nvPr/>
        </p:nvSpPr>
        <p:spPr>
          <a:xfrm>
            <a:off x="1645920" y="3621024"/>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자동화 시스템 소개 및 시연</a:t>
            </a:r>
            <a:endParaRPr lang="en-US" sz="2000" dirty="0"/>
          </a:p>
        </p:txBody>
      </p:sp>
      <p:sp>
        <p:nvSpPr>
          <p:cNvPr id="17" name="toc2-d"/>
          <p:cNvSpPr txBox="1"/>
          <p:nvPr/>
        </p:nvSpPr>
        <p:spPr>
          <a:xfrm>
            <a:off x="6217920" y="3621024"/>
            <a:ext cx="4023360" cy="676656"/>
          </a:xfrm>
          <a:prstGeom prst="rect">
            <a:avLst/>
          </a:prstGeom>
          <a:noFill/>
          <a:ln/>
        </p:spPr>
        <p:txBody>
          <a:bodyPr wrap="square" lIns="0" tIns="0" rIns="0" bIns="0" rtlCol="0" anchor="ctr"/>
          <a:lstStyle/>
          <a:p>
            <a:pPr indent="0" marL="0">
              <a:buNone/>
            </a:pPr>
            <a:r>
              <a:rPr lang="en-US" sz="1600" dirty="0">
                <a:solidFill>
                  <a:srgbClr val="6B7A88"/>
                </a:solidFill>
              </a:rPr>
              <a:t>시스템 구성 · 실행 화면 · 질의응답</a:t>
            </a:r>
            <a:endParaRPr lang="en-US" sz="1600" dirty="0"/>
          </a:p>
        </p:txBody>
      </p:sp>
      <p:sp>
        <p:nvSpPr>
          <p:cNvPr id="18"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②</a:t>
            </a:r>
            <a:endParaRPr lang="en-US" sz="1400" dirty="0"/>
          </a:p>
        </p:txBody>
      </p:sp>
      <p:sp>
        <p:nvSpPr>
          <p:cNvPr id="19"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20" name="toc3-n"/>
          <p:cNvSpPr txBox="1"/>
          <p:nvPr/>
        </p:nvSpPr>
        <p:spPr>
          <a:xfrm>
            <a:off x="777240" y="4425696"/>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04</a:t>
            </a:r>
            <a:endParaRPr lang="en-US" sz="2400" dirty="0"/>
          </a:p>
        </p:txBody>
      </p:sp>
      <p:sp>
        <p:nvSpPr>
          <p:cNvPr id="21" name="toc3-t"/>
          <p:cNvSpPr txBox="1"/>
          <p:nvPr/>
        </p:nvSpPr>
        <p:spPr>
          <a:xfrm>
            <a:off x="1645920" y="4425696"/>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업무 적용 전후 비교</a:t>
            </a:r>
            <a:endParaRPr lang="en-US" sz="2000" dirty="0"/>
          </a:p>
        </p:txBody>
      </p:sp>
      <p:sp>
        <p:nvSpPr>
          <p:cNvPr id="22" name="toc3-d"/>
          <p:cNvSpPr txBox="1"/>
          <p:nvPr/>
        </p:nvSpPr>
        <p:spPr>
          <a:xfrm>
            <a:off x="6217920" y="4425696"/>
            <a:ext cx="4023360" cy="676656"/>
          </a:xfrm>
          <a:prstGeom prst="rect">
            <a:avLst/>
          </a:prstGeom>
          <a:noFill/>
          <a:ln/>
        </p:spPr>
        <p:txBody>
          <a:bodyPr wrap="square" lIns="0" tIns="0" rIns="0" bIns="0" rtlCol="0" anchor="ctr"/>
          <a:lstStyle/>
          <a:p>
            <a:pPr indent="0" marL="0">
              <a:buNone/>
            </a:pPr>
            <a:r>
              <a:rPr lang="en-US" sz="1600" dirty="0">
                <a:solidFill>
                  <a:srgbClr val="6B7A88"/>
                </a:solidFill>
              </a:rPr>
              <a:t>정량 비교 · 근거와 신뢰도</a:t>
            </a:r>
            <a:endParaRPr lang="en-US" sz="1600" dirty="0"/>
          </a:p>
        </p:txBody>
      </p:sp>
      <p:sp>
        <p:nvSpPr>
          <p:cNvPr id="23"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③</a:t>
            </a:r>
            <a:endParaRPr lang="en-US" sz="1400" dirty="0"/>
          </a:p>
        </p:txBody>
      </p:sp>
      <p:sp>
        <p:nvSpPr>
          <p:cNvPr id="24"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5" name="toc4-n"/>
          <p:cNvSpPr txBox="1"/>
          <p:nvPr/>
        </p:nvSpPr>
        <p:spPr>
          <a:xfrm>
            <a:off x="777240" y="5230368"/>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05</a:t>
            </a:r>
            <a:endParaRPr lang="en-US" sz="2400" dirty="0"/>
          </a:p>
        </p:txBody>
      </p:sp>
      <p:sp>
        <p:nvSpPr>
          <p:cNvPr id="26" name="toc4-t"/>
          <p:cNvSpPr txBox="1"/>
          <p:nvPr/>
        </p:nvSpPr>
        <p:spPr>
          <a:xfrm>
            <a:off x="1645920" y="5230368"/>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한계와 향후 과제</a:t>
            </a:r>
            <a:endParaRPr lang="en-US" sz="2000" dirty="0"/>
          </a:p>
        </p:txBody>
      </p:sp>
      <p:sp>
        <p:nvSpPr>
          <p:cNvPr id="27" name="toc4-d"/>
          <p:cNvSpPr txBox="1"/>
          <p:nvPr/>
        </p:nvSpPr>
        <p:spPr>
          <a:xfrm>
            <a:off x="6217920" y="5230368"/>
            <a:ext cx="4023360" cy="676656"/>
          </a:xfrm>
          <a:prstGeom prst="rect">
            <a:avLst/>
          </a:prstGeom>
          <a:noFill/>
          <a:ln/>
        </p:spPr>
        <p:txBody>
          <a:bodyPr wrap="square" lIns="0" tIns="0" rIns="0" bIns="0" rtlCol="0" anchor="ctr"/>
          <a:lstStyle/>
          <a:p>
            <a:pPr indent="0" marL="0">
              <a:buNone/>
            </a:pPr>
            <a:r>
              <a:rPr lang="en-US" sz="1600" dirty="0">
                <a:solidFill>
                  <a:srgbClr val="6B7A88"/>
                </a:solidFill>
              </a:rPr>
              <a:t>운영하며 확인한 한계 · 대응 · 다음 과제</a:t>
            </a:r>
            <a:endParaRPr lang="en-US" sz="16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01  추진 배경</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현황과 문제점</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재연마 업무의 자료는 다섯 곳에 흩어져 있었고, 집계와 판단은 매일 사람이 했습니다</a:t>
            </a:r>
            <a:endParaRPr lang="en-US" sz="2000" dirty="0"/>
          </a:p>
        </p:txBody>
      </p:sp>
      <p:sp>
        <p:nvSpPr>
          <p:cNvPr id="5" name="src0-cap"/>
          <p:cNvSpPr txBox="1"/>
          <p:nvPr/>
        </p:nvSpPr>
        <p:spPr>
          <a:xfrm>
            <a:off x="548640" y="1965960"/>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월간생산일지 엑셀 — 하루 1시트, 손으로 입력</a:t>
            </a:r>
            <a:endParaRPr lang="en-US" sz="1300" dirty="0"/>
          </a:p>
        </p:txBody>
      </p:sp>
      <p:pic>
        <p:nvPicPr>
          <p:cNvPr id="6" name="src0-img" descr="재연마 월간생산일지 엑셀 화면 (10-16 시트, 금액 열 숨김)">    </p:cNvPr>
          <p:cNvPicPr>
            <a:picLocks noChangeAspect="1"/>
          </p:cNvPicPr>
          <p:nvPr/>
        </p:nvPicPr>
        <p:blipFill>
          <a:blip r:embed="rId1"/>
          <a:stretch>
            <a:fillRect/>
          </a:stretch>
        </p:blipFill>
        <p:spPr>
          <a:xfrm>
            <a:off x="548640" y="2286000"/>
            <a:ext cx="4572000" cy="1569386"/>
          </a:xfrm>
          <a:prstGeom prst="rect">
            <a:avLst/>
          </a:prstGeom>
        </p:spPr>
      </p:pic>
      <p:sp>
        <p:nvSpPr>
          <p:cNvPr id="7" name="src0-frame"/>
          <p:cNvSpPr/>
          <p:nvPr/>
        </p:nvSpPr>
        <p:spPr>
          <a:xfrm>
            <a:off x="548640" y="2286000"/>
            <a:ext cx="4572000" cy="1569386"/>
          </a:xfrm>
          <a:prstGeom prst="rect">
            <a:avLst/>
          </a:prstGeom>
          <a:ln w="9525">
            <a:solidFill>
              <a:srgbClr val="D9E2EC"/>
            </a:solidFill>
            <a:prstDash val="solid"/>
          </a:ln>
        </p:spPr>
      </p:sp>
      <p:sp>
        <p:nvSpPr>
          <p:cNvPr id="8" name="src1-cap"/>
          <p:cNvSpPr txBox="1"/>
          <p:nvPr/>
        </p:nvSpPr>
        <p:spPr>
          <a:xfrm>
            <a:off x="548640" y="4041648"/>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수리 발주서 PDF — 장비 이력은 문서마다 따로</a:t>
            </a:r>
            <a:endParaRPr lang="en-US" sz="1300" dirty="0"/>
          </a:p>
        </p:txBody>
      </p:sp>
      <p:pic>
        <p:nvPicPr>
          <p:cNvPr id="9" name="src1-img" descr="장비 수리 발주서 PDF (연락처·주소 흐림 처리)">    </p:cNvPr>
          <p:cNvPicPr>
            <a:picLocks noChangeAspect="1"/>
          </p:cNvPicPr>
          <p:nvPr/>
        </p:nvPicPr>
        <p:blipFill>
          <a:blip r:embed="rId2"/>
          <a:stretch>
            <a:fillRect/>
          </a:stretch>
        </p:blipFill>
        <p:spPr>
          <a:xfrm>
            <a:off x="548640" y="4361688"/>
            <a:ext cx="3474720" cy="1737360"/>
          </a:xfrm>
          <a:prstGeom prst="rect">
            <a:avLst/>
          </a:prstGeom>
        </p:spPr>
      </p:pic>
      <p:sp>
        <p:nvSpPr>
          <p:cNvPr id="10" name="src1-frame"/>
          <p:cNvSpPr/>
          <p:nvPr/>
        </p:nvSpPr>
        <p:spPr>
          <a:xfrm>
            <a:off x="548640" y="4361688"/>
            <a:ext cx="3474720" cy="1737360"/>
          </a:xfrm>
          <a:prstGeom prst="rect">
            <a:avLst/>
          </a:prstGeom>
          <a:ln w="9525">
            <a:solidFill>
              <a:srgbClr val="D9E2EC"/>
            </a:solidFill>
            <a:prstDash val="solid"/>
          </a:ln>
        </p:spPr>
      </p:sp>
      <p:sp>
        <p:nvSpPr>
          <p:cNvPr id="11"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2" name="asis-h"/>
          <p:cNvSpPr txBox="1"/>
          <p:nvPr/>
        </p:nvSpPr>
        <p:spPr>
          <a:xfrm>
            <a:off x="5623560" y="2057400"/>
            <a:ext cx="5760720" cy="365760"/>
          </a:xfrm>
          <a:prstGeom prst="rect">
            <a:avLst/>
          </a:prstGeom>
          <a:noFill/>
          <a:ln/>
        </p:spPr>
        <p:txBody>
          <a:bodyPr wrap="square" lIns="0" tIns="0" rIns="0" bIns="0" rtlCol="0" anchor="ctr"/>
          <a:lstStyle/>
          <a:p>
            <a:pPr indent="0" marL="0">
              <a:buNone/>
            </a:pPr>
            <a:r>
              <a:rPr lang="en-US" sz="1700" b="1" dirty="0">
                <a:solidFill>
                  <a:srgbClr val="3A506B"/>
                </a:solidFill>
              </a:rPr>
              <a:t>현황 (도입 전)</a:t>
            </a:r>
            <a:endParaRPr lang="en-US" sz="1700" dirty="0"/>
          </a:p>
        </p:txBody>
      </p:sp>
      <p:sp>
        <p:nvSpPr>
          <p:cNvPr id="13"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자료 분산 — ERP · 엑셀 2종 · PDF · 개인 노하우</a:t>
            </a:r>
            <a:endParaRPr lang="en-US" sz="1700" dirty="0"/>
          </a:p>
          <a:p>
            <a:pPr marL="342900" indent="-342900">
              <a:spcAft>
                <a:spcPts val="600"/>
              </a:spcAft>
              <a:buSzPct val="100000"/>
              <a:buChar char="•"/>
            </a:pPr>
            <a:r>
              <a:rPr lang="en-US" sz="1700" dirty="0">
                <a:solidFill>
                  <a:srgbClr val="2C3E50"/>
                </a:solidFill>
              </a:rPr>
              <a:t>일일보고 집계 · 투입 판단을 매일 수작업</a:t>
            </a:r>
            <a:endParaRPr lang="en-US" sz="1700" dirty="0"/>
          </a:p>
          <a:p>
            <a:pPr marL="342900" indent="-342900">
              <a:spcAft>
                <a:spcPts val="600"/>
              </a:spcAft>
              <a:buSzPct val="100000"/>
              <a:buChar char="•"/>
            </a:pPr>
            <a:r>
              <a:rPr lang="en-US" sz="1700" dirty="0">
                <a:solidFill>
                  <a:srgbClr val="2C3E50"/>
                </a:solidFill>
              </a:rPr>
              <a:t>조건·고장 처리의 근거가 기록으로 남지 않음</a:t>
            </a:r>
            <a:endParaRPr lang="en-US" sz="1700" dirty="0"/>
          </a:p>
        </p:txBody>
      </p:sp>
      <p:sp>
        <p:nvSpPr>
          <p:cNvPr id="14"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15"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16" name="tobe-h"/>
          <p:cNvSpPr txBox="1"/>
          <p:nvPr/>
        </p:nvSpPr>
        <p:spPr>
          <a:xfrm>
            <a:off x="5623560" y="4480560"/>
            <a:ext cx="5760720" cy="365760"/>
          </a:xfrm>
          <a:prstGeom prst="rect">
            <a:avLst/>
          </a:prstGeom>
          <a:noFill/>
          <a:ln/>
        </p:spPr>
        <p:txBody>
          <a:bodyPr wrap="square" lIns="0" tIns="0" rIns="0" bIns="0" rtlCol="0" anchor="ctr"/>
          <a:lstStyle/>
          <a:p>
            <a:pPr indent="0" marL="0">
              <a:buNone/>
            </a:pPr>
            <a:r>
              <a:rPr lang="en-US" sz="1700" b="1" dirty="0">
                <a:solidFill>
                  <a:srgbClr val="0E7C86"/>
                </a:solidFill>
              </a:rPr>
              <a:t>추진 방향</a:t>
            </a:r>
            <a:endParaRPr lang="en-US" sz="1700" dirty="0"/>
          </a:p>
        </p:txBody>
      </p:sp>
      <p:sp>
        <p:nvSpPr>
          <p:cNvPr id="17"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한곳에 기록 — 출처·신뢰도와 함께 사내 위키로</a:t>
            </a:r>
            <a:endParaRPr lang="en-US" sz="1700" dirty="0"/>
          </a:p>
          <a:p>
            <a:pPr marL="342900" indent="-342900">
              <a:spcAft>
                <a:spcPts val="400"/>
              </a:spcAft>
              <a:buSzPct val="100000"/>
              <a:buChar char="•"/>
            </a:pPr>
            <a:r>
              <a:rPr lang="en-US" sz="1700" dirty="0">
                <a:solidFill>
                  <a:srgbClr val="2C3E50"/>
                </a:solidFill>
              </a:rPr>
              <a:t>반복은 자동 실행 — 업무 PC 예약 실행</a:t>
            </a:r>
            <a:endParaRPr lang="en-US" sz="1700" dirty="0"/>
          </a:p>
          <a:p>
            <a:pPr marL="342900" indent="-342900">
              <a:spcAft>
                <a:spcPts val="400"/>
              </a:spcAft>
              <a:buSzPct val="100000"/>
              <a:buChar char="•"/>
            </a:pPr>
            <a:r>
              <a:rPr lang="en-US" sz="1700" dirty="0">
                <a:solidFill>
                  <a:srgbClr val="2C3E50"/>
                </a:solidFill>
              </a:rPr>
              <a:t>판단 근거 보존 — 기존 값은 지우지 않고 이력으로</a:t>
            </a:r>
            <a:endParaRPr lang="en-US" sz="1700" dirty="0"/>
          </a:p>
        </p:txBody>
      </p:sp>
      <p:sp>
        <p:nvSpPr>
          <p:cNvPr id="1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생산팀 재연마 — 장비 2대(ANCA FastGrind · ANCA GX7)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핵심 수치</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생산팀 계정 1개로, 업무 PC 폴더를 연결해 대화로 정리·분석·자동화를 진행했습니다</a:t>
            </a:r>
            <a:endParaRPr lang="en-US" sz="2000" dirty="0"/>
          </a:p>
        </p:txBody>
      </p:sp>
      <p:sp>
        <p:nvSpPr>
          <p:cNvPr id="5" name="kpi0"/>
          <p:cNvSpPr/>
          <p:nvPr/>
        </p:nvSpPr>
        <p:spPr>
          <a:xfrm>
            <a:off x="548640" y="2011680"/>
            <a:ext cx="2066544" cy="2377440"/>
          </a:xfrm>
          <a:prstGeom prst="rect">
            <a:avLst/>
          </a:prstGeom>
          <a:solidFill>
            <a:srgbClr val="F4F6F8"/>
          </a:solidFill>
          <a:ln w="9525">
            <a:solidFill>
              <a:srgbClr val="D9E2EC"/>
            </a:solidFill>
            <a:prstDash val="solid"/>
          </a:ln>
        </p:spPr>
      </p:sp>
      <p:sp>
        <p:nvSpPr>
          <p:cNvPr id="6" name="kpi0-n"/>
          <p:cNvSpPr txBox="1"/>
          <p:nvPr/>
        </p:nvSpPr>
        <p:spPr>
          <a:xfrm>
            <a:off x="640080"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138</a:t>
            </a:r>
            <a:pPr algn="ctr" indent="0" marL="0">
              <a:buNone/>
            </a:pPr>
            <a:r>
              <a:rPr lang="en-US" sz="1500" b="1" dirty="0">
                <a:solidFill>
                  <a:srgbClr val="1F2A36"/>
                </a:solidFill>
              </a:rPr>
              <a:t> 페이지</a:t>
            </a:r>
            <a:endParaRPr lang="en-US" sz="3400" dirty="0"/>
          </a:p>
        </p:txBody>
      </p:sp>
      <p:sp>
        <p:nvSpPr>
          <p:cNvPr id="7" name="kpi0-l"/>
          <p:cNvSpPr txBox="1"/>
          <p:nvPr/>
        </p:nvSpPr>
        <p:spPr>
          <a:xfrm>
            <a:off x="640080"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지식 위키</a:t>
            </a:r>
            <a:endParaRPr lang="en-US" sz="1800" dirty="0"/>
          </a:p>
          <a:p>
            <a:pPr algn="ctr" indent="0" marL="0">
              <a:buNone/>
            </a:pPr>
            <a:r>
              <a:rPr lang="en-US" sz="1400" dirty="0">
                <a:solidFill>
                  <a:srgbClr val="6B7A88"/>
                </a:solidFill>
              </a:rPr>
              <a:t>장비 · 휠 · 연삭 조건 · 수리</a:t>
            </a:r>
            <a:endParaRPr lang="en-US" sz="1800" dirty="0"/>
          </a:p>
        </p:txBody>
      </p:sp>
      <p:sp>
        <p:nvSpPr>
          <p:cNvPr id="8" name="kpi1"/>
          <p:cNvSpPr/>
          <p:nvPr/>
        </p:nvSpPr>
        <p:spPr>
          <a:xfrm>
            <a:off x="2798064" y="2011680"/>
            <a:ext cx="2066544" cy="2377440"/>
          </a:xfrm>
          <a:prstGeom prst="rect">
            <a:avLst/>
          </a:prstGeom>
          <a:solidFill>
            <a:srgbClr val="F4F6F8"/>
          </a:solidFill>
          <a:ln w="9525">
            <a:solidFill>
              <a:srgbClr val="D9E2EC"/>
            </a:solidFill>
            <a:prstDash val="solid"/>
          </a:ln>
        </p:spPr>
      </p:sp>
      <p:sp>
        <p:nvSpPr>
          <p:cNvPr id="9" name="kpi1-n"/>
          <p:cNvSpPr txBox="1"/>
          <p:nvPr/>
        </p:nvSpPr>
        <p:spPr>
          <a:xfrm>
            <a:off x="2889504"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약 300</a:t>
            </a:r>
            <a:pPr algn="ctr" indent="0" marL="0">
              <a:buNone/>
            </a:pPr>
            <a:r>
              <a:rPr lang="en-US" sz="1500" b="1" dirty="0">
                <a:solidFill>
                  <a:srgbClr val="1F2A36"/>
                </a:solidFill>
              </a:rPr>
              <a:t> 건</a:t>
            </a:r>
            <a:endParaRPr lang="en-US" sz="3400" dirty="0"/>
          </a:p>
        </p:txBody>
      </p:sp>
      <p:sp>
        <p:nvSpPr>
          <p:cNvPr id="10" name="kpi1-l"/>
          <p:cNvSpPr txBox="1"/>
          <p:nvPr/>
        </p:nvSpPr>
        <p:spPr>
          <a:xfrm>
            <a:off x="2889504"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결정 기록</a:t>
            </a:r>
            <a:endParaRPr lang="en-US" sz="1800" dirty="0"/>
          </a:p>
          <a:p>
            <a:pPr algn="ctr" indent="0" marL="0">
              <a:buNone/>
            </a:pPr>
            <a:r>
              <a:rPr lang="en-US" sz="1400" dirty="0">
                <a:solidFill>
                  <a:srgbClr val="6B7A88"/>
                </a:solidFill>
              </a:rPr>
              <a:t>근거 · 대안 · 영향</a:t>
            </a:r>
            <a:endParaRPr lang="en-US" sz="1800" dirty="0"/>
          </a:p>
        </p:txBody>
      </p:sp>
      <p:sp>
        <p:nvSpPr>
          <p:cNvPr id="11" name="kpi2"/>
          <p:cNvSpPr/>
          <p:nvPr/>
        </p:nvSpPr>
        <p:spPr>
          <a:xfrm>
            <a:off x="5047488" y="2011680"/>
            <a:ext cx="2066544" cy="2377440"/>
          </a:xfrm>
          <a:prstGeom prst="rect">
            <a:avLst/>
          </a:prstGeom>
          <a:solidFill>
            <a:srgbClr val="F4F6F8"/>
          </a:solidFill>
          <a:ln w="9525">
            <a:solidFill>
              <a:srgbClr val="D9E2EC"/>
            </a:solidFill>
            <a:prstDash val="solid"/>
          </a:ln>
        </p:spPr>
      </p:sp>
      <p:sp>
        <p:nvSpPr>
          <p:cNvPr id="12" name="kpi2-n"/>
          <p:cNvSpPr txBox="1"/>
          <p:nvPr/>
        </p:nvSpPr>
        <p:spPr>
          <a:xfrm>
            <a:off x="5138928"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133</a:t>
            </a:r>
            <a:pPr algn="ctr" indent="0" marL="0">
              <a:buNone/>
            </a:pPr>
            <a:r>
              <a:rPr lang="en-US" sz="1500" b="1" dirty="0">
                <a:solidFill>
                  <a:srgbClr val="1F2A36"/>
                </a:solidFill>
              </a:rPr>
              <a:t> 건</a:t>
            </a:r>
            <a:endParaRPr lang="en-US" sz="3400" dirty="0"/>
          </a:p>
        </p:txBody>
      </p:sp>
      <p:sp>
        <p:nvSpPr>
          <p:cNvPr id="13" name="kpi2-l"/>
          <p:cNvSpPr txBox="1"/>
          <p:nvPr/>
        </p:nvSpPr>
        <p:spPr>
          <a:xfrm>
            <a:off x="5138928"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일일보고 생성</a:t>
            </a:r>
            <a:endParaRPr lang="en-US" sz="1800" dirty="0"/>
          </a:p>
          <a:p>
            <a:pPr algn="ctr" indent="0" marL="0">
              <a:buNone/>
            </a:pPr>
            <a:r>
              <a:rPr lang="en-US" sz="1400" dirty="0">
                <a:solidFill>
                  <a:srgbClr val="6B7A88"/>
                </a:solidFill>
              </a:rPr>
              <a:t>6월 중순부터 매일 자동</a:t>
            </a:r>
            <a:endParaRPr lang="en-US" sz="1800" dirty="0"/>
          </a:p>
        </p:txBody>
      </p:sp>
      <p:sp>
        <p:nvSpPr>
          <p:cNvPr id="14" name="kpi3"/>
          <p:cNvSpPr/>
          <p:nvPr/>
        </p:nvSpPr>
        <p:spPr>
          <a:xfrm>
            <a:off x="7296912" y="2011680"/>
            <a:ext cx="2066544" cy="2377440"/>
          </a:xfrm>
          <a:prstGeom prst="rect">
            <a:avLst/>
          </a:prstGeom>
          <a:solidFill>
            <a:srgbClr val="F4F6F8"/>
          </a:solidFill>
          <a:ln w="9525">
            <a:solidFill>
              <a:srgbClr val="D9E2EC"/>
            </a:solidFill>
            <a:prstDash val="solid"/>
          </a:ln>
        </p:spPr>
      </p:sp>
      <p:sp>
        <p:nvSpPr>
          <p:cNvPr id="15" name="kpi3-n"/>
          <p:cNvSpPr txBox="1"/>
          <p:nvPr/>
        </p:nvSpPr>
        <p:spPr>
          <a:xfrm>
            <a:off x="7388352"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10,744</a:t>
            </a:r>
            <a:pPr algn="ctr" indent="0" marL="0">
              <a:buNone/>
            </a:pPr>
            <a:r>
              <a:rPr lang="en-US" sz="1500" b="1" dirty="0">
                <a:solidFill>
                  <a:srgbClr val="1F2A36"/>
                </a:solidFill>
              </a:rPr>
              <a:t> 건</a:t>
            </a:r>
            <a:endParaRPr lang="en-US" sz="3400" dirty="0"/>
          </a:p>
        </p:txBody>
      </p:sp>
      <p:sp>
        <p:nvSpPr>
          <p:cNvPr id="16" name="kpi3-l"/>
          <p:cNvSpPr txBox="1"/>
          <p:nvPr/>
        </p:nvSpPr>
        <p:spPr>
          <a:xfrm>
            <a:off x="7388352"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단가표 자동 대조</a:t>
            </a:r>
            <a:endParaRPr lang="en-US" sz="1800" dirty="0"/>
          </a:p>
          <a:p>
            <a:pPr algn="ctr" indent="0" marL="0">
              <a:buNone/>
            </a:pPr>
            <a:r>
              <a:rPr lang="en-US" sz="1400" dirty="0">
                <a:solidFill>
                  <a:srgbClr val="6B7A88"/>
                </a:solidFill>
              </a:rPr>
              <a:t>재연마 단가표 검수</a:t>
            </a:r>
            <a:endParaRPr lang="en-US" sz="1800" dirty="0"/>
          </a:p>
        </p:txBody>
      </p:sp>
      <p:sp>
        <p:nvSpPr>
          <p:cNvPr id="17" name="kpi4"/>
          <p:cNvSpPr/>
          <p:nvPr/>
        </p:nvSpPr>
        <p:spPr>
          <a:xfrm>
            <a:off x="9546336" y="2011680"/>
            <a:ext cx="2066544" cy="2377440"/>
          </a:xfrm>
          <a:prstGeom prst="rect">
            <a:avLst/>
          </a:prstGeom>
          <a:solidFill>
            <a:srgbClr val="F4F6F8"/>
          </a:solidFill>
          <a:ln w="9525">
            <a:solidFill>
              <a:srgbClr val="D9E2EC"/>
            </a:solidFill>
            <a:prstDash val="solid"/>
          </a:ln>
        </p:spPr>
      </p:sp>
      <p:sp>
        <p:nvSpPr>
          <p:cNvPr id="18" name="kpi4-n"/>
          <p:cNvSpPr txBox="1"/>
          <p:nvPr/>
        </p:nvSpPr>
        <p:spPr>
          <a:xfrm>
            <a:off x="9637776"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55</a:t>
            </a:r>
            <a:pPr algn="ctr" indent="0" marL="0">
              <a:buNone/>
            </a:pPr>
            <a:r>
              <a:rPr lang="en-US" sz="1500" b="1" dirty="0">
                <a:solidFill>
                  <a:srgbClr val="1F2A36"/>
                </a:solidFill>
              </a:rPr>
              <a:t> 개</a:t>
            </a:r>
            <a:endParaRPr lang="en-US" sz="3400" dirty="0"/>
          </a:p>
        </p:txBody>
      </p:sp>
      <p:sp>
        <p:nvSpPr>
          <p:cNvPr id="19" name="kpi4-l"/>
          <p:cNvSpPr txBox="1"/>
          <p:nvPr/>
        </p:nvSpPr>
        <p:spPr>
          <a:xfrm>
            <a:off x="9637776"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자동화 스크립트</a:t>
            </a:r>
            <a:endParaRPr lang="en-US" sz="1800" dirty="0"/>
          </a:p>
          <a:p>
            <a:pPr algn="ctr" indent="0" marL="0">
              <a:buNone/>
            </a:pPr>
            <a:r>
              <a:rPr lang="en-US" sz="1400" dirty="0">
                <a:solidFill>
                  <a:srgbClr val="6B7A88"/>
                </a:solidFill>
              </a:rPr>
              <a:t>Python</a:t>
            </a:r>
            <a:endParaRPr lang="en-US" sz="1800" dirty="0"/>
          </a:p>
        </p:txBody>
      </p:sp>
      <p:sp>
        <p:nvSpPr>
          <p:cNvPr id="20" name="rule-box"/>
          <p:cNvSpPr/>
          <p:nvPr/>
        </p:nvSpPr>
        <p:spPr>
          <a:xfrm>
            <a:off x="548640" y="4709160"/>
            <a:ext cx="11064240" cy="1371600"/>
          </a:xfrm>
          <a:prstGeom prst="rect">
            <a:avLst/>
          </a:prstGeom>
          <a:solidFill>
            <a:srgbClr val="FFFFFF"/>
          </a:solidFill>
          <a:ln w="9525">
            <a:solidFill>
              <a:srgbClr val="D9E2EC"/>
            </a:solidFill>
            <a:prstDash val="solid"/>
          </a:ln>
        </p:spPr>
      </p:sp>
      <p:sp>
        <p:nvSpPr>
          <p:cNvPr id="21" name="rule-h"/>
          <p:cNvSpPr txBox="1"/>
          <p:nvPr/>
        </p:nvSpPr>
        <p:spPr>
          <a:xfrm>
            <a:off x="777240" y="4846320"/>
            <a:ext cx="1828800" cy="365760"/>
          </a:xfrm>
          <a:prstGeom prst="rect">
            <a:avLst/>
          </a:prstGeom>
          <a:noFill/>
          <a:ln/>
        </p:spPr>
        <p:txBody>
          <a:bodyPr wrap="square" lIns="0" tIns="0" rIns="0" bIns="0" rtlCol="0" anchor="ctr"/>
          <a:lstStyle/>
          <a:p>
            <a:pPr indent="0" marL="0">
              <a:buNone/>
            </a:pPr>
            <a:r>
              <a:rPr lang="en-US" sz="1600" b="1" dirty="0">
                <a:solidFill>
                  <a:srgbClr val="0E7C86"/>
                </a:solidFill>
              </a:rPr>
              <a:t>운영 원칙</a:t>
            </a:r>
            <a:endParaRPr lang="en-US" sz="1600" dirty="0"/>
          </a:p>
        </p:txBody>
      </p:sp>
      <p:sp>
        <p:nvSpPr>
          <p:cNvPr id="22" name="rule-t"/>
          <p:cNvSpPr txBox="1"/>
          <p:nvPr/>
        </p:nvSpPr>
        <p:spPr>
          <a:xfrm>
            <a:off x="777240" y="5212080"/>
            <a:ext cx="10607040" cy="77724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모든 수치에 단위와 신뢰도 표기 (제조사 기준 / 실측 검증 / 사내 경험값 / 추정값)</a:t>
            </a:r>
            <a:endParaRPr lang="en-US" sz="1700" dirty="0"/>
          </a:p>
          <a:p>
            <a:pPr marL="342900" indent="-342900">
              <a:spcAft>
                <a:spcPts val="400"/>
              </a:spcAft>
              <a:buSzPct val="100000"/>
              <a:buChar char="•"/>
            </a:pPr>
            <a:r>
              <a:rPr lang="en-US" sz="1700" dirty="0">
                <a:solidFill>
                  <a:srgbClr val="2C3E50"/>
                </a:solidFill>
              </a:rPr>
              <a:t>AI 가 낸 수치·조건은 참고값 — 현장 검증 후 적용, 기존 값은 지우지 않고 이력으로 보존</a:t>
            </a:r>
            <a:endParaRPr lang="en-US" sz="1700" dirty="0"/>
          </a:p>
        </p:txBody>
      </p:sp>
      <p:sp>
        <p:nvSpPr>
          <p:cNvPr id="2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근거: 위키 자동 집계 · 결정 기록 · 중간보고(09-14)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활용 영역</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기록 · 자동화 · 판단 보조 · 검수 · 문서 작성 다섯 영역에 쓰고 있습니다</a:t>
            </a:r>
            <a:endParaRPr lang="en-US" sz="2000" dirty="0"/>
          </a:p>
        </p:txBody>
      </p:sp>
      <p:graphicFrame>
        <p:nvGraphicFramePr>
          <p:cNvPr id="6" name="area-table"/>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1920240"/>
                <a:gridCol w="5394960"/>
                <a:gridCol w="374904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지식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장비·휠·연삭 조건·수리 이력 정리, 결정마다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위키 138페이지 ·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일일보고 엑셀 생성, 사내 현황판 배포 (매일 07:50 · 16:00)</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일일보고 133건 (6월 중순~ 매일 자동)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수주 − 가공 완료분 → 장비별 투입 목록 (납기순 · 형상 묶음)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09-28 가동 · 규칙 보강 7회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단가표 대조, 작업일지 파싱, ERP 조회 연동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단가표 10,744건 · ERP 5개 화면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설비 대응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로더 고장 진단 · 수리 검토보고 ·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F · GX7 로더 진단 →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현장 판단 보조·데이터 검수는 2기에 새로 시작한 영역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추진 경과</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6월 중순부터 일일보고가 매일 자동으로 만들어지고 있습니다 — 그 이전 분은 소급·수동 생성</a:t>
            </a:r>
            <a:endParaRPr lang="en-US" sz="2000" dirty="0"/>
          </a:p>
        </p:txBody>
      </p:sp>
      <p:graphicFrame>
        <p:nvGraphicFramePr>
          <p:cNvPr id="5" name="daily-chart" descr=""/>
          <p:cNvGraphicFramePr/>
          <p:nvPr/>
        </p:nvGraphicFramePr>
        <p:xfrm>
          <a:off x="548640" y="19202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6" name="tl-panel"/>
          <p:cNvSpPr/>
          <p:nvPr/>
        </p:nvSpPr>
        <p:spPr>
          <a:xfrm>
            <a:off x="7680960" y="1920240"/>
            <a:ext cx="3931920" cy="4206240"/>
          </a:xfrm>
          <a:prstGeom prst="rect">
            <a:avLst/>
          </a:prstGeom>
          <a:solidFill>
            <a:srgbClr val="F4F6F8"/>
          </a:solidFill>
          <a:ln w="9525">
            <a:solidFill>
              <a:srgbClr val="D9E2EC"/>
            </a:solidFill>
            <a:prstDash val="solid"/>
          </a:ln>
        </p:spPr>
      </p:sp>
      <p:sp>
        <p:nvSpPr>
          <p:cNvPr id="7" name="tl-h"/>
          <p:cNvSpPr txBox="1"/>
          <p:nvPr/>
        </p:nvSpPr>
        <p:spPr>
          <a:xfrm>
            <a:off x="7909560" y="2011680"/>
            <a:ext cx="3474720" cy="411480"/>
          </a:xfrm>
          <a:prstGeom prst="rect">
            <a:avLst/>
          </a:prstGeom>
          <a:noFill/>
          <a:ln/>
        </p:spPr>
        <p:txBody>
          <a:bodyPr wrap="square" lIns="0" tIns="0" rIns="0" bIns="0" rtlCol="0" anchor="ctr"/>
          <a:lstStyle/>
          <a:p>
            <a:pPr indent="0" marL="0">
              <a:buNone/>
            </a:pPr>
            <a:r>
              <a:rPr lang="en-US" sz="1700" b="1" dirty="0">
                <a:solidFill>
                  <a:srgbClr val="1F2A36"/>
                </a:solidFill>
              </a:rPr>
              <a:t>추진 경과</a:t>
            </a:r>
            <a:endParaRPr lang="en-US" sz="1700" dirty="0"/>
          </a:p>
        </p:txBody>
      </p:sp>
      <p:sp>
        <p:nvSpPr>
          <p:cNvPr id="8" name="tl0-m"/>
          <p:cNvSpPr txBox="1"/>
          <p:nvPr/>
        </p:nvSpPr>
        <p:spPr>
          <a:xfrm>
            <a:off x="7909560" y="2514600"/>
            <a:ext cx="3474720" cy="292608"/>
          </a:xfrm>
          <a:prstGeom prst="rect">
            <a:avLst/>
          </a:prstGeom>
          <a:noFill/>
          <a:ln/>
        </p:spPr>
        <p:txBody>
          <a:bodyPr wrap="square" lIns="0" tIns="0" rIns="0" bIns="0" rtlCol="0" anchor="ctr"/>
          <a:lstStyle/>
          <a:p>
            <a:pPr indent="0" marL="0">
              <a:buNone/>
            </a:pPr>
            <a:r>
              <a:rPr lang="en-US" sz="1400" b="1" dirty="0">
                <a:solidFill>
                  <a:srgbClr val="6B7A88"/>
                </a:solidFill>
              </a:rPr>
              <a:t>1기 · 4~6월</a:t>
            </a:r>
            <a:endParaRPr lang="en-US" sz="1400" dirty="0"/>
          </a:p>
        </p:txBody>
      </p:sp>
      <p:sp>
        <p:nvSpPr>
          <p:cNvPr id="9" name="tl0-t"/>
          <p:cNvSpPr txBox="1"/>
          <p:nvPr/>
        </p:nvSpPr>
        <p:spPr>
          <a:xfrm>
            <a:off x="7909560" y="2807208"/>
            <a:ext cx="3474720" cy="347472"/>
          </a:xfrm>
          <a:prstGeom prst="rect">
            <a:avLst/>
          </a:prstGeom>
          <a:noFill/>
          <a:ln/>
        </p:spPr>
        <p:txBody>
          <a:bodyPr wrap="square" lIns="0" tIns="0" rIns="0" bIns="0" rtlCol="0" anchor="ctr"/>
          <a:lstStyle/>
          <a:p>
            <a:pPr indent="0" marL="0">
              <a:buNone/>
            </a:pPr>
            <a:r>
              <a:rPr lang="en-US" sz="1500" dirty="0">
                <a:solidFill>
                  <a:srgbClr val="2C3E50"/>
                </a:solidFill>
              </a:rPr>
              <a:t>기록 체계 구축 · 일일보고 자동화</a:t>
            </a:r>
            <a:endParaRPr lang="en-US" sz="1500" dirty="0"/>
          </a:p>
        </p:txBody>
      </p:sp>
      <p:sp>
        <p:nvSpPr>
          <p:cNvPr id="10" name="tl1-m"/>
          <p:cNvSpPr txBox="1"/>
          <p:nvPr/>
        </p:nvSpPr>
        <p:spPr>
          <a:xfrm>
            <a:off x="7909560" y="3218688"/>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7월</a:t>
            </a:r>
            <a:endParaRPr lang="en-US" sz="1400" dirty="0"/>
          </a:p>
        </p:txBody>
      </p:sp>
      <p:sp>
        <p:nvSpPr>
          <p:cNvPr id="11" name="tl1-t"/>
          <p:cNvSpPr txBox="1"/>
          <p:nvPr/>
        </p:nvSpPr>
        <p:spPr>
          <a:xfrm>
            <a:off x="7909560" y="3511296"/>
            <a:ext cx="3474720" cy="347472"/>
          </a:xfrm>
          <a:prstGeom prst="rect">
            <a:avLst/>
          </a:prstGeom>
          <a:noFill/>
          <a:ln/>
        </p:spPr>
        <p:txBody>
          <a:bodyPr wrap="square" lIns="0" tIns="0" rIns="0" bIns="0" rtlCol="0" anchor="ctr"/>
          <a:lstStyle/>
          <a:p>
            <a:pPr indent="0" marL="0">
              <a:buNone/>
            </a:pPr>
            <a:r>
              <a:rPr lang="en-US" sz="1500" dirty="0">
                <a:solidFill>
                  <a:srgbClr val="2C3E50"/>
                </a:solidFill>
              </a:rPr>
              <a:t>가공 테스트 · 보고서 양식</a:t>
            </a:r>
            <a:endParaRPr lang="en-US" sz="1500" dirty="0"/>
          </a:p>
        </p:txBody>
      </p:sp>
      <p:sp>
        <p:nvSpPr>
          <p:cNvPr id="12" name="tl2-m"/>
          <p:cNvSpPr txBox="1"/>
          <p:nvPr/>
        </p:nvSpPr>
        <p:spPr>
          <a:xfrm>
            <a:off x="7909560" y="3922776"/>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8월</a:t>
            </a:r>
            <a:endParaRPr lang="en-US" sz="1400" dirty="0"/>
          </a:p>
        </p:txBody>
      </p:sp>
      <p:sp>
        <p:nvSpPr>
          <p:cNvPr id="13" name="tl2-t"/>
          <p:cNvSpPr txBox="1"/>
          <p:nvPr/>
        </p:nvSpPr>
        <p:spPr>
          <a:xfrm>
            <a:off x="7909560" y="4215384"/>
            <a:ext cx="3474720" cy="347472"/>
          </a:xfrm>
          <a:prstGeom prst="rect">
            <a:avLst/>
          </a:prstGeom>
          <a:noFill/>
          <a:ln/>
        </p:spPr>
        <p:txBody>
          <a:bodyPr wrap="square" lIns="0" tIns="0" rIns="0" bIns="0" rtlCol="0" anchor="ctr"/>
          <a:lstStyle/>
          <a:p>
            <a:pPr indent="0" marL="0">
              <a:buNone/>
            </a:pPr>
            <a:r>
              <a:rPr lang="en-US" sz="1500" dirty="0">
                <a:solidFill>
                  <a:srgbClr val="2C3E50"/>
                </a:solidFill>
              </a:rPr>
              <a:t>F · GX7 로더 고장 대응</a:t>
            </a:r>
            <a:endParaRPr lang="en-US" sz="1500" dirty="0"/>
          </a:p>
        </p:txBody>
      </p:sp>
      <p:sp>
        <p:nvSpPr>
          <p:cNvPr id="14" name="tl3-m"/>
          <p:cNvSpPr txBox="1"/>
          <p:nvPr/>
        </p:nvSpPr>
        <p:spPr>
          <a:xfrm>
            <a:off x="7909560" y="4626864"/>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9월</a:t>
            </a:r>
            <a:endParaRPr lang="en-US" sz="1400" dirty="0"/>
          </a:p>
        </p:txBody>
      </p:sp>
      <p:sp>
        <p:nvSpPr>
          <p:cNvPr id="15" name="tl3-t"/>
          <p:cNvSpPr txBox="1"/>
          <p:nvPr/>
        </p:nvSpPr>
        <p:spPr>
          <a:xfrm>
            <a:off x="7909560" y="4919472"/>
            <a:ext cx="3474720" cy="347472"/>
          </a:xfrm>
          <a:prstGeom prst="rect">
            <a:avLst/>
          </a:prstGeom>
          <a:noFill/>
          <a:ln/>
        </p:spPr>
        <p:txBody>
          <a:bodyPr wrap="square" lIns="0" tIns="0" rIns="0" bIns="0" rtlCol="0" anchor="ctr"/>
          <a:lstStyle/>
          <a:p>
            <a:pPr indent="0" marL="0">
              <a:buNone/>
            </a:pPr>
            <a:r>
              <a:rPr lang="en-US" sz="1500" dirty="0">
                <a:solidFill>
                  <a:srgbClr val="2C3E50"/>
                </a:solidFill>
              </a:rPr>
              <a:t>ERP 연동 · 투입 목록 가동</a:t>
            </a:r>
            <a:endParaRPr lang="en-US" sz="1500" dirty="0"/>
          </a:p>
        </p:txBody>
      </p:sp>
      <p:sp>
        <p:nvSpPr>
          <p:cNvPr id="16" name="tl4-m"/>
          <p:cNvSpPr txBox="1"/>
          <p:nvPr/>
        </p:nvSpPr>
        <p:spPr>
          <a:xfrm>
            <a:off x="7909560" y="5330952"/>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10월</a:t>
            </a:r>
            <a:endParaRPr lang="en-US" sz="1400" dirty="0"/>
          </a:p>
        </p:txBody>
      </p:sp>
      <p:sp>
        <p:nvSpPr>
          <p:cNvPr id="17" name="tl4-t"/>
          <p:cNvSpPr txBox="1"/>
          <p:nvPr/>
        </p:nvSpPr>
        <p:spPr>
          <a:xfrm>
            <a:off x="7909560" y="5623560"/>
            <a:ext cx="3474720" cy="347472"/>
          </a:xfrm>
          <a:prstGeom prst="rect">
            <a:avLst/>
          </a:prstGeom>
          <a:noFill/>
          <a:ln/>
        </p:spPr>
        <p:txBody>
          <a:bodyPr wrap="square" lIns="0" tIns="0" rIns="0" bIns="0" rtlCol="0" anchor="ctr"/>
          <a:lstStyle/>
          <a:p>
            <a:pPr indent="0" marL="0">
              <a:buNone/>
            </a:pPr>
            <a:r>
              <a:rPr lang="en-US" sz="1500" dirty="0">
                <a:solidFill>
                  <a:srgbClr val="2C3E50"/>
                </a:solidFill>
              </a:rPr>
              <a:t>효과 측정 · 효과 없는 자동화 중단</a:t>
            </a:r>
            <a:endParaRPr lang="en-US" sz="1500" dirty="0"/>
          </a:p>
        </p:txBody>
      </p:sp>
      <p:sp>
        <p:nvSpPr>
          <p:cNvPr id="1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파일 수정 시각 실측 · *10월은 19일까지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03  자동화 시스템 소개  |  필수 ②</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시스템 구성</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기존 자료를 그대로 읽어, 업무 PC 가 정해진 시각에 결과물을 만들어 배포합니다</a:t>
            </a:r>
            <a:endParaRPr lang="en-US" sz="2000" dirty="0"/>
          </a:p>
        </p:txBody>
      </p:sp>
      <p:sp>
        <p:nvSpPr>
          <p:cNvPr id="5"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6" name="col0-h"/>
          <p:cNvSpPr txBox="1"/>
          <p:nvPr/>
        </p:nvSpPr>
        <p:spPr>
          <a:xfrm>
            <a:off x="73152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입력 — 기존 자료</a:t>
            </a:r>
            <a:endParaRPr lang="en-US" sz="1700" dirty="0"/>
          </a:p>
        </p:txBody>
      </p:sp>
      <p:sp>
        <p:nvSpPr>
          <p:cNvPr id="7"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8" name="col0-t0"/>
          <p:cNvSpPr txBox="1"/>
          <p:nvPr/>
        </p:nvSpPr>
        <p:spPr>
          <a:xfrm>
            <a:off x="868680" y="269748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수주 · A/S 조회</a:t>
            </a:r>
            <a:endParaRPr lang="en-US" sz="1700" dirty="0"/>
          </a:p>
        </p:txBody>
      </p:sp>
      <p:sp>
        <p:nvSpPr>
          <p:cNvPr id="9"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10" name="col0-t1"/>
          <p:cNvSpPr txBox="1"/>
          <p:nvPr/>
        </p:nvSpPr>
        <p:spPr>
          <a:xfrm>
            <a:off x="868680" y="374904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월간생산일지 (엑셀)</a:t>
            </a:r>
            <a:endParaRPr lang="en-US" sz="1700" dirty="0"/>
          </a:p>
        </p:txBody>
      </p:sp>
      <p:sp>
        <p:nvSpPr>
          <p:cNvPr id="11"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2" name="col0-t2"/>
          <p:cNvSpPr txBox="1"/>
          <p:nvPr/>
        </p:nvSpPr>
        <p:spPr>
          <a:xfrm>
            <a:off x="868680" y="480060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출하현황 (엑셀)</a:t>
            </a:r>
            <a:endParaRPr lang="en-US" sz="1700" dirty="0"/>
          </a:p>
        </p:txBody>
      </p:sp>
      <p:sp>
        <p:nvSpPr>
          <p:cNvPr id="13"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4" name="col1-h"/>
          <p:cNvSpPr txBox="1"/>
          <p:nvPr/>
        </p:nvSpPr>
        <p:spPr>
          <a:xfrm>
            <a:off x="4526280" y="2103120"/>
            <a:ext cx="3108960" cy="411480"/>
          </a:xfrm>
          <a:prstGeom prst="rect">
            <a:avLst/>
          </a:prstGeom>
          <a:noFill/>
          <a:ln/>
        </p:spPr>
        <p:txBody>
          <a:bodyPr wrap="square" lIns="0" tIns="0" rIns="0" bIns="0" rtlCol="0" anchor="ctr"/>
          <a:lstStyle/>
          <a:p>
            <a:pPr indent="0" marL="0">
              <a:buNone/>
            </a:pPr>
            <a:r>
              <a:rPr lang="en-US" sz="1700" b="1" dirty="0">
                <a:solidFill>
                  <a:srgbClr val="0E7C86"/>
                </a:solidFill>
              </a:rPr>
              <a:t>처리 — 업무 PC</a:t>
            </a:r>
            <a:endParaRPr lang="en-US" sz="1700" dirty="0"/>
          </a:p>
        </p:txBody>
      </p:sp>
      <p:sp>
        <p:nvSpPr>
          <p:cNvPr id="15"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16" name="col1-t0"/>
          <p:cNvSpPr txBox="1"/>
          <p:nvPr/>
        </p:nvSpPr>
        <p:spPr>
          <a:xfrm>
            <a:off x="4663440" y="2697480"/>
            <a:ext cx="2834640" cy="868680"/>
          </a:xfrm>
          <a:prstGeom prst="rect">
            <a:avLst/>
          </a:prstGeom>
          <a:noFill/>
          <a:ln/>
        </p:spPr>
        <p:txBody>
          <a:bodyPr wrap="square" lIns="0" tIns="0" rIns="0" bIns="0" rtlCol="0" anchor="ctr"/>
          <a:lstStyle/>
          <a:p>
            <a:pPr indent="0" marL="0">
              <a:buNone/>
            </a:pPr>
            <a:r>
              <a:rPr lang="en-US" sz="1700" dirty="0">
                <a:solidFill>
                  <a:srgbClr val="2C3E50"/>
                </a:solidFill>
              </a:rPr>
              <a:t>예약 실행 — 07:50 · 16:00</a:t>
            </a:r>
            <a:endParaRPr lang="en-US" sz="1700" dirty="0"/>
          </a:p>
        </p:txBody>
      </p:sp>
      <p:sp>
        <p:nvSpPr>
          <p:cNvPr id="17"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18" name="col1-t1"/>
          <p:cNvSpPr txBox="1"/>
          <p:nvPr/>
        </p:nvSpPr>
        <p:spPr>
          <a:xfrm>
            <a:off x="4663440" y="3749040"/>
            <a:ext cx="2834640" cy="868680"/>
          </a:xfrm>
          <a:prstGeom prst="rect">
            <a:avLst/>
          </a:prstGeom>
          <a:noFill/>
          <a:ln/>
        </p:spPr>
        <p:txBody>
          <a:bodyPr wrap="square" lIns="0" tIns="0" rIns="0" bIns="0" rtlCol="0" anchor="ctr"/>
          <a:lstStyle/>
          <a:p>
            <a:pPr indent="0" marL="0">
              <a:buNone/>
            </a:pPr>
            <a:r>
              <a:rPr lang="en-US" sz="1700" dirty="0">
                <a:solidFill>
                  <a:srgbClr val="2C3E50"/>
                </a:solidFill>
              </a:rPr>
              <a:t>Python 스크립트 — 집계 · 대조 · 배정</a:t>
            </a:r>
            <a:endParaRPr lang="en-US" sz="1700" dirty="0"/>
          </a:p>
        </p:txBody>
      </p:sp>
      <p:sp>
        <p:nvSpPr>
          <p:cNvPr id="19"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20" name="col1-t2"/>
          <p:cNvSpPr txBox="1"/>
          <p:nvPr/>
        </p:nvSpPr>
        <p:spPr>
          <a:xfrm>
            <a:off x="4663440" y="4800600"/>
            <a:ext cx="2834640" cy="868680"/>
          </a:xfrm>
          <a:prstGeom prst="rect">
            <a:avLst/>
          </a:prstGeom>
          <a:noFill/>
          <a:ln/>
        </p:spPr>
        <p:txBody>
          <a:bodyPr wrap="square" lIns="0" tIns="0" rIns="0" bIns="0" rtlCol="0" anchor="ctr"/>
          <a:lstStyle/>
          <a:p>
            <a:pPr indent="0" marL="0">
              <a:buNone/>
            </a:pPr>
            <a:r>
              <a:rPr lang="en-US" sz="1700" dirty="0">
                <a:solidFill>
                  <a:srgbClr val="2C3E50"/>
                </a:solidFill>
              </a:rPr>
              <a:t>Claude — 스크립트 작성 · 점검 · 기록</a:t>
            </a:r>
            <a:endParaRPr lang="en-US" sz="1700" dirty="0"/>
          </a:p>
        </p:txBody>
      </p:sp>
      <p:sp>
        <p:nvSpPr>
          <p:cNvPr id="21"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2" name="col2-h"/>
          <p:cNvSpPr txBox="1"/>
          <p:nvPr/>
        </p:nvSpPr>
        <p:spPr>
          <a:xfrm>
            <a:off x="868680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출력 — 결과물</a:t>
            </a:r>
            <a:endParaRPr lang="en-US" sz="1700" dirty="0"/>
          </a:p>
        </p:txBody>
      </p:sp>
      <p:sp>
        <p:nvSpPr>
          <p:cNvPr id="23"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4" name="col2-t0"/>
          <p:cNvSpPr txBox="1"/>
          <p:nvPr/>
        </p:nvSpPr>
        <p:spPr>
          <a:xfrm>
            <a:off x="8823960" y="269748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일일보고 엑셀</a:t>
            </a:r>
            <a:endParaRPr lang="en-US" sz="1700" dirty="0"/>
          </a:p>
        </p:txBody>
      </p:sp>
      <p:sp>
        <p:nvSpPr>
          <p:cNvPr id="25"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26" name="col2-t1"/>
          <p:cNvSpPr txBox="1"/>
          <p:nvPr/>
        </p:nvSpPr>
        <p:spPr>
          <a:xfrm>
            <a:off x="8823960" y="352044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사내 현황판 (공유폴더)</a:t>
            </a:r>
            <a:endParaRPr lang="en-US" sz="1700" dirty="0"/>
          </a:p>
        </p:txBody>
      </p:sp>
      <p:sp>
        <p:nvSpPr>
          <p:cNvPr id="27"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28" name="col2-t2"/>
          <p:cNvSpPr txBox="1"/>
          <p:nvPr/>
        </p:nvSpPr>
        <p:spPr>
          <a:xfrm>
            <a:off x="8823960" y="434340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장비별 투입 목록</a:t>
            </a:r>
            <a:endParaRPr lang="en-US" sz="1700" dirty="0"/>
          </a:p>
        </p:txBody>
      </p:sp>
      <p:sp>
        <p:nvSpPr>
          <p:cNvPr id="29"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30" name="col2-t3"/>
          <p:cNvSpPr txBox="1"/>
          <p:nvPr/>
        </p:nvSpPr>
        <p:spPr>
          <a:xfrm>
            <a:off x="8823960" y="516636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지식 위키 · 결정 기록</a:t>
            </a:r>
            <a:endParaRPr lang="en-US" sz="1700" dirty="0"/>
          </a:p>
        </p:txBody>
      </p:sp>
      <p:sp>
        <p:nvSpPr>
          <p:cNvPr id="31"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2"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새 시스템을 들이지 않고, 기존 엑셀·ERP 를 그대로 읽는 방식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03  자동화 시스템 시연  |  필수 ②</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실행 화면</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출근하면 일일보고·현황판·투입 목록이 이미 만들어져 있습니다</a:t>
            </a:r>
            <a:endParaRPr lang="en-US" sz="2000" dirty="0"/>
          </a:p>
        </p:txBody>
      </p:sp>
      <p:sp>
        <p:nvSpPr>
          <p:cNvPr id="5" name="cap0"/>
          <p:cNvSpPr/>
          <p:nvPr/>
        </p:nvSpPr>
        <p:spPr>
          <a:xfrm>
            <a:off x="548640" y="1965960"/>
            <a:ext cx="3566160" cy="3291840"/>
          </a:xfrm>
          <a:prstGeom prst="rect">
            <a:avLst/>
          </a:prstGeom>
          <a:solidFill>
            <a:srgbClr val="F4F6F8"/>
          </a:solidFill>
          <a:ln w="9525">
            <a:solidFill>
              <a:srgbClr val="D9E2EC"/>
            </a:solidFill>
            <a:prstDash val="solid"/>
          </a:ln>
        </p:spPr>
      </p:sp>
      <p:pic>
        <p:nvPicPr>
          <p:cNvPr id="6" name="cap0-img" descr="일일보고 엑셀 화면 (거래처명은 A·B·C 로 바꿈)">    </p:cNvPr>
          <p:cNvPicPr>
            <a:picLocks noChangeAspect="1"/>
          </p:cNvPicPr>
          <p:nvPr/>
        </p:nvPicPr>
        <p:blipFill>
          <a:blip r:embed="rId1"/>
          <a:stretch>
            <a:fillRect/>
          </a:stretch>
        </p:blipFill>
        <p:spPr>
          <a:xfrm>
            <a:off x="640080" y="2976652"/>
            <a:ext cx="3383280" cy="1270456"/>
          </a:xfrm>
          <a:prstGeom prst="rect">
            <a:avLst/>
          </a:prstGeom>
        </p:spPr>
      </p:pic>
      <p:sp>
        <p:nvSpPr>
          <p:cNvPr id="7" name="cap0-cap"/>
          <p:cNvSpPr txBox="1"/>
          <p:nvPr/>
        </p:nvSpPr>
        <p:spPr>
          <a:xfrm>
            <a:off x="54864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일일보고 엑셀</a:t>
            </a:r>
            <a:endParaRPr lang="en-US" sz="1700" dirty="0"/>
          </a:p>
          <a:p>
            <a:pPr indent="0" marL="0">
              <a:buNone/>
            </a:pPr>
            <a:r>
              <a:rPr lang="en-US" sz="1400" dirty="0">
                <a:solidFill>
                  <a:srgbClr val="6B7A88"/>
                </a:solidFill>
              </a:rPr>
              <a:t>16:00 속보값 · 확정치는 다음 날 「전일」 칸</a:t>
            </a:r>
            <a:endParaRPr lang="en-US" sz="1700" dirty="0"/>
          </a:p>
        </p:txBody>
      </p:sp>
      <p:sp>
        <p:nvSpPr>
          <p:cNvPr id="8" name="cap1"/>
          <p:cNvSpPr/>
          <p:nvPr/>
        </p:nvSpPr>
        <p:spPr>
          <a:xfrm>
            <a:off x="4297680" y="1965960"/>
            <a:ext cx="3566160" cy="3291840"/>
          </a:xfrm>
          <a:prstGeom prst="rect">
            <a:avLst/>
          </a:prstGeom>
          <a:solidFill>
            <a:srgbClr val="F4F6F8"/>
          </a:solidFill>
          <a:ln w="9525">
            <a:solidFill>
              <a:srgbClr val="D9E2EC"/>
            </a:solidFill>
            <a:prstDash val="solid"/>
          </a:ln>
        </p:spPr>
      </p:sp>
      <p:pic>
        <p:nvPicPr>
          <p:cNvPr id="9" name="cap1-img" descr="사내 현황판 화면 (거래처명은 A·B·C 로 바꿈)">    </p:cNvPr>
          <p:cNvPicPr>
            <a:picLocks noChangeAspect="1"/>
          </p:cNvPicPr>
          <p:nvPr/>
        </p:nvPicPr>
        <p:blipFill>
          <a:blip r:embed="rId2"/>
          <a:stretch>
            <a:fillRect/>
          </a:stretch>
        </p:blipFill>
        <p:spPr>
          <a:xfrm>
            <a:off x="4389120" y="2074025"/>
            <a:ext cx="3383280" cy="3075709"/>
          </a:xfrm>
          <a:prstGeom prst="rect">
            <a:avLst/>
          </a:prstGeom>
        </p:spPr>
      </p:pic>
      <p:sp>
        <p:nvSpPr>
          <p:cNvPr id="10" name="cap1-cap"/>
          <p:cNvSpPr txBox="1"/>
          <p:nvPr/>
        </p:nvSpPr>
        <p:spPr>
          <a:xfrm>
            <a:off x="429768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사내 현황판</a:t>
            </a:r>
            <a:endParaRPr lang="en-US" sz="1700" dirty="0"/>
          </a:p>
          <a:p>
            <a:pPr indent="0" marL="0">
              <a:buNone/>
            </a:pPr>
            <a:r>
              <a:rPr lang="en-US" sz="1400" dirty="0">
                <a:solidFill>
                  <a:srgbClr val="6B7A88"/>
                </a:solidFill>
              </a:rPr>
              <a:t>납기 지연·임박 · 미출하 잔량</a:t>
            </a:r>
            <a:endParaRPr lang="en-US" sz="1700" dirty="0"/>
          </a:p>
        </p:txBody>
      </p:sp>
      <p:sp>
        <p:nvSpPr>
          <p:cNvPr id="11" name="cap2"/>
          <p:cNvSpPr/>
          <p:nvPr/>
        </p:nvSpPr>
        <p:spPr>
          <a:xfrm>
            <a:off x="8046720" y="1965960"/>
            <a:ext cx="3566160" cy="3291840"/>
          </a:xfrm>
          <a:prstGeom prst="rect">
            <a:avLst/>
          </a:prstGeom>
          <a:solidFill>
            <a:srgbClr val="F4F6F8"/>
          </a:solidFill>
          <a:ln w="9525">
            <a:solidFill>
              <a:srgbClr val="D9E2EC"/>
            </a:solidFill>
            <a:prstDash val="solid"/>
          </a:ln>
        </p:spPr>
      </p:sp>
      <p:pic>
        <p:nvPicPr>
          <p:cNvPr id="12" name="cap2-img" descr="장비별 투입 목록 (FG) 화면 (거래처명은 A·B·C 로 바꿈)">    </p:cNvPr>
          <p:cNvPicPr>
            <a:picLocks noChangeAspect="1"/>
          </p:cNvPicPr>
          <p:nvPr/>
        </p:nvPicPr>
        <p:blipFill>
          <a:blip r:embed="rId3"/>
          <a:stretch>
            <a:fillRect/>
          </a:stretch>
        </p:blipFill>
        <p:spPr>
          <a:xfrm>
            <a:off x="8381609" y="2057400"/>
            <a:ext cx="2896382" cy="3108960"/>
          </a:xfrm>
          <a:prstGeom prst="rect">
            <a:avLst/>
          </a:prstGeom>
        </p:spPr>
      </p:pic>
      <p:sp>
        <p:nvSpPr>
          <p:cNvPr id="13" name="cap2-cap"/>
          <p:cNvSpPr txBox="1"/>
          <p:nvPr/>
        </p:nvSpPr>
        <p:spPr>
          <a:xfrm>
            <a:off x="804672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장비별 투입 목록 (FG)</a:t>
            </a:r>
            <a:endParaRPr lang="en-US" sz="1700" dirty="0"/>
          </a:p>
          <a:p>
            <a:pPr indent="0" marL="0">
              <a:buNone/>
            </a:pPr>
            <a:r>
              <a:rPr lang="en-US" sz="1400" dirty="0">
                <a:solidFill>
                  <a:srgbClr val="6B7A88"/>
                </a:solidFill>
              </a:rPr>
              <a:t>FG / GX7 배정 · 납기순 · 형상 묶음</a:t>
            </a:r>
            <a:endParaRPr lang="en-US" sz="1700" dirty="0"/>
          </a:p>
        </p:txBody>
      </p:sp>
      <p:sp>
        <p:nvSpPr>
          <p:cNvPr id="1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화면: 일일보고 10-16 · 현황판 10-19 · 거래처명 익명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03  자동화 시스템 시연  |  필수 ②</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기록 기반 질의응답</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쌓아 둔 기록에서 근거와 함께 답하고, 확인되지 않은 것은 「확인 필요」로 답합니다</a:t>
            </a:r>
            <a:endParaRPr lang="en-US" sz="2000" dirty="0"/>
          </a:p>
        </p:txBody>
      </p:sp>
      <p:sp>
        <p:nvSpPr>
          <p:cNvPr id="5"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algn="ctr" indent="0" marL="0">
              <a:buNone/>
            </a:pPr>
            <a:r>
              <a:rPr lang="en-US" sz="1300" b="1" dirty="0">
                <a:solidFill>
                  <a:srgbClr val="FFFFFF"/>
                </a:solidFill>
              </a:rPr>
              <a:t>장비 이력</a:t>
            </a:r>
            <a:endParaRPr lang="en-US" sz="1300" dirty="0"/>
          </a:p>
        </p:txBody>
      </p:sp>
      <p:sp>
        <p:nvSpPr>
          <p:cNvPr id="6" name="qa0-q"/>
          <p:cNvSpPr/>
          <p:nvPr/>
        </p:nvSpPr>
        <p:spPr>
          <a:xfrm>
            <a:off x="548640" y="2377440"/>
            <a:ext cx="5440680" cy="777240"/>
          </a:xfrm>
          <a:prstGeom prst="rect">
            <a:avLst/>
          </a:prstGeom>
          <a:solidFill>
            <a:srgbClr val="1F2A36"/>
          </a:solidFill>
          <a:ln w="9525">
            <a:solidFill>
              <a:srgbClr val="1F2A36"/>
            </a:solidFill>
            <a:prstDash val="solid"/>
          </a:ln>
        </p:spPr>
      </p:sp>
      <p:sp>
        <p:nvSpPr>
          <p:cNvPr id="7" name="qa0-qt"/>
          <p:cNvSpPr txBox="1"/>
          <p:nvPr/>
        </p:nvSpPr>
        <p:spPr>
          <a:xfrm>
            <a:off x="73152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Q.  GX7 로더 사용 금지는 왜였고, 언제 풀렸나?</a:t>
            </a:r>
            <a:endParaRPr lang="en-US" sz="1800" dirty="0"/>
          </a:p>
        </p:txBody>
      </p:sp>
      <p:sp>
        <p:nvSpPr>
          <p:cNvPr id="8"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9"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 — 실린더 이상 → 로더 사용 금지</a:t>
            </a:r>
            <a:endParaRPr lang="en-US" sz="1700" dirty="0"/>
          </a:p>
          <a:p>
            <a:pPr marL="342900" indent="-342900">
              <a:spcAft>
                <a:spcPts val="800"/>
              </a:spcAft>
              <a:buSzPct val="100000"/>
              <a:buChar char="•"/>
            </a:pPr>
            <a:r>
              <a:rPr lang="en-US" sz="1700" dirty="0">
                <a:solidFill>
                  <a:srgbClr val="2C3E50"/>
                </a:solidFill>
              </a:rPr>
              <a:t>08-14 부품 발주 → 10-12 교체 수리 완료</a:t>
            </a:r>
            <a:endParaRPr lang="en-US" sz="1700" dirty="0"/>
          </a:p>
          <a:p>
            <a:pPr marL="342900" indent="-342900">
              <a:spcAft>
                <a:spcPts val="800"/>
              </a:spcAft>
              <a:buSzPct val="100000"/>
              <a:buChar char="•"/>
            </a:pPr>
            <a:r>
              <a:rPr lang="en-US" sz="1700" dirty="0">
                <a:solidFill>
                  <a:srgbClr val="2C3E50"/>
                </a:solidFill>
              </a:rPr>
              <a:t>10-13 생산 재개 · 고장 원인은 「확인 필요」</a:t>
            </a:r>
            <a:endParaRPr lang="en-US" sz="1700" dirty="0"/>
          </a:p>
        </p:txBody>
      </p:sp>
      <p:sp>
        <p:nvSpPr>
          <p:cNvPr id="10" name="qa0-src"/>
          <p:cNvSpPr txBox="1"/>
          <p:nvPr/>
        </p:nvSpPr>
        <p:spPr>
          <a:xfrm>
            <a:off x="731520" y="4983480"/>
            <a:ext cx="5074920" cy="320040"/>
          </a:xfrm>
          <a:prstGeom prst="rect">
            <a:avLst/>
          </a:prstGeom>
          <a:noFill/>
          <a:ln/>
        </p:spPr>
        <p:txBody>
          <a:bodyPr wrap="square" lIns="0" tIns="0" rIns="0" bIns="0" rtlCol="0" anchor="ctr"/>
          <a:lstStyle/>
          <a:p>
            <a:pPr indent="0" marL="0">
              <a:buNone/>
            </a:pPr>
            <a:r>
              <a:rPr lang="en-US" sz="1200" dirty="0">
                <a:solidFill>
                  <a:srgbClr val="6B7A88"/>
                </a:solidFill>
              </a:rPr>
              <a:t>근거: 수리 이력 페이지 · 10월 생산일지(10-12 「수리 중」)</a:t>
            </a:r>
            <a:endParaRPr lang="en-US" sz="1200" dirty="0"/>
          </a:p>
        </p:txBody>
      </p:sp>
      <p:sp>
        <p:nvSpPr>
          <p:cNvPr id="11"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algn="ctr" indent="0" marL="0">
              <a:buNone/>
            </a:pPr>
            <a:r>
              <a:rPr lang="en-US" sz="1300" b="1" dirty="0">
                <a:solidFill>
                  <a:srgbClr val="FFFFFF"/>
                </a:solidFill>
              </a:rPr>
              <a:t>연삭 조건</a:t>
            </a:r>
            <a:endParaRPr lang="en-US" sz="1300" dirty="0"/>
          </a:p>
        </p:txBody>
      </p:sp>
      <p:sp>
        <p:nvSpPr>
          <p:cNvPr id="12"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3" name="qa1-qt"/>
          <p:cNvSpPr txBox="1"/>
          <p:nvPr/>
        </p:nvSpPr>
        <p:spPr>
          <a:xfrm>
            <a:off x="635508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Q.  Ø125 휠, 원주속도 19 m/s 면 RPM 은?</a:t>
            </a:r>
            <a:endParaRPr lang="en-US" sz="1800" dirty="0"/>
          </a:p>
        </p:txBody>
      </p:sp>
      <p:sp>
        <p:nvSpPr>
          <p:cNvPr id="14"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15"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제조사 ANCA 적용 사례 18 ~ 22 m/s</a:t>
            </a:r>
            <a:endParaRPr lang="en-US" sz="1700" dirty="0"/>
          </a:p>
        </p:txBody>
      </p:sp>
      <p:sp>
        <p:nvSpPr>
          <p:cNvPr id="16" name="qa1-src"/>
          <p:cNvSpPr txBox="1"/>
          <p:nvPr/>
        </p:nvSpPr>
        <p:spPr>
          <a:xfrm>
            <a:off x="6355080" y="4983480"/>
            <a:ext cx="5074920" cy="320040"/>
          </a:xfrm>
          <a:prstGeom prst="rect">
            <a:avLst/>
          </a:prstGeom>
          <a:noFill/>
          <a:ln/>
        </p:spPr>
        <p:txBody>
          <a:bodyPr wrap="square" lIns="0" tIns="0" rIns="0" bIns="0" rtlCol="0" anchor="ctr"/>
          <a:lstStyle/>
          <a:p>
            <a:pPr indent="0" marL="0">
              <a:buNone/>
            </a:pPr>
            <a:r>
              <a:rPr lang="en-US" sz="1200" dirty="0">
                <a:solidFill>
                  <a:srgbClr val="6B7A88"/>
                </a:solidFill>
              </a:rPr>
              <a:t>근거: 휠 기준 페이지 · Norton·이화·Urdiamant 자료 · 사내 상한 25 m/s</a:t>
            </a:r>
            <a:endParaRPr lang="en-US" sz="1200" dirty="0"/>
          </a:p>
        </p:txBody>
      </p:sp>
      <p:sp>
        <p:nvSpPr>
          <p:cNvPr id="17"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18" name="qa-limit-t"/>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700" dirty="0">
                <a:solidFill>
                  <a:srgbClr val="1F2A36"/>
                </a:solidFill>
              </a:rPr>
              <a:t>조건은 참고값 — ANCA 공구 설계 프로그램(iGrind) 입력 전 계산·검산까지만 쓰고, 확정은 현장 테스트로 합니다</a:t>
            </a:r>
            <a:endParaRPr lang="en-US" sz="17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실제 질의 화면 캡처로 교체 예정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04  업무 적용 전후 비교  |  필수 ③</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적용 전후 비교</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반복 집계는 자동으로 바뀌었고, 판단 근거가 기록으로 남기 시작했습니다</a:t>
            </a:r>
            <a:endParaRPr lang="en-US" sz="2000" dirty="0"/>
          </a:p>
        </p:txBody>
      </p:sp>
      <p:graphicFrame>
        <p:nvGraphicFramePr>
          <p:cNvPr id="11"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94560"/>
                <a:gridCol w="2651760"/>
                <a:gridCol w="3291840"/>
                <a:gridCol w="1737360"/>
                <a:gridCol w="11887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집계·판단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하루 15분 이하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확인만 — 월 5시간 이하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개인 기억 ·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결정 기록 약 300건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decisions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PDF · 사진 ·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17건 정리 (과거 12 + 올해 5)</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목록 자동 생성 · 효과는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투입 목록 효과는 도입 2주·추석·장비 수리가 섞여 판단 보류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05  한계와 향후 과제</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운영하며 확인한 한계와 대응</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자동화는 만드는 것보다 유지가 더 들었고, 그래서 성적표로 효과를 재고 정리했습니다</a:t>
            </a:r>
            <a:endParaRPr lang="en-US" sz="2000" dirty="0"/>
          </a:p>
        </p:txBody>
      </p:sp>
      <p:graphicFrame>
        <p:nvGraphicFramePr>
          <p:cNvPr id="12" name="lim-table"/>
          <p:cNvGraphicFramePr>
            <a:graphicFrameLocks noGrp="1"/>
          </p:cNvGraphicFramePr>
          <p:nvPr>
            <p:extLst>
              <p:ext uri="{D42A27DB-BD31-4B8C-83A1-F6EECF244321}">
                <p14:modId xmlns:p14="http://schemas.microsoft.com/office/powerpoint/2010/main" val="1579011935"/>
              </p:ext>
            </p:extLst>
          </p:nvPr>
        </p:nvGraphicFramePr>
        <p:xfrm>
          <a:off x="548640" y="3063240"/>
          <a:ext cx="11064240" cy="914400"/>
        </p:xfrm>
        <a:graphic>
          <a:graphicData uri="http://schemas.openxmlformats.org/drawingml/2006/table">
            <a:tbl>
              <a:tblPr/>
              <a:tblGrid>
                <a:gridCol w="2103120"/>
                <a:gridCol w="4572000"/>
                <a:gridCol w="43891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효과 없는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알림 메일 48통 전부 미열람 등 효과 없는 4건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10-07 중단 — 만든 것도 쓰이지 않으면 끈다</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조용한 실패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「정상 완료」로 기록됐으나 산출물이 없던 3건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종료 코드 대신 산출물 존재로 정상 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수치 신뢰성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AI 계산·인용이 실제와 다를 수 있음 (표준 인용 정정 19문서)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출처·신뢰도 4단계 표기, 현장 검증 후 적용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1인 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만들고 고치는 사람이 1명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작업 기록·결정 근거를 문서로 남겨 인수 가능하게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6" name="cost-pct"/>
          <p:cNvSpPr txBox="1"/>
          <p:nvPr/>
        </p:nvSpPr>
        <p:spPr>
          <a:xfrm>
            <a:off x="548640" y="1920240"/>
            <a:ext cx="1737360" cy="914400"/>
          </a:xfrm>
          <a:prstGeom prst="rect">
            <a:avLst/>
          </a:prstGeom>
          <a:noFill/>
          <a:ln/>
        </p:spPr>
        <p:txBody>
          <a:bodyPr wrap="square" lIns="0" tIns="0" rIns="0" bIns="0" rtlCol="0" anchor="ctr"/>
          <a:lstStyle/>
          <a:p>
            <a:pPr indent="0" marL="0">
              <a:buNone/>
            </a:pPr>
            <a:r>
              <a:rPr lang="en-US" sz="4400" b="1" dirty="0">
                <a:solidFill>
                  <a:srgbClr val="E8930C"/>
                </a:solidFill>
              </a:rPr>
              <a:t>36</a:t>
            </a:r>
            <a:pPr indent="0" marL="0">
              <a:buNone/>
            </a:pPr>
            <a:r>
              <a:rPr lang="en-US" sz="2200" b="1" dirty="0">
                <a:solidFill>
                  <a:srgbClr val="E8930C"/>
                </a:solidFill>
              </a:rPr>
              <a:t> %</a:t>
            </a:r>
            <a:endParaRPr lang="en-US" sz="4400" dirty="0"/>
          </a:p>
        </p:txBody>
      </p:sp>
      <p:sp>
        <p:nvSpPr>
          <p:cNvPr id="7" name="cost-h"/>
          <p:cNvSpPr txBox="1"/>
          <p:nvPr/>
        </p:nvSpPr>
        <p:spPr>
          <a:xfrm>
            <a:off x="2286000" y="1920240"/>
            <a:ext cx="5943600" cy="365760"/>
          </a:xfrm>
          <a:prstGeom prst="rect">
            <a:avLst/>
          </a:prstGeom>
          <a:noFill/>
          <a:ln/>
        </p:spPr>
        <p:txBody>
          <a:bodyPr wrap="square" lIns="0" tIns="0" rIns="0" bIns="0" rtlCol="0" anchor="ctr"/>
          <a:lstStyle/>
          <a:p>
            <a:pPr indent="0" marL="0">
              <a:buNone/>
            </a:pPr>
            <a:r>
              <a:rPr lang="en-US" sz="1600" b="1" dirty="0">
                <a:solidFill>
                  <a:srgbClr val="1F2A36"/>
                </a:solidFill>
              </a:rPr>
              <a:t>유지 비용 — 4주간 결정 84건 중 30건이 자동화 수리·운영</a:t>
            </a:r>
            <a:endParaRPr lang="en-US" sz="1600" dirty="0"/>
          </a:p>
        </p:txBody>
      </p:sp>
      <p:graphicFrame>
        <p:nvGraphicFramePr>
          <p:cNvPr id="8" name="cost-chart" descr=""/>
          <p:cNvGraphicFramePr/>
          <p:nvPr/>
        </p:nvGraphicFramePr>
        <p:xfrm>
          <a:off x="2194560" y="2240280"/>
          <a:ext cx="9418320" cy="685800"/>
        </p:xfrm>
        <a:graphic xmlns:a="http://schemas.openxmlformats.org/drawingml/2006/main">
          <a:graphicData uri="http://schemas.openxmlformats.org/drawingml/2006/chart">
            <c:chart xmlns:c="http://schemas.openxmlformats.org/drawingml/2006/chart" r:id="rId1"/>
          </a:graphicData>
        </a:graphic>
      </p:graphicFrame>
      <p:sp>
        <p:nvSpPr>
          <p:cNvPr id="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자동화 효과 지표 1차 판정(10-07) · 중간보고(09-14)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05  한계와 향후 과제</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향후 과제</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새 기능을 늘리기보다, 지금 돌아가는 것의 효과를 확인하고 넓힙니다</a:t>
            </a:r>
            <a:endParaRPr lang="en-US" sz="2000" dirty="0"/>
          </a:p>
        </p:txBody>
      </p:sp>
      <p:graphicFrame>
        <p:nvGraphicFramePr>
          <p:cNvPr id="13" name="plan-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377440"/>
                <a:gridCol w="6400800"/>
                <a:gridCol w="228600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과제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시기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4008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효과 재판정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자동화 성적표 2차 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11-04</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4008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투입 목록 효과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운영 데이터 누적 후 셋업당 개수 재측정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데이터 누적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4008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ERP 실적 연동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상태코드 해석 → 생산 실적 지표로 전환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명칭표 확보 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4008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도면 작성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무료 2D CAD 연결 — 말로 도면 초안 (시험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시험 단계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6" name="close"/>
          <p:cNvSpPr/>
          <p:nvPr/>
        </p:nvSpPr>
        <p:spPr>
          <a:xfrm>
            <a:off x="548640" y="5166360"/>
            <a:ext cx="11064240" cy="914400"/>
          </a:xfrm>
          <a:prstGeom prst="rect">
            <a:avLst/>
          </a:prstGeom>
          <a:solidFill>
            <a:srgbClr val="1F2A36"/>
          </a:solidFill>
          <a:ln w="9525">
            <a:solidFill>
              <a:srgbClr val="1F2A36"/>
            </a:solidFill>
            <a:prstDash val="solid"/>
          </a:ln>
        </p:spPr>
      </p:sp>
      <p:sp>
        <p:nvSpPr>
          <p:cNvPr id="7" name="close-t"/>
          <p:cNvSpPr txBox="1"/>
          <p:nvPr/>
        </p:nvSpPr>
        <p:spPr>
          <a:xfrm>
            <a:off x="822960" y="5166360"/>
            <a:ext cx="10515600" cy="914400"/>
          </a:xfrm>
          <a:prstGeom prst="rect">
            <a:avLst/>
          </a:prstGeom>
          <a:noFill/>
          <a:ln/>
        </p:spPr>
        <p:txBody>
          <a:bodyPr wrap="square" lIns="0" tIns="0" rIns="0" bIns="0" rtlCol="0" anchor="ctr"/>
          <a:lstStyle/>
          <a:p>
            <a:pPr indent="0" marL="0">
              <a:buNone/>
            </a:pPr>
            <a:r>
              <a:rPr lang="en-US" sz="2000" b="1" dirty="0">
                <a:solidFill>
                  <a:srgbClr val="FFFFFF"/>
                </a:solidFill>
              </a:rPr>
              <a:t>AI 는 답을 대신 주는 도구가 아니라, 현장 기록을 쌓고 검증하는 협업자입니다</a:t>
            </a:r>
            <a:endParaRPr lang="en-US" sz="2000" dirty="0"/>
          </a:p>
        </p:txBody>
      </p:sp>
      <p:sp>
        <p:nvSpPr>
          <p:cNvPr id="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다른 팀 적용 가능: 엑셀 보고 집계 · 자료 정리 · 문서 조사  |  자료 기준일 2026-10-19</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생산팀</cp:lastModifiedBy>
  <cp:revision>1</cp:revision>
  <dcterms:created xsi:type="dcterms:W3CDTF">2026-10-19T01:50:40Z</dcterms:created>
  <dcterms:modified xsi:type="dcterms:W3CDTF">2026-10-19T01:50:40Z</dcterms:modified>
</cp:coreProperties>
</file>