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c6ecd0f7-44a8-8e8b-db8c-772f6432be82}">
          <p14:sldIdLst>
            <p14:sldId id="256"/>
            <p14:sldId id="257"/>
          </p14:sldIdLst>
        </p14:section>
        <p14:section name="01 추진 배경" id="{b3e5b75d-a92b-aad2-f08e-5c538005f6e6}">
          <p14:sldIdLst>
            <p14:sldId id="258"/>
          </p14:sldIdLst>
        </p14:section>
        <p14:section name="① 활용 현황" id="{9b82ae14-2002-df35-3954-447f91f6a917}">
          <p14:sldIdLst>
            <p14:sldId id="259"/>
            <p14:sldId id="260"/>
          </p14:sldIdLst>
        </p14:section>
        <p14:section name="② 자동화 시스템" id="{11f0bf46-a693-4e7e-044b-1bdedf467e07}">
          <p14:sldIdLst>
            <p14:sldId id="261"/>
            <p14:sldId id="262"/>
            <p14:sldId id="263"/>
          </p14:sldIdLst>
        </p14:section>
        <p14:section name="③ 전후 비교" id="{6c202635-0d50-7c6a-c7e2-1b4b2faaeee1}">
          <p14:sldIdLst>
            <p14:sldId id="264"/>
            <p14:sldId id="265"/>
          </p14:sldIdLst>
        </p14:section>
        <p14:section name="개선 방향" id="{a5bc24f6-ffad-a42e-13c4-083438460555}">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(단위: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15</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순서입니다. 필수 항목 세 가지는 2, 3, 4번이고, 오른쪽 위에 지금 위치가 표시됩니다.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담당자 기억 네 곳에 흩어져 있었고, 일일보고 집계와 투입 판단은 매일 손으로 했습니다. 그래서 세 방향으로 추진했습니다. 한곳에 기록하기, 반복 업무 자동 실행, 판단 근거 남기기입니다.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첫 번째 필수 항목, 팀 내 활용 현황입니다. 6개월 동안 재연마 기록 문서 149개와, 무엇을 왜 바꿨는지 남긴 판단 근거 330여 건이 쌓였습니다. 표는 Claude를 쓰는 다섯 가지 일이고, 2기에 새로 맡긴 건 장비 투입 목록과 단가표 검수입니다. 이번 달에는 원목 연삭 시험에서 제조사 제품 치수로 기준을 잡고, 두 번째 시험에서 넥 시작부 자국을 없앴습니다. 수치에는 출처를 붙여서, 휠 원주속도는 제조사 기준 18에서 22 m/s, 사내 실사용은 실측 2,600에서 3,000 rpm으로 나눠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시험한 것입니다. Claude를 무료 도면, 3D, CAM 프로그램에 연결했습니다. 그림은 앞 장의 원목 연삭 시험에 쓴 공구를 도면 치수대로 3D로 만든 것입니다. 날 모양은 시뮬레이터 자료를 줄여 입힌 추정이라 설명용으로만 씁니다. CAM은 G코드를 만들어 우리 장비 형식으로 내보내는 시험을 하고 있고, 장비에 넣기 전에 시뮬레이션과 공운전으로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시스템은 들이지 않았고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(화면을 짚으며) 왼쪽이 매일 자동으로 만들어지는 일일보고입니다. 16:00 속보값이라 이후 입력분은 다음 날 「전일」 칸에서 확정됩니다. 가운데가 사내 현황판, 오른쪽이 장비별 투입 목록이고,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세 번째 필수 항목, 전후 비교입니다. 먼저 일일보고입니다. 전에는 매일 엑셀로 손으로 집계했고, 지금은 아침 7시 50분과 오후 4시에 자동으로 만들어집니다. 회색은 6월 9일에 지난 분을 한꺼번에 만들거나 손으로 만든 것이고, 청록이 그날그날 자동으로 만든 것입니다. 10월 23일 기준 최근 20영업일은 20건 모두 생성됐습니다.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나머지 항목입니다. 결정 기록 330여 건, 수리 이력 17건, 단가표 1만여 건 대조는 실측으로 확인했습니다. 시간 절약은 경험값으로 따로 표시했습니다. 장비별 투입 목록은 효과를 재는 중인데, 도입 2주와 추석, 장비 수리가 섞여 아직 판단하지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앞으로의 과제입니다. 지금까지 생산 실적을 엑셀 작업일지와 ERP에 두 번 적었는데, 10월 23일부터 ERP 하나로 바꿨습니다. 일일보고, 현황판, 장비별 투입 목록도 ERP 작업실적을 읽도록 고쳤습니다. 10월 수량을 대조하면 엑셀 971개, ERP 955개로 1.6 % 차이입니다. 보완할 점은 두 가지입니다. ERP에는 두 장비 구분이 없어서 필요할 때만 기간을 정해 비고 칸에 적고, 가공시간은 입력 칸이 없어서 2022년부터 쌓인 기록으로 품목별 추정값을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마지막으로 한계입니다. 4주 동안 결정 84건 중 30건이 자동화를 고치는 일이었습니다. 그래서 자동화마다 성적표를 매겨, 알림 메일 48통을 아무도 안 읽은 것처럼 효과 없는 4건은 껐습니다. 정상으로 찍혔는데 결과물이 없던 경우가 있어 판정 기준을 바꿨고, AI 계산은 출처와 신뢰도를 붙여 현장에서 확인합니다. 다음은 11월 4일 자동화 2차 판정과 원목 연삭 세 번째 시험, CAM 출력 시험입니다.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21792"/>
            <a:ext cx="11064240"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b="1" dirty="0">
                <a:solidFill>
                  <a:schemeClr val="accent1"/>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kicker"/>
          <p:cNvSpPr txBox="1"/>
          <p:nvPr/>
        </p:nvSpPr>
        <p:spPr>
          <a:xfrm>
            <a:off x="731520" y="603504"/>
            <a:ext cx="11128248" cy="566928"/>
          </a:xfrm>
          <a:prstGeom prst="rect">
            <a:avLst/>
          </a:prstGeom>
          <a:noFill/>
          <a:ln/>
        </p:spPr>
        <p:txBody>
          <a:bodyPr wrap="square" lIns="0" tIns="0" rIns="0" bIns="0" rtlCol="0" anchor="t"/>
          <a:lstStyle/>
          <a:p>
            <a:pPr indent="0" marL="0">
              <a:buNone/>
            </a:pPr>
            <a:r>
              <a:rPr lang="en-US" sz="4000" b="1" spc="200" kern="0" dirty="0">
                <a:solidFill>
                  <a:srgbClr val="FFC000"/>
                </a:solidFill>
              </a:rPr>
              <a:t>Claude AI </a:t>
            </a:r>
            <a:pPr indent="0" marL="0">
              <a:buNone/>
            </a:pPr>
            <a:r>
              <a:rPr lang="en-US" sz="4000" b="1" spc="200" kern="0" dirty="0">
                <a:solidFill>
                  <a:srgbClr val="FFFFFF"/>
                </a:solidFill>
              </a:rPr>
              <a:t>파일럿 2기 성과 발표</a:t>
            </a:r>
            <a:endParaRPr lang="en-US" sz="40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2026-10-23</a:t>
            </a:r>
            <a:endParaRPr lang="en-US" sz="1200" dirty="0"/>
          </a:p>
        </p:txBody>
      </p:sp>
      <p:sp>
        <p:nvSpPr>
          <p:cNvPr id="9"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목차</a:t>
            </a:r>
            <a:endParaRPr lang="en-US" sz="3600" dirty="0"/>
          </a:p>
        </p:txBody>
      </p:sp>
      <p:sp>
        <p:nvSpPr>
          <p:cNvPr id="3" name="title-rule"/>
          <p:cNvSpPr/>
          <p:nvPr/>
        </p:nvSpPr>
        <p:spPr>
          <a:xfrm>
            <a:off x="548640" y="1810512"/>
            <a:ext cx="11064240" cy="0"/>
          </a:xfrm>
          <a:prstGeom prst="line">
            <a:avLst/>
          </a:prstGeom>
          <a:noFill/>
          <a:ln w="12700">
            <a:solidFill>
              <a:srgbClr val="D9E2EC"/>
            </a:solidFill>
            <a:prstDash val="solid"/>
          </a:ln>
        </p:spPr>
      </p:sp>
      <p:sp>
        <p:nvSpPr>
          <p:cNvPr id="4"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5"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1</a:t>
            </a:r>
            <a:endParaRPr lang="en-US" sz="2400" dirty="0"/>
          </a:p>
        </p:txBody>
      </p:sp>
      <p:sp>
        <p:nvSpPr>
          <p:cNvPr id="6"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7"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도입 전 업무와 추진 방향</a:t>
            </a:r>
            <a:endParaRPr lang="en-US" sz="1600" dirty="0"/>
          </a:p>
        </p:txBody>
      </p:sp>
      <p:sp>
        <p:nvSpPr>
          <p:cNvPr id="8"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9"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2</a:t>
            </a:r>
            <a:endParaRPr lang="en-US" sz="2400" dirty="0"/>
          </a:p>
        </p:txBody>
      </p:sp>
      <p:sp>
        <p:nvSpPr>
          <p:cNvPr id="10"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1"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활용 영역과 설계 프로그램 연결</a:t>
            </a:r>
            <a:endParaRPr lang="en-US" sz="1600" dirty="0"/>
          </a:p>
        </p:txBody>
      </p:sp>
      <p:sp>
        <p:nvSpPr>
          <p:cNvPr id="12"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3"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4"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3</a:t>
            </a:r>
            <a:endParaRPr lang="en-US" sz="2400" dirty="0"/>
          </a:p>
        </p:txBody>
      </p:sp>
      <p:sp>
        <p:nvSpPr>
          <p:cNvPr id="15"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6"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구성, 실행 화면, 질의응답</a:t>
            </a:r>
            <a:endParaRPr lang="en-US" sz="1600" dirty="0"/>
          </a:p>
        </p:txBody>
      </p:sp>
      <p:sp>
        <p:nvSpPr>
          <p:cNvPr id="17"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8"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19"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4</a:t>
            </a:r>
            <a:endParaRPr lang="en-US" sz="2400" dirty="0"/>
          </a:p>
        </p:txBody>
      </p:sp>
      <p:sp>
        <p:nvSpPr>
          <p:cNvPr id="20"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1"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일일보고와 항목별 전후 비교</a:t>
            </a:r>
            <a:endParaRPr lang="en-US" sz="1600" dirty="0"/>
          </a:p>
        </p:txBody>
      </p:sp>
      <p:sp>
        <p:nvSpPr>
          <p:cNvPr id="22"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3"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4"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5</a:t>
            </a:r>
            <a:endParaRPr lang="en-US" sz="2400" dirty="0"/>
          </a:p>
        </p:txBody>
      </p:sp>
      <p:sp>
        <p:nvSpPr>
          <p:cNvPr id="25"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개선 방향</a:t>
            </a:r>
            <a:endParaRPr lang="en-US" sz="2000" dirty="0"/>
          </a:p>
        </p:txBody>
      </p:sp>
      <p:sp>
        <p:nvSpPr>
          <p:cNvPr id="26"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생산 실적 ERP 단일 기록, 운영 한계와 대응</a:t>
            </a:r>
            <a:endParaRPr lang="en-US" sz="16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추진 배경</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재연마 기록 4곳 분산 및 일일보고 · 투입 판단 수작업</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하루 1시트씩 손으로 입력하던 월간생산일지 엑셀</a:t>
            </a:r>
            <a:endParaRPr lang="en-US" sz="1300" dirty="0"/>
          </a:p>
        </p:txBody>
      </p:sp>
      <p:pic>
        <p:nvPicPr>
          <p:cNvPr id="11"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12" name="src0-frame"/>
          <p:cNvSpPr/>
          <p:nvPr/>
        </p:nvSpPr>
        <p:spPr>
          <a:xfrm>
            <a:off x="548640" y="2286000"/>
            <a:ext cx="4572000" cy="1569386"/>
          </a:xfrm>
          <a:prstGeom prst="rect">
            <a:avLst/>
          </a:prstGeom>
          <a:ln w="9525">
            <a:solidFill>
              <a:srgbClr val="D9E2EC"/>
            </a:solidFill>
            <a:prstDash val="solid"/>
          </a:ln>
        </p:spPr>
      </p:sp>
      <p:sp>
        <p:nvSpPr>
          <p:cNvPr id="13"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장비마다 따로 보관하던 수리 발주서 PDF</a:t>
            </a:r>
            <a:endParaRPr lang="en-US" sz="1300" dirty="0"/>
          </a:p>
        </p:txBody>
      </p:sp>
      <p:pic>
        <p:nvPicPr>
          <p:cNvPr id="14"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15" name="src1-frame"/>
          <p:cNvSpPr/>
          <p:nvPr/>
        </p:nvSpPr>
        <p:spPr>
          <a:xfrm>
            <a:off x="548640" y="4361688"/>
            <a:ext cx="3474720" cy="1737360"/>
          </a:xfrm>
          <a:prstGeom prst="rect">
            <a:avLst/>
          </a:prstGeom>
          <a:ln w="9525">
            <a:solidFill>
              <a:srgbClr val="D9E2EC"/>
            </a:solidFill>
            <a:prstDash val="solid"/>
          </a:ln>
        </p:spPr>
      </p:sp>
      <p:sp>
        <p:nvSpPr>
          <p:cNvPr id="16"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7"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도입 전</a:t>
            </a:r>
            <a:endParaRPr lang="en-US" sz="1700" dirty="0"/>
          </a:p>
        </p:txBody>
      </p:sp>
      <p:sp>
        <p:nvSpPr>
          <p:cNvPr id="18"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이유와 고장 처리 경위는 기록 없음</a:t>
            </a:r>
            <a:endParaRPr lang="en-US" sz="1700" dirty="0"/>
          </a:p>
        </p:txBody>
      </p:sp>
      <p:sp>
        <p:nvSpPr>
          <p:cNvPr id="19"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20"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21"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22"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재연마 장비는 ANCA FastGrind와 GX7 2대</a:t>
            </a:r>
            <a:endParaRPr lang="en-US" sz="1200" dirty="0"/>
          </a:p>
        </p:txBody>
      </p:sp>
      <p:sp>
        <p:nvSpPr>
          <p:cNvPr id="2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활용 현황: 문서 기록</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6개월 재연마 기록 문서 149개 작성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5" name="are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920240"/>
                <a:gridCol w="5394960"/>
                <a:gridCol w="3749040"/>
              </a:tblGrid>
              <a:tr h="420624">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문서 149개와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연삭 시험 지원</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제조사 자료와 ISO 표준으로 기준 설정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원목 연삭 2회, 넥 시작부 자국 해결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매일 07:50과 16:00에 일일보고와 현황판 생성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기준으로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09-28부터 쓰며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F와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area-etc"/>
          <p:cNvSpPr txBox="1"/>
          <p:nvPr/>
        </p:nvSpPr>
        <p:spPr>
          <a:xfrm>
            <a:off x="548640" y="5349240"/>
            <a:ext cx="11064240" cy="329184"/>
          </a:xfrm>
          <a:prstGeom prst="rect">
            <a:avLst/>
          </a:prstGeom>
          <a:noFill/>
          <a:ln/>
        </p:spPr>
        <p:txBody>
          <a:bodyPr wrap="square" lIns="0" tIns="0" rIns="0" bIns="0" rtlCol="0" anchor="ctr"/>
          <a:lstStyle/>
          <a:p>
            <a:pPr indent="0" marL="0">
              <a:buNone/>
            </a:pPr>
            <a:r>
              <a:rPr lang="en-US" sz="1700" b="1" dirty="0">
                <a:solidFill>
                  <a:srgbClr val="1F2A36"/>
                </a:solidFill>
              </a:rPr>
              <a:t>판단 근거 기록 330여 건과 Python 자동화 스크립트 59개</a:t>
            </a:r>
            <a:endParaRPr lang="en-US" sz="1700" dirty="0"/>
          </a:p>
        </p:txBody>
      </p:sp>
      <p:sp>
        <p:nvSpPr>
          <p:cNvPr id="12" name="area-src"/>
          <p:cNvSpPr txBox="1"/>
          <p:nvPr/>
        </p:nvSpPr>
        <p:spPr>
          <a:xfrm>
            <a:off x="548640" y="5715000"/>
            <a:ext cx="11064240" cy="329184"/>
          </a:xfrm>
          <a:prstGeom prst="rect">
            <a:avLst/>
          </a:prstGeom>
          <a:noFill/>
          <a:ln/>
        </p:spPr>
        <p:txBody>
          <a:bodyPr wrap="square" lIns="0" tIns="0" rIns="0" bIns="0" rtlCol="0" anchor="ctr"/>
          <a:lstStyle/>
          <a:p>
            <a:pPr indent="0" marL="0">
              <a:buNone/>
            </a:pPr>
            <a:r>
              <a:rPr lang="en-US" sz="1500" dirty="0">
                <a:solidFill>
                  <a:srgbClr val="3A506B"/>
                </a:solidFill>
              </a:rPr>
              <a:t>수치마다 출처 표기. 예: 휠 원주속도 18 ~ 22 m/s [제조사 기준] / 사내 실사용 2,600 ~ 3,000 rpm [실측]</a:t>
            </a:r>
            <a:endParaRPr lang="en-US" sz="1500" dirty="0"/>
          </a:p>
        </p:txBody>
      </p:sp>
      <p:sp>
        <p:nvSpPr>
          <p:cNvPr id="1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목록과 단가표 검수는 2기에 새로 시작  |  자료 기준일 2026-10-23</a:t>
            </a:r>
            <a:endParaRPr lang="en-US" sz="1200" dirty="0"/>
          </a:p>
        </p:txBody>
      </p:sp>
      <p:sp>
        <p:nvSpPr>
          <p:cNvPr id="1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활용 현황: 설계 프로그램 연결</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원목 연삭 시험 공구 2JJCR 040 010 200 도면 치수 3D 모델화</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t3d0-cap"/>
          <p:cNvSpPr txBox="1"/>
          <p:nvPr/>
        </p:nvSpPr>
        <p:spPr>
          <a:xfrm>
            <a:off x="548640" y="1965960"/>
            <a:ext cx="5486400" cy="292608"/>
          </a:xfrm>
          <a:prstGeom prst="rect">
            <a:avLst/>
          </a:prstGeom>
          <a:noFill/>
          <a:ln/>
        </p:spPr>
        <p:txBody>
          <a:bodyPr wrap="square" lIns="0" tIns="0" rIns="0" bIns="0" rtlCol="0" anchor="ctr"/>
          <a:lstStyle/>
          <a:p>
            <a:pPr indent="0" marL="0">
              <a:buNone/>
            </a:pPr>
            <a:r>
              <a:rPr lang="en-US" sz="1300" b="1" dirty="0">
                <a:solidFill>
                  <a:srgbClr val="3A506B"/>
                </a:solidFill>
              </a:rPr>
              <a:t>그림 1. 2JJCR 040 010 200 전체 (Blender)</a:t>
            </a:r>
            <a:endParaRPr lang="en-US" sz="1300" dirty="0"/>
          </a:p>
        </p:txBody>
      </p:sp>
      <p:pic>
        <p:nvPicPr>
          <p:cNvPr id="11" name="t3d0-img" descr="2날 코너R 롱넥 엔드밀 2JJCR 040 010 200 3D 모델 전체">    </p:cNvPr>
          <p:cNvPicPr>
            <a:picLocks noChangeAspect="1"/>
          </p:cNvPicPr>
          <p:nvPr/>
        </p:nvPicPr>
        <p:blipFill>
          <a:blip r:embed="rId1"/>
          <a:stretch>
            <a:fillRect/>
          </a:stretch>
        </p:blipFill>
        <p:spPr>
          <a:xfrm>
            <a:off x="548640" y="2286000"/>
            <a:ext cx="5486400" cy="2286000"/>
          </a:xfrm>
          <a:prstGeom prst="rect">
            <a:avLst/>
          </a:prstGeom>
        </p:spPr>
      </p:pic>
      <p:sp>
        <p:nvSpPr>
          <p:cNvPr id="12" name="t3d0-frame"/>
          <p:cNvSpPr/>
          <p:nvPr/>
        </p:nvSpPr>
        <p:spPr>
          <a:xfrm>
            <a:off x="548640" y="2286000"/>
            <a:ext cx="5486400" cy="2286000"/>
          </a:xfrm>
          <a:prstGeom prst="rect">
            <a:avLst/>
          </a:prstGeom>
          <a:ln w="9525">
            <a:solidFill>
              <a:srgbClr val="D9E2EC"/>
            </a:solidFill>
            <a:prstDash val="solid"/>
          </a:ln>
        </p:spPr>
      </p:sp>
      <p:pic>
        <p:nvPicPr>
          <p:cNvPr id="13" name="t3d1-img" descr="2JJCR 040 010 200 날 끝 확대">    </p:cNvPr>
          <p:cNvPicPr>
            <a:picLocks noChangeAspect="1"/>
          </p:cNvPicPr>
          <p:nvPr/>
        </p:nvPicPr>
        <p:blipFill>
          <a:blip r:embed="rId2"/>
          <a:stretch>
            <a:fillRect/>
          </a:stretch>
        </p:blipFill>
        <p:spPr>
          <a:xfrm>
            <a:off x="548640" y="4754880"/>
            <a:ext cx="1856232" cy="1325880"/>
          </a:xfrm>
          <a:prstGeom prst="rect">
            <a:avLst/>
          </a:prstGeom>
        </p:spPr>
      </p:pic>
      <p:sp>
        <p:nvSpPr>
          <p:cNvPr id="14" name="t3d1-frame"/>
          <p:cNvSpPr/>
          <p:nvPr/>
        </p:nvSpPr>
        <p:spPr>
          <a:xfrm>
            <a:off x="548640" y="4754880"/>
            <a:ext cx="1856232" cy="1325880"/>
          </a:xfrm>
          <a:prstGeom prst="rect">
            <a:avLst/>
          </a:prstGeom>
          <a:ln w="9525">
            <a:solidFill>
              <a:srgbClr val="D9E2EC"/>
            </a:solidFill>
            <a:prstDash val="solid"/>
          </a:ln>
        </p:spPr>
      </p:sp>
      <p:sp>
        <p:nvSpPr>
          <p:cNvPr id="15" name="t3d1-cap"/>
          <p:cNvSpPr txBox="1"/>
          <p:nvPr/>
        </p:nvSpPr>
        <p:spPr>
          <a:xfrm>
            <a:off x="2560320" y="4754880"/>
            <a:ext cx="3474720" cy="1325880"/>
          </a:xfrm>
          <a:prstGeom prst="rect">
            <a:avLst/>
          </a:prstGeom>
          <a:noFill/>
          <a:ln/>
        </p:spPr>
        <p:txBody>
          <a:bodyPr wrap="square" lIns="0" tIns="0" rIns="0" bIns="0" rtlCol="0" anchor="t"/>
          <a:lstStyle/>
          <a:p>
            <a:pPr indent="0" marL="0">
              <a:spcAft>
                <a:spcPts val="400"/>
              </a:spcAft>
              <a:buNone/>
            </a:pPr>
            <a:r>
              <a:rPr lang="en-US" sz="1400" b="1" dirty="0">
                <a:solidFill>
                  <a:srgbClr val="3A506B"/>
                </a:solidFill>
              </a:rPr>
              <a:t>그림 2. 날 끝 확대</a:t>
            </a:r>
            <a:endParaRPr lang="en-US" sz="1400" dirty="0"/>
          </a:p>
          <a:p>
            <a:pPr indent="0" marL="0">
              <a:spcAft>
                <a:spcPts val="400"/>
              </a:spcAft>
              <a:buNone/>
            </a:pPr>
            <a:r>
              <a:rPr lang="en-US" sz="1400" dirty="0">
                <a:solidFill>
                  <a:srgbClr val="2C3E50"/>
                </a:solidFill>
              </a:rPr>
              <a:t>도면 치수 그대로 (단위 mm)</a:t>
            </a:r>
            <a:endParaRPr lang="en-US" sz="1400" dirty="0"/>
          </a:p>
          <a:p>
            <a:pPr indent="0" marL="0">
              <a:spcAft>
                <a:spcPts val="400"/>
              </a:spcAft>
              <a:buNone/>
            </a:pPr>
            <a:r>
              <a:rPr lang="en-US" sz="1400" dirty="0">
                <a:solidFill>
                  <a:srgbClr val="2C3E50"/>
                </a:solidFill>
              </a:rPr>
              <a:t>D4 × R1, 넥 Ø3.85, d6, L50</a:t>
            </a:r>
            <a:endParaRPr lang="en-US" sz="1400" dirty="0"/>
          </a:p>
          <a:p>
            <a:pPr indent="0" marL="0">
              <a:spcAft>
                <a:spcPts val="400"/>
              </a:spcAft>
              <a:buNone/>
            </a:pPr>
            <a:r>
              <a:rPr lang="en-US" sz="1400" dirty="0">
                <a:solidFill>
                  <a:srgbClr val="6B7A88"/>
                </a:solidFill>
              </a:rPr>
              <a:t>날 형상은 추정값</a:t>
            </a:r>
            <a:endParaRPr lang="en-US" sz="1400" dirty="0"/>
          </a:p>
        </p:txBody>
      </p:sp>
      <p:graphicFrame>
        <p:nvGraphicFramePr>
          <p:cNvPr id="6" name="tool-table"/>
          <p:cNvGraphicFramePr>
            <a:graphicFrameLocks noGrp="1"/>
          </p:cNvGraphicFramePr>
          <p:nvPr>
            <p:extLst>
              <p:ext uri="{D42A27DB-BD31-4B8C-83A1-F6EECF244321}">
                <p14:modId xmlns:p14="http://schemas.microsoft.com/office/powerpoint/2010/main" val="1579011935"/>
              </p:ext>
            </p:extLst>
          </p:nvPr>
        </p:nvGraphicFramePr>
        <p:xfrm>
          <a:off x="6309360" y="1965960"/>
          <a:ext cx="5303520" cy="914400"/>
        </p:xfrm>
        <a:graphic>
          <a:graphicData uri="http://schemas.openxmlformats.org/drawingml/2006/table">
            <a:tbl>
              <a:tblPr/>
              <a:tblGrid>
                <a:gridCol w="1234440"/>
                <a:gridCol w="777240"/>
                <a:gridCol w="3291840"/>
              </a:tblGrid>
              <a:tr h="384048">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프로그램</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용도</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이번에 한 일</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82296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CADCraft</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도면</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말로 지시해 시험 도면 작성</a:t>
                      </a:r>
                      <a:endParaRPr lang="en-US" sz="1500" dirty="0">
                        <a:latin typeface="맑은 고딕" charset="0"/>
                        <a:ea typeface="맑은 고딕" charset="0"/>
                        <a:cs typeface="맑은 고딕" charset="0"/>
                      </a:endParaRPr>
                    </a:p>
                    <a:p>
                      <a:pPr indent="0" marL="0">
                        <a:buNone/>
                      </a:pPr>
                      <a:r>
                        <a:rPr lang="en-US" sz="1500" dirty="0">
                          <a:solidFill>
                            <a:srgbClr val="1F2A36"/>
                          </a:solidFill>
                          <a:latin typeface="맑은 고딕" pitchFamily="34" charset="0"/>
                          <a:ea typeface="맑은 고딕" pitchFamily="34" charset="-122"/>
                          <a:cs typeface="맑은 고딕" pitchFamily="34" charset="-120"/>
                        </a:rPr>
                        <a:t>DXF와 DWG 파일로 저장</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82296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Blender</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3D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공구 2JJCR 040 010 200 3D 모델. 설명용</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82296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FreeCAD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CAM</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G코드 생성과 사내 장비용 출력 형식 시험 중</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7" name="cam-flow"/>
          <p:cNvSpPr/>
          <p:nvPr/>
        </p:nvSpPr>
        <p:spPr>
          <a:xfrm>
            <a:off x="6309360" y="5029200"/>
            <a:ext cx="5303520" cy="1051560"/>
          </a:xfrm>
          <a:prstGeom prst="rect">
            <a:avLst/>
          </a:prstGeom>
          <a:solidFill>
            <a:srgbClr val="F4F6F8"/>
          </a:solidFill>
          <a:ln w="9525">
            <a:solidFill>
              <a:srgbClr val="D9E2EC"/>
            </a:solidFill>
            <a:prstDash val="solid"/>
          </a:ln>
        </p:spPr>
      </p:sp>
      <p:sp>
        <p:nvSpPr>
          <p:cNvPr id="18" name="cam-flow-t"/>
          <p:cNvSpPr txBox="1"/>
          <p:nvPr/>
        </p:nvSpPr>
        <p:spPr>
          <a:xfrm>
            <a:off x="6492240" y="5074920"/>
            <a:ext cx="4937760" cy="960120"/>
          </a:xfrm>
          <a:prstGeom prst="rect">
            <a:avLst/>
          </a:prstGeom>
          <a:noFill/>
          <a:ln/>
        </p:spPr>
        <p:txBody>
          <a:bodyPr wrap="square" lIns="0" tIns="0" rIns="0" bIns="0" rtlCol="0" anchor="ctr"/>
          <a:lstStyle/>
          <a:p>
            <a:pPr indent="0" marL="0">
              <a:spcAft>
                <a:spcPts val="400"/>
              </a:spcAft>
              <a:buNone/>
            </a:pPr>
            <a:r>
              <a:rPr lang="en-US" sz="1600" b="1" dirty="0">
                <a:solidFill>
                  <a:srgbClr val="1F2A36"/>
                </a:solidFill>
              </a:rPr>
              <a:t>현장에 쓰기 전 확인</a:t>
            </a:r>
            <a:endParaRPr lang="en-US" sz="1600" dirty="0"/>
          </a:p>
          <a:p>
            <a:pPr indent="0" marL="0">
              <a:spcAft>
                <a:spcPts val="400"/>
              </a:spcAft>
              <a:buNone/>
            </a:pPr>
            <a:r>
              <a:rPr lang="en-US" sz="1600" dirty="0">
                <a:solidFill>
                  <a:srgbClr val="2C3E50"/>
                </a:solidFill>
              </a:rPr>
              <a:t>3D 모델은 설명용으로만 쓰고 새 G코드는 시뮬레이션과 공운전 뒤 사용</a:t>
            </a:r>
            <a:endParaRPr lang="en-US" sz="16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3D 모델은 가공 조건 근거로 쓰지 않음  |  자료 기준일 2026-10-23</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구성</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기존 엑셀과 ERP를 그대로 읽어 업무 PC가 정해진 시각에 실행</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11"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읽는 자료</a:t>
            </a:r>
            <a:endParaRPr lang="en-US" sz="1700" dirty="0"/>
          </a:p>
        </p:txBody>
      </p:sp>
      <p:sp>
        <p:nvSpPr>
          <p:cNvPr id="12"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13"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수주와 A/S 조회</a:t>
            </a:r>
            <a:endParaRPr lang="en-US" sz="1700" dirty="0"/>
          </a:p>
        </p:txBody>
      </p:sp>
      <p:sp>
        <p:nvSpPr>
          <p:cNvPr id="14"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5"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작업실적 (10-22까지 월간생산일지 엑셀)</a:t>
            </a:r>
            <a:endParaRPr lang="en-US" sz="1700" dirty="0"/>
          </a:p>
        </p:txBody>
      </p:sp>
      <p:sp>
        <p:nvSpPr>
          <p:cNvPr id="16"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7"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8"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9"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업무 PC</a:t>
            </a:r>
            <a:endParaRPr lang="en-US" sz="1700" dirty="0"/>
          </a:p>
        </p:txBody>
      </p:sp>
      <p:sp>
        <p:nvSpPr>
          <p:cNvPr id="20"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21"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07:50과 16:00</a:t>
            </a:r>
            <a:endParaRPr lang="en-US" sz="1700" dirty="0"/>
          </a:p>
        </p:txBody>
      </p:sp>
      <p:sp>
        <p:nvSpPr>
          <p:cNvPr id="22"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23"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스크립트로 집계, 대조, 배정</a:t>
            </a:r>
            <a:endParaRPr lang="en-US" sz="1700" dirty="0"/>
          </a:p>
        </p:txBody>
      </p:sp>
      <p:sp>
        <p:nvSpPr>
          <p:cNvPr id="24"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5"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Claude가 스크립트 작성과 점검</a:t>
            </a:r>
            <a:endParaRPr lang="en-US" sz="1700" dirty="0"/>
          </a:p>
        </p:txBody>
      </p:sp>
      <p:sp>
        <p:nvSpPr>
          <p:cNvPr id="26"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7"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만드는 것</a:t>
            </a:r>
            <a:endParaRPr lang="en-US" sz="1700" dirty="0"/>
          </a:p>
        </p:txBody>
      </p:sp>
      <p:sp>
        <p:nvSpPr>
          <p:cNvPr id="28"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9"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30"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31"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공유폴더 현황판</a:t>
            </a:r>
            <a:endParaRPr lang="en-US" sz="1700" dirty="0"/>
          </a:p>
        </p:txBody>
      </p:sp>
      <p:sp>
        <p:nvSpPr>
          <p:cNvPr id="32"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33"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34"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5"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위키 문서와 결정 기록</a:t>
            </a:r>
            <a:endParaRPr lang="en-US" sz="1700" dirty="0"/>
          </a:p>
        </p:txBody>
      </p:sp>
      <p:sp>
        <p:nvSpPr>
          <p:cNvPr id="36"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7"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업무 PC 1대에서 예약 작업 2개와 시작 프로그램 1개로 실행</a:t>
            </a:r>
            <a:endParaRPr lang="en-US" sz="1200" dirty="0"/>
          </a:p>
        </p:txBody>
      </p:sp>
      <p:sp>
        <p:nvSpPr>
          <p:cNvPr id="4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실행 화면</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PC를 켜면 일일보고, 현황판, 투입 목록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11"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12"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속보값이며 확정치는 다음 날 「전일」 칸</a:t>
            </a:r>
            <a:endParaRPr lang="en-US" sz="1700" dirty="0"/>
          </a:p>
        </p:txBody>
      </p:sp>
      <p:sp>
        <p:nvSpPr>
          <p:cNvPr id="13"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14"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15"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16"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7" name="cap2-img" descr="FG 장비 투입 목록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8"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FG 장비 투입 목록</a:t>
            </a:r>
            <a:endParaRPr lang="en-US" sz="1700" dirty="0"/>
          </a:p>
          <a:p>
            <a:pPr indent="0" marL="0">
              <a:buNone/>
            </a:pPr>
            <a:r>
              <a:rPr lang="en-US" sz="1400" dirty="0">
                <a:solidFill>
                  <a:srgbClr val="6B7A88"/>
                </a:solidFill>
              </a:rPr>
              <a:t>납기순으로 같은 형상끼리 묶음</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2026-10-23</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시연 (질의응답)</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기록에 없는 내용은 「확인 필요」로 표시</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11" name="qa0-q"/>
          <p:cNvSpPr/>
          <p:nvPr/>
        </p:nvSpPr>
        <p:spPr>
          <a:xfrm>
            <a:off x="548640" y="2377440"/>
            <a:ext cx="5440680" cy="777240"/>
          </a:xfrm>
          <a:prstGeom prst="rect">
            <a:avLst/>
          </a:prstGeom>
          <a:solidFill>
            <a:srgbClr val="1F2A36"/>
          </a:solidFill>
          <a:ln w="9525">
            <a:solidFill>
              <a:srgbClr val="1F2A36"/>
            </a:solidFill>
            <a:prstDash val="solid"/>
          </a:ln>
        </p:spPr>
      </p:sp>
      <p:sp>
        <p:nvSpPr>
          <p:cNvPr id="12"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「GX7 로더는 왜 못 썼고, 언제 다시 썼나?」</a:t>
            </a:r>
            <a:endParaRPr lang="en-US" sz="1800" dirty="0"/>
          </a:p>
        </p:txBody>
      </p:sp>
      <p:sp>
        <p:nvSpPr>
          <p:cNvPr id="13"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14"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점검에서 실린더 이상 발견해 로더 사용 금지</a:t>
            </a:r>
            <a:endParaRPr lang="en-US" sz="1700" dirty="0"/>
          </a:p>
          <a:p>
            <a:pPr marL="342900" indent="-342900">
              <a:spcAft>
                <a:spcPts val="800"/>
              </a:spcAft>
              <a:buSzPct val="100000"/>
              <a:buChar char="•"/>
            </a:pPr>
            <a:r>
              <a:rPr lang="en-US" sz="1700" dirty="0">
                <a:solidFill>
                  <a:srgbClr val="2C3E50"/>
                </a:solidFill>
              </a:rPr>
              <a:t>08-14 부품 발주 후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15"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16"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7"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8"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「Ø125 휠로 19 m/s를 내려면 몇 rpm?」</a:t>
            </a:r>
            <a:endParaRPr lang="en-US" sz="1800" dirty="0"/>
          </a:p>
        </p:txBody>
      </p:sp>
      <p:sp>
        <p:nvSpPr>
          <p:cNvPr id="19"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20"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21"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22"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23"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 답변은 iGrind 입력 전 검산용이며 확정은 현장 시험으로</a:t>
            </a:r>
            <a:endParaRPr lang="en-US" sz="1700" dirty="0"/>
          </a:p>
        </p:txBody>
      </p:sp>
      <p:sp>
        <p:nvSpPr>
          <p:cNvPr id="2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10-19에 실제로 물은 질문과 답을 줄여 옮김</a:t>
            </a:r>
            <a:endParaRPr lang="en-US" sz="1200" dirty="0"/>
          </a:p>
        </p:txBody>
      </p:sp>
      <p:sp>
        <p:nvSpPr>
          <p:cNvPr id="2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일일보고</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최근 20영업일 동안 20건 모두 자동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11" name="ba-panel"/>
          <p:cNvSpPr/>
          <p:nvPr/>
        </p:nvSpPr>
        <p:spPr>
          <a:xfrm>
            <a:off x="7680960" y="1920240"/>
            <a:ext cx="3931920" cy="4206240"/>
          </a:xfrm>
          <a:prstGeom prst="rect">
            <a:avLst/>
          </a:prstGeom>
          <a:solidFill>
            <a:srgbClr val="F4F6F8"/>
          </a:solidFill>
          <a:ln w="9525">
            <a:solidFill>
              <a:srgbClr val="D9E2EC"/>
            </a:solidFill>
            <a:prstDash val="solid"/>
          </a:ln>
        </p:spPr>
      </p:sp>
      <p:sp>
        <p:nvSpPr>
          <p:cNvPr id="12" name="ba0-h"/>
          <p:cNvSpPr txBox="1"/>
          <p:nvPr/>
        </p:nvSpPr>
        <p:spPr>
          <a:xfrm>
            <a:off x="7909560" y="2286000"/>
            <a:ext cx="3474720" cy="329184"/>
          </a:xfrm>
          <a:prstGeom prst="rect">
            <a:avLst/>
          </a:prstGeom>
          <a:noFill/>
          <a:ln/>
        </p:spPr>
        <p:txBody>
          <a:bodyPr wrap="square" lIns="0" tIns="0" rIns="0" bIns="0" rtlCol="0" anchor="ctr"/>
          <a:lstStyle/>
          <a:p>
            <a:pPr indent="0" marL="0">
              <a:buNone/>
            </a:pPr>
            <a:r>
              <a:rPr lang="en-US" sz="1500" b="1" dirty="0">
                <a:solidFill>
                  <a:srgbClr val="6B7A88"/>
                </a:solidFill>
              </a:rPr>
              <a:t>- 적용 전</a:t>
            </a:r>
            <a:endParaRPr lang="en-US" sz="1500" dirty="0"/>
          </a:p>
        </p:txBody>
      </p:sp>
      <p:sp>
        <p:nvSpPr>
          <p:cNvPr id="13" name="ba0-t"/>
          <p:cNvSpPr txBox="1"/>
          <p:nvPr/>
        </p:nvSpPr>
        <p:spPr>
          <a:xfrm>
            <a:off x="7909560" y="2651760"/>
            <a:ext cx="3474720" cy="777240"/>
          </a:xfrm>
          <a:prstGeom prst="rect">
            <a:avLst/>
          </a:prstGeom>
          <a:noFill/>
          <a:ln/>
        </p:spPr>
        <p:txBody>
          <a:bodyPr wrap="square" lIns="0" tIns="0" rIns="0" bIns="0" rtlCol="0" anchor="t"/>
          <a:lstStyle/>
          <a:p>
            <a:pPr indent="0" marL="0">
              <a:buNone/>
            </a:pPr>
            <a:r>
              <a:rPr lang="en-US" sz="1800" dirty="0">
                <a:solidFill>
                  <a:srgbClr val="2C3E50"/>
                </a:solidFill>
              </a:rPr>
              <a:t>담당자가 매일 엑셀로 손집계</a:t>
            </a:r>
            <a:endParaRPr lang="en-US" sz="1800" dirty="0"/>
          </a:p>
        </p:txBody>
      </p:sp>
      <p:sp>
        <p:nvSpPr>
          <p:cNvPr id="14" name="ba1-h"/>
          <p:cNvSpPr txBox="1"/>
          <p:nvPr/>
        </p:nvSpPr>
        <p:spPr>
          <a:xfrm>
            <a:off x="7909560" y="4114800"/>
            <a:ext cx="3474720" cy="329184"/>
          </a:xfrm>
          <a:prstGeom prst="rect">
            <a:avLst/>
          </a:prstGeom>
          <a:noFill/>
          <a:ln/>
        </p:spPr>
        <p:txBody>
          <a:bodyPr wrap="square" lIns="0" tIns="0" rIns="0" bIns="0" rtlCol="0" anchor="ctr"/>
          <a:lstStyle/>
          <a:p>
            <a:pPr indent="0" marL="0">
              <a:buNone/>
            </a:pPr>
            <a:r>
              <a:rPr lang="en-US" sz="1500" b="1" dirty="0">
                <a:solidFill>
                  <a:srgbClr val="0E7C86"/>
                </a:solidFill>
              </a:rPr>
              <a:t>- 적용 후</a:t>
            </a:r>
            <a:endParaRPr lang="en-US" sz="1500" dirty="0"/>
          </a:p>
        </p:txBody>
      </p:sp>
      <p:sp>
        <p:nvSpPr>
          <p:cNvPr id="15" name="ba1-t"/>
          <p:cNvSpPr txBox="1"/>
          <p:nvPr/>
        </p:nvSpPr>
        <p:spPr>
          <a:xfrm>
            <a:off x="7909560" y="4480560"/>
            <a:ext cx="3474720" cy="777240"/>
          </a:xfrm>
          <a:prstGeom prst="rect">
            <a:avLst/>
          </a:prstGeom>
          <a:noFill/>
          <a:ln/>
        </p:spPr>
        <p:txBody>
          <a:bodyPr wrap="square" lIns="0" tIns="0" rIns="0" bIns="0" rtlCol="0" anchor="t"/>
          <a:lstStyle/>
          <a:p>
            <a:pPr indent="0" marL="0">
              <a:buNone/>
            </a:pPr>
            <a:r>
              <a:rPr lang="en-US" sz="1800" dirty="0">
                <a:solidFill>
                  <a:srgbClr val="2C3E50"/>
                </a:solidFill>
              </a:rPr>
              <a:t>07:50과 16:00에 자동 생성되어 담당자는 확인만</a:t>
            </a:r>
            <a:endParaRPr lang="en-US" sz="18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23일까지  |  자료 기준일 2026-10-23</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항목별</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 항목 중 4개는 실측으로 확인</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하여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기억과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330여 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과거 12건과 올해 5건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주: 실측은 기록으로 센 값이고 사내 경험값은 담당자 확인값</a:t>
            </a:r>
            <a:endParaRPr lang="en-US" sz="1200" dirty="0"/>
          </a:p>
        </p:txBody>
      </p:sp>
      <p:sp>
        <p:nvSpPr>
          <p:cNvPr id="13"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개선 방향: 생산 실적 ERP 단일 기록</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10-23부터 엑셀 작업일지 입력 중단, 생산 실적은 ERP에만 기록</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2" name="erp-table"/>
          <p:cNvGraphicFramePr>
            <a:graphicFrameLocks noGrp="1"/>
          </p:cNvGraphicFramePr>
          <p:nvPr>
            <p:extLst>
              <p:ext uri="{D42A27DB-BD31-4B8C-83A1-F6EECF244321}">
                <p14:modId xmlns:p14="http://schemas.microsoft.com/office/powerpoint/2010/main" val="1579011935"/>
              </p:ext>
            </p:extLst>
          </p:nvPr>
        </p:nvGraphicFramePr>
        <p:xfrm>
          <a:off x="548640" y="1965960"/>
          <a:ext cx="6949440" cy="914400"/>
        </p:xfrm>
        <a:graphic>
          <a:graphicData uri="http://schemas.openxmlformats.org/drawingml/2006/table">
            <a:tbl>
              <a:tblPr/>
              <a:tblGrid>
                <a:gridCol w="1828800"/>
                <a:gridCol w="2377440"/>
                <a:gridCol w="2743200"/>
              </a:tblGrid>
              <a:tr h="384048">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10-22까지</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10-23부터</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66928">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실적 입력</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엑셀과 ERP에 두 번</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ERP 작업실적에 한 번</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일일보고</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엑셀의 FG, GX7 수량과 가공시간</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ERP NC 수량, 가공시간은 표준공수 추정</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현황판 오늘 실적</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엑셀 작업일지</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ERP 작업실적</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장비별 투입 목록</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작업일지 가공분 차감</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ERP 작업실적 가공분 차감</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erp-cmp"/>
          <p:cNvSpPr/>
          <p:nvPr/>
        </p:nvSpPr>
        <p:spPr>
          <a:xfrm>
            <a:off x="7772400" y="1965960"/>
            <a:ext cx="3840480" cy="2651760"/>
          </a:xfrm>
          <a:prstGeom prst="rect">
            <a:avLst/>
          </a:prstGeom>
          <a:solidFill>
            <a:srgbClr val="F4F6F8"/>
          </a:solidFill>
          <a:ln w="9525">
            <a:solidFill>
              <a:srgbClr val="D9E2EC"/>
            </a:solidFill>
            <a:prstDash val="solid"/>
          </a:ln>
        </p:spPr>
      </p:sp>
      <p:sp>
        <p:nvSpPr>
          <p:cNvPr id="12" name="erp-cmp-h"/>
          <p:cNvSpPr txBox="1"/>
          <p:nvPr/>
        </p:nvSpPr>
        <p:spPr>
          <a:xfrm>
            <a:off x="7955280" y="2057400"/>
            <a:ext cx="3474720" cy="329184"/>
          </a:xfrm>
          <a:prstGeom prst="rect">
            <a:avLst/>
          </a:prstGeom>
          <a:noFill/>
          <a:ln/>
        </p:spPr>
        <p:txBody>
          <a:bodyPr wrap="square" lIns="0" tIns="0" rIns="0" bIns="0" rtlCol="0" anchor="ctr"/>
          <a:lstStyle/>
          <a:p>
            <a:pPr indent="0" marL="0">
              <a:buNone/>
            </a:pPr>
            <a:r>
              <a:rPr lang="en-US" sz="1400" b="1" dirty="0">
                <a:solidFill>
                  <a:srgbClr val="3A506B"/>
                </a:solidFill>
              </a:rPr>
              <a:t>엑셀과 ERP 수량 대조 (10-01 ~ 10-23)</a:t>
            </a:r>
            <a:endParaRPr lang="en-US" sz="1400" dirty="0"/>
          </a:p>
        </p:txBody>
      </p:sp>
      <p:sp>
        <p:nvSpPr>
          <p:cNvPr id="13" name="erp-cmp-n"/>
          <p:cNvSpPr txBox="1"/>
          <p:nvPr/>
        </p:nvSpPr>
        <p:spPr>
          <a:xfrm>
            <a:off x="7955280" y="2468880"/>
            <a:ext cx="3474720" cy="1417320"/>
          </a:xfrm>
          <a:prstGeom prst="rect">
            <a:avLst/>
          </a:prstGeom>
          <a:noFill/>
          <a:ln/>
        </p:spPr>
        <p:txBody>
          <a:bodyPr wrap="square" lIns="0" tIns="0" rIns="0" bIns="0" rtlCol="0" anchor="t"/>
          <a:lstStyle/>
          <a:p>
            <a:pPr indent="0" marL="0">
              <a:buNone/>
            </a:pPr>
            <a:r>
              <a:rPr lang="en-US" sz="1600" dirty="0">
                <a:solidFill>
                  <a:srgbClr val="6B7A88"/>
                </a:solidFill>
              </a:rPr>
              <a:t>엑셀  </a:t>
            </a:r>
            <a:pPr indent="0" marL="0">
              <a:buNone/>
            </a:pPr>
            <a:r>
              <a:rPr lang="en-US" sz="3600" b="1" dirty="0">
                <a:solidFill>
                  <a:srgbClr val="1F2A36"/>
                </a:solidFill>
              </a:rPr>
              <a:t>971</a:t>
            </a:r>
            <a:pPr indent="0" marL="0">
              <a:buNone/>
            </a:pPr>
            <a:r>
              <a:rPr lang="en-US" sz="1600" dirty="0">
                <a:solidFill>
                  <a:srgbClr val="1F2A36"/>
                </a:solidFill>
              </a:rPr>
              <a:t> 개</a:t>
            </a:r>
            <a:endParaRPr lang="en-US" sz="1600" dirty="0"/>
          </a:p>
          <a:p>
            <a:pPr indent="0" marL="0">
              <a:buNone/>
            </a:pPr>
            <a:r>
              <a:rPr lang="en-US" sz="1600" dirty="0">
                <a:solidFill>
                  <a:srgbClr val="6B7A88"/>
                </a:solidFill>
              </a:rPr>
              <a:t>ERP  </a:t>
            </a:r>
            <a:pPr indent="0" marL="0">
              <a:buNone/>
            </a:pPr>
            <a:r>
              <a:rPr lang="en-US" sz="3600" b="1" dirty="0">
                <a:solidFill>
                  <a:srgbClr val="0E7C86"/>
                </a:solidFill>
              </a:rPr>
              <a:t>955</a:t>
            </a:r>
            <a:pPr indent="0" marL="0">
              <a:buNone/>
            </a:pPr>
            <a:r>
              <a:rPr lang="en-US" sz="1600" dirty="0">
                <a:solidFill>
                  <a:srgbClr val="0E7C86"/>
                </a:solidFill>
              </a:rPr>
              <a:t> 개</a:t>
            </a:r>
            <a:endParaRPr lang="en-US" sz="1600" dirty="0"/>
          </a:p>
        </p:txBody>
      </p:sp>
      <p:sp>
        <p:nvSpPr>
          <p:cNvPr id="14" name="erp-cmp-t"/>
          <p:cNvSpPr txBox="1"/>
          <p:nvPr/>
        </p:nvSpPr>
        <p:spPr>
          <a:xfrm>
            <a:off x="7955280" y="3977640"/>
            <a:ext cx="3474720" cy="502920"/>
          </a:xfrm>
          <a:prstGeom prst="rect">
            <a:avLst/>
          </a:prstGeom>
          <a:noFill/>
          <a:ln/>
        </p:spPr>
        <p:txBody>
          <a:bodyPr wrap="square" lIns="0" tIns="0" rIns="0" bIns="0" rtlCol="0" anchor="t"/>
          <a:lstStyle/>
          <a:p>
            <a:pPr indent="0" marL="0">
              <a:buNone/>
            </a:pPr>
            <a:r>
              <a:rPr lang="en-US" sz="1400" dirty="0">
                <a:solidFill>
                  <a:srgbClr val="2C3E50"/>
                </a:solidFill>
              </a:rPr>
              <a:t>차이 1.6 %, 하루 단위로는 −18 ~ +12개</a:t>
            </a:r>
            <a:endParaRPr lang="en-US" sz="1400" dirty="0"/>
          </a:p>
        </p:txBody>
      </p:sp>
      <p:sp>
        <p:nvSpPr>
          <p:cNvPr id="15" name="erp-left"/>
          <p:cNvSpPr/>
          <p:nvPr/>
        </p:nvSpPr>
        <p:spPr>
          <a:xfrm>
            <a:off x="548640" y="4846320"/>
            <a:ext cx="11064240" cy="1234440"/>
          </a:xfrm>
          <a:prstGeom prst="rect">
            <a:avLst/>
          </a:prstGeom>
          <a:solidFill>
            <a:srgbClr val="EAF4F5"/>
          </a:solidFill>
          <a:ln w="9525">
            <a:solidFill>
              <a:srgbClr val="D9E2EC"/>
            </a:solidFill>
            <a:prstDash val="solid"/>
          </a:ln>
        </p:spPr>
      </p:sp>
      <p:sp>
        <p:nvSpPr>
          <p:cNvPr id="16" name="erp-left-t"/>
          <p:cNvSpPr txBox="1"/>
          <p:nvPr/>
        </p:nvSpPr>
        <p:spPr>
          <a:xfrm>
            <a:off x="731520" y="4892040"/>
            <a:ext cx="10698480" cy="1143000"/>
          </a:xfrm>
          <a:prstGeom prst="rect">
            <a:avLst/>
          </a:prstGeom>
          <a:noFill/>
          <a:ln/>
        </p:spPr>
        <p:txBody>
          <a:bodyPr wrap="square" lIns="0" tIns="0" rIns="0" bIns="0" rtlCol="0" anchor="ctr"/>
          <a:lstStyle/>
          <a:p>
            <a:pPr indent="0" marL="0">
              <a:spcAft>
                <a:spcPts val="400"/>
              </a:spcAft>
              <a:buNone/>
            </a:pPr>
            <a:r>
              <a:rPr lang="en-US" sz="1600" b="1" dirty="0">
                <a:solidFill>
                  <a:srgbClr val="1F2A36"/>
                </a:solidFill>
              </a:rPr>
              <a:t>보완할 점</a:t>
            </a:r>
            <a:endParaRPr lang="en-US" sz="1600" dirty="0"/>
          </a:p>
          <a:p>
            <a:pPr marL="342900" indent="-342900">
              <a:spcAft>
                <a:spcPts val="400"/>
              </a:spcAft>
              <a:buSzPct val="100000"/>
              <a:buChar char="•"/>
            </a:pPr>
            <a:r>
              <a:rPr lang="en-US" sz="1600" dirty="0">
                <a:solidFill>
                  <a:srgbClr val="2C3E50"/>
                </a:solidFill>
              </a:rPr>
              <a:t>장비(FG, GX7)별 수량 구분 없음 → 필요할 때만 기간을 정해 비고 칸에 기록</a:t>
            </a:r>
            <a:endParaRPr lang="en-US" sz="1600" dirty="0"/>
          </a:p>
          <a:p>
            <a:pPr marL="342900" indent="-342900">
              <a:spcAft>
                <a:spcPts val="400"/>
              </a:spcAft>
              <a:buSzPct val="100000"/>
              <a:buChar char="•"/>
            </a:pPr>
            <a:r>
              <a:rPr lang="en-US" sz="1600" dirty="0">
                <a:solidFill>
                  <a:srgbClr val="2C3E50"/>
                </a:solidFill>
              </a:rPr>
              <a:t>가공시간 입력 칸 없음 → 2022년부터 쌓인 기록으로 품목별 추정값 사용</a:t>
            </a:r>
            <a:endParaRPr lang="en-US" sz="16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엑셀은 FG와 GX7 합, ERP는 NC 양품과 불량  |  자료 기준일 2026-10-23</a:t>
            </a:r>
            <a:endParaRPr lang="en-US" sz="1200" dirty="0"/>
          </a:p>
        </p:txBody>
      </p:sp>
      <p:sp>
        <p:nvSpPr>
          <p:cNvPr id="19"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개선 방향: 운영 한계와 대응</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효과 없는 자동화 4건은 10-07에 중단</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1920240"/>
                <a:gridCol w="4754880"/>
                <a:gridCol w="4389120"/>
              </a:tblGrid>
              <a:tr h="36576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효과 없는 자동화</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10-07에 4건 중단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정상으로 찍힌 실패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계산 오류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출처와 신뢰도를 붙이고 현장 시험 후 적용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문서 문체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공식 양식과 논문을 대조해 작성 기준 마련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담당자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만들고 고치는 사람이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cost-pct"/>
          <p:cNvSpPr txBox="1"/>
          <p:nvPr/>
        </p:nvSpPr>
        <p:spPr>
          <a:xfrm>
            <a:off x="548640" y="1920240"/>
            <a:ext cx="1737360" cy="82296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12" name="cost-h"/>
          <p:cNvSpPr txBox="1"/>
          <p:nvPr/>
        </p:nvSpPr>
        <p:spPr>
          <a:xfrm>
            <a:off x="2286000" y="1920240"/>
            <a:ext cx="7772400" cy="329184"/>
          </a:xfrm>
          <a:prstGeom prst="rect">
            <a:avLst/>
          </a:prstGeom>
          <a:noFill/>
          <a:ln/>
        </p:spPr>
        <p:txBody>
          <a:bodyPr wrap="square" lIns="0" tIns="0" rIns="0" bIns="0" rtlCol="0" anchor="ctr"/>
          <a:lstStyle/>
          <a:p>
            <a:pPr indent="0" marL="0">
              <a:buNone/>
            </a:pPr>
            <a:r>
              <a:rPr lang="en-US" sz="1600" b="1" dirty="0">
                <a:solidFill>
                  <a:srgbClr val="1F2A36"/>
                </a:solidFill>
              </a:rPr>
              <a:t>4주간 결정 84건 중 30건이 자동화 수리와 운영 (10-07 1차 판정)</a:t>
            </a:r>
            <a:endParaRPr lang="en-US" sz="1600" dirty="0"/>
          </a:p>
        </p:txBody>
      </p:sp>
      <p:graphicFrame>
        <p:nvGraphicFramePr>
          <p:cNvPr id="13" name="cost-chart" descr=""/>
          <p:cNvGraphicFramePr/>
          <p:nvPr/>
        </p:nvGraphicFramePr>
        <p:xfrm>
          <a:off x="2194560" y="2194560"/>
          <a:ext cx="9418320" cy="676656"/>
        </p:xfrm>
        <a:graphic xmlns:a="http://schemas.openxmlformats.org/drawingml/2006/main">
          <a:graphicData uri="http://schemas.openxmlformats.org/drawingml/2006/chart">
            <c:chart xmlns:c="http://schemas.openxmlformats.org/drawingml/2006/chart" r:id="rId1"/>
          </a:graphicData>
        </a:graphic>
      </p:graphicFrame>
      <p:sp>
        <p:nvSpPr>
          <p:cNvPr id="14" name="next"/>
          <p:cNvSpPr/>
          <p:nvPr/>
        </p:nvSpPr>
        <p:spPr>
          <a:xfrm>
            <a:off x="548640" y="5513832"/>
            <a:ext cx="11064240" cy="603504"/>
          </a:xfrm>
          <a:prstGeom prst="rect">
            <a:avLst/>
          </a:prstGeom>
          <a:solidFill>
            <a:srgbClr val="1F2A36"/>
          </a:solidFill>
          <a:ln w="9525">
            <a:solidFill>
              <a:srgbClr val="1F2A36"/>
            </a:solidFill>
            <a:prstDash val="solid"/>
          </a:ln>
        </p:spPr>
      </p:sp>
      <p:sp>
        <p:nvSpPr>
          <p:cNvPr id="15" name="next-t"/>
          <p:cNvSpPr txBox="1"/>
          <p:nvPr/>
        </p:nvSpPr>
        <p:spPr>
          <a:xfrm>
            <a:off x="777240" y="5513832"/>
            <a:ext cx="10698480" cy="603504"/>
          </a:xfrm>
          <a:prstGeom prst="rect">
            <a:avLst/>
          </a:prstGeom>
          <a:noFill/>
          <a:ln/>
        </p:spPr>
        <p:txBody>
          <a:bodyPr wrap="square" lIns="0" tIns="0" rIns="0" bIns="0" rtlCol="0" anchor="ctr"/>
          <a:lstStyle/>
          <a:p>
            <a:pPr indent="0" marL="0">
              <a:buNone/>
            </a:pPr>
            <a:r>
              <a:rPr lang="en-US" sz="1700" b="1" dirty="0">
                <a:solidFill>
                  <a:srgbClr val="FFFFFF"/>
                </a:solidFill>
              </a:rPr>
              <a:t>다음 과제: 11월 4일 자동화 2차 판정, 투입 목록 효과 재측정, 원목 연삭 테스트 3, CAM 출력 시험</a:t>
            </a:r>
            <a:endParaRPr lang="en-US" sz="17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팀도 바로 쓸 수 있는 것: 엑셀 보고 집계, 자료 정리, 문서 조사</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2026-10-23T05:55:14Z</dcterms:created>
  <dcterms:modified xsi:type="dcterms:W3CDTF">2026-10-23T05:55:14Z</dcterms:modified>
</cp:coreProperties>
</file>