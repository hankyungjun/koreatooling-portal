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f49fecd0-de47-8c6a-d63d-f347e29aa673}">
          <p14:sldIdLst>
            <p14:sldId id="256"/>
            <p14:sldId id="257"/>
          </p14:sldIdLst>
        </p14:section>
        <p14:section name="01 추진 배경" id="{762a5573-ed36-4019-1941-f6ef2f9736a0}">
          <p14:sldIdLst>
            <p14:sldId id="258"/>
          </p14:sldIdLst>
        </p14:section>
        <p14:section name="① 활용 현황" id="{072235ea-de1b-5196-c941-5c19fff575c6}">
          <p14:sldIdLst>
            <p14:sldId id="259"/>
            <p14:sldId id="260"/>
          </p14:sldIdLst>
        </p14:section>
        <p14:section name="② 자동화 시스템" id="{2988b19b-3da6-0ffd-461a-7178900581c1}">
          <p14:sldIdLst>
            <p14:sldId id="261"/>
            <p14:sldId id="262"/>
            <p14:sldId id="263"/>
          </p14:sldIdLst>
        </p14:section>
        <p14:section name="③ 전후 비교" id="{733ccf38-b593-1574-3de7-6e2bc604a134}">
          <p14:sldIdLst>
            <p14:sldId id="264"/>
            <p14:sldId id="265"/>
          </p14:sldIdLst>
        </p14:section>
        <p14:section name="개선 방향" id="{4083aef5-1e78-522e-b808-e9833608213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15</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담당자 기억 네 곳에 흩어져 있었고, 일일보고 집계와 투입 판단은 매일 손으로 했습니다. 그래서 세 방향으로 추진했습니다. 한곳에 기록하기, 반복 업무 자동 실행, 판단 근거 남기기입니다.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이번 달에는 원목 연삭 시험에서 제조사 제품 치수로 기준을 잡고, 두 번째 시험에서 넥 시작부 자국을 없앴습니다.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시험한 것입니다. Claude를 무료 도면, 3D, CAM 프로그램에 연결했습니다. 그림은 앞 장의 원목 연삭 시험에 쓴 공구를 도면 치수대로 3D로 만든 것입니다. 날 모양은 시뮬레이터 자료를 줄여 입힌 추정이라 설명용으로만 씁니다. CAM은 G코드를 만들어 우리 장비 형식으로 내보내는 시험을 하고 있고, 장비에 넣기 전에 시뮬레이션과 공운전으로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두 번째 필수 항목, 자동화 시스템입니다.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앞으로의 과제입니다. 지금까지 생산 실적을 엑셀 작업일지와 ERP에 두 번 적었는데, 10월 23일부터 ERP 하나로 바꿨습니다. 일일보고, 현황판, 장비별 투입 목록도 ERP 작업실적을 읽도록 고쳤습니다. 10월 수량을 대조하면 엑셀 971개, ERP 955개로 1.6 % 차이입니다. 보완할 점은 두 가지입니다. ERP에는 두 장비 구분이 없어서 필요할 때만 기간을 정해 비고 칸에 적고, 가공시간은 입력 칸이 없어서 2022년부터 쌓인 기록으로 품목별 추정값을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원목 연삭 세 번째 시험, CAM 출력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kicker"/>
          <p:cNvSpPr txBox="1"/>
          <p:nvPr/>
        </p:nvSpPr>
        <p:spPr>
          <a:xfrm>
            <a:off x="731520" y="603504"/>
            <a:ext cx="11128248" cy="566928"/>
          </a:xfrm>
          <a:prstGeom prst="rect">
            <a:avLst/>
          </a:prstGeom>
          <a:noFill/>
          <a:ln/>
        </p:spPr>
        <p:txBody>
          <a:bodyPr wrap="square" lIns="0" tIns="0" rIns="0" bIns="0" rtlCol="0" anchor="t"/>
          <a:lstStyle/>
          <a:p>
            <a:pPr indent="0" marL="0">
              <a:buNone/>
            </a:pPr>
            <a:r>
              <a:rPr lang="en-US" sz="4000" b="1" spc="200" kern="0" dirty="0">
                <a:solidFill>
                  <a:srgbClr val="FFC000"/>
                </a:solidFill>
              </a:rPr>
              <a:t>Claude AI </a:t>
            </a:r>
            <a:pPr indent="0" marL="0">
              <a:buNone/>
            </a:pPr>
            <a:r>
              <a:rPr lang="en-US" sz="4000" b="1" spc="200" kern="0" dirty="0">
                <a:solidFill>
                  <a:srgbClr val="FFFFFF"/>
                </a:solidFill>
              </a:rPr>
              <a:t>파일럿 2기 성과 발표</a:t>
            </a:r>
            <a:endParaRPr lang="en-US" sz="40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2026-10-23</a:t>
            </a:r>
            <a:endParaRPr lang="en-US" sz="1200" dirty="0"/>
          </a:p>
        </p:txBody>
      </p:sp>
      <p:sp>
        <p:nvSpPr>
          <p:cNvPr id="9"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설계 프로그램 연결</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개선 방향</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생산 실적 ERP 단일 기록, 운영 한계와 대응</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재연마 기록 4곳 분산 및 일일보고 · 투입 판단 수작업</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활용 현황: 문서 기록</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재연마 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연삭 시험 지원</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제조사 자료와 ISO 표준으로 기준 설정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원목 연삭 2회, 넥 시작부 자국 해결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2026-10-23</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활용 현황: 설계 프로그램 연결</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원목 연삭 시험 공구 2JJCR 040 010 200 도면 치수 3D 모델화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t3d0-cap"/>
          <p:cNvSpPr txBox="1"/>
          <p:nvPr/>
        </p:nvSpPr>
        <p:spPr>
          <a:xfrm>
            <a:off x="548640" y="1965960"/>
            <a:ext cx="5486400" cy="292608"/>
          </a:xfrm>
          <a:prstGeom prst="rect">
            <a:avLst/>
          </a:prstGeom>
          <a:noFill/>
          <a:ln/>
        </p:spPr>
        <p:txBody>
          <a:bodyPr wrap="square" lIns="0" tIns="0" rIns="0" bIns="0" rtlCol="0" anchor="ctr"/>
          <a:lstStyle/>
          <a:p>
            <a:pPr indent="0" marL="0">
              <a:buNone/>
            </a:pPr>
            <a:r>
              <a:rPr lang="en-US" sz="1300" b="1" dirty="0">
                <a:solidFill>
                  <a:srgbClr val="3A506B"/>
                </a:solidFill>
              </a:rPr>
              <a:t>그림 1. 2JJCR 040 010 200 전체 (Blender)</a:t>
            </a:r>
            <a:endParaRPr lang="en-US" sz="1300" dirty="0"/>
          </a:p>
        </p:txBody>
      </p:sp>
      <p:pic>
        <p:nvPicPr>
          <p:cNvPr id="11" name="t3d0-img" descr="2날 코너R 롱넥 엔드밀 2JJCR 040 010 200 3D 모델 전체">    </p:cNvPr>
          <p:cNvPicPr>
            <a:picLocks noChangeAspect="1"/>
          </p:cNvPicPr>
          <p:nvPr/>
        </p:nvPicPr>
        <p:blipFill>
          <a:blip r:embed="rId1"/>
          <a:stretch>
            <a:fillRect/>
          </a:stretch>
        </p:blipFill>
        <p:spPr>
          <a:xfrm>
            <a:off x="548640" y="2286000"/>
            <a:ext cx="5486400" cy="2286000"/>
          </a:xfrm>
          <a:prstGeom prst="rect">
            <a:avLst/>
          </a:prstGeom>
        </p:spPr>
      </p:pic>
      <p:sp>
        <p:nvSpPr>
          <p:cNvPr id="12" name="t3d0-frame"/>
          <p:cNvSpPr/>
          <p:nvPr/>
        </p:nvSpPr>
        <p:spPr>
          <a:xfrm>
            <a:off x="548640" y="2286000"/>
            <a:ext cx="5486400" cy="2286000"/>
          </a:xfrm>
          <a:prstGeom prst="rect">
            <a:avLst/>
          </a:prstGeom>
          <a:ln w="9525">
            <a:solidFill>
              <a:srgbClr val="D9E2EC"/>
            </a:solidFill>
            <a:prstDash val="solid"/>
          </a:ln>
        </p:spPr>
      </p:sp>
      <p:pic>
        <p:nvPicPr>
          <p:cNvPr id="13" name="t3d1-img" descr="2JJCR 040 010 200 날 끝 확대">    </p:cNvPr>
          <p:cNvPicPr>
            <a:picLocks noChangeAspect="1"/>
          </p:cNvPicPr>
          <p:nvPr/>
        </p:nvPicPr>
        <p:blipFill>
          <a:blip r:embed="rId2"/>
          <a:stretch>
            <a:fillRect/>
          </a:stretch>
        </p:blipFill>
        <p:spPr>
          <a:xfrm>
            <a:off x="548640" y="4754880"/>
            <a:ext cx="1856232" cy="1325880"/>
          </a:xfrm>
          <a:prstGeom prst="rect">
            <a:avLst/>
          </a:prstGeom>
        </p:spPr>
      </p:pic>
      <p:sp>
        <p:nvSpPr>
          <p:cNvPr id="14" name="t3d1-frame"/>
          <p:cNvSpPr/>
          <p:nvPr/>
        </p:nvSpPr>
        <p:spPr>
          <a:xfrm>
            <a:off x="548640" y="4754880"/>
            <a:ext cx="1856232" cy="1325880"/>
          </a:xfrm>
          <a:prstGeom prst="rect">
            <a:avLst/>
          </a:prstGeom>
          <a:ln w="9525">
            <a:solidFill>
              <a:srgbClr val="D9E2EC"/>
            </a:solidFill>
            <a:prstDash val="solid"/>
          </a:ln>
        </p:spPr>
      </p:sp>
      <p:sp>
        <p:nvSpPr>
          <p:cNvPr id="15" name="t3d1-cap"/>
          <p:cNvSpPr txBox="1"/>
          <p:nvPr/>
        </p:nvSpPr>
        <p:spPr>
          <a:xfrm>
            <a:off x="2560320" y="4754880"/>
            <a:ext cx="3474720" cy="1325880"/>
          </a:xfrm>
          <a:prstGeom prst="rect">
            <a:avLst/>
          </a:prstGeom>
          <a:noFill/>
          <a:ln/>
        </p:spPr>
        <p:txBody>
          <a:bodyPr wrap="square" lIns="0" tIns="0" rIns="0" bIns="0" rtlCol="0" anchor="t"/>
          <a:lstStyle/>
          <a:p>
            <a:pPr indent="0" marL="0">
              <a:spcAft>
                <a:spcPts val="400"/>
              </a:spcAft>
              <a:buNone/>
            </a:pPr>
            <a:r>
              <a:rPr lang="en-US" sz="1400" b="1" dirty="0">
                <a:solidFill>
                  <a:srgbClr val="3A506B"/>
                </a:solidFill>
              </a:rPr>
              <a:t>그림 2. 날 끝 확대</a:t>
            </a:r>
            <a:endParaRPr lang="en-US" sz="1400" dirty="0"/>
          </a:p>
          <a:p>
            <a:pPr indent="0" marL="0">
              <a:spcAft>
                <a:spcPts val="400"/>
              </a:spcAft>
              <a:buNone/>
            </a:pPr>
            <a:r>
              <a:rPr lang="en-US" sz="1400" dirty="0">
                <a:solidFill>
                  <a:srgbClr val="2C3E50"/>
                </a:solidFill>
              </a:rPr>
              <a:t>도면 치수 그대로 (단위 mm)</a:t>
            </a:r>
            <a:endParaRPr lang="en-US" sz="1400" dirty="0"/>
          </a:p>
          <a:p>
            <a:pPr indent="0" marL="0">
              <a:spcAft>
                <a:spcPts val="400"/>
              </a:spcAft>
              <a:buNone/>
            </a:pPr>
            <a:r>
              <a:rPr lang="en-US" sz="1400" dirty="0">
                <a:solidFill>
                  <a:srgbClr val="2C3E50"/>
                </a:solidFill>
              </a:rPr>
              <a:t>D4 × R1, 넥 Ø3.85, d6, L50</a:t>
            </a:r>
            <a:endParaRPr lang="en-US" sz="1400" dirty="0"/>
          </a:p>
          <a:p>
            <a:pPr indent="0" marL="0">
              <a:spcAft>
                <a:spcPts val="400"/>
              </a:spcAft>
              <a:buNone/>
            </a:pPr>
            <a:r>
              <a:rPr lang="en-US" sz="1400" dirty="0">
                <a:solidFill>
                  <a:srgbClr val="6B7A88"/>
                </a:solidFill>
              </a:rPr>
              <a:t>날 형상은 추정값</a:t>
            </a:r>
            <a:endParaRPr lang="en-US" sz="1400" dirty="0"/>
          </a:p>
        </p:txBody>
      </p:sp>
      <p:graphicFrame>
        <p:nvGraphicFramePr>
          <p:cNvPr id="6"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914400"/>
        </p:xfrm>
        <a:graphic>
          <a:graphicData uri="http://schemas.openxmlformats.org/drawingml/2006/table">
            <a:tbl>
              <a:tblPr/>
              <a:tblGrid>
                <a:gridCol w="1234440"/>
                <a:gridCol w="777240"/>
                <a:gridCol w="329184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말로 지시해 시험 도면 작성</a:t>
                      </a:r>
                      <a:endParaRPr lang="en-US" sz="1500" dirty="0">
                        <a:latin typeface="맑은 고딕" charset="0"/>
                        <a:ea typeface="맑은 고딕" charset="0"/>
                        <a:cs typeface="맑은 고딕" charset="0"/>
                      </a:endParaRPr>
                    </a:p>
                    <a:p>
                      <a:pPr indent="0" marL="0">
                        <a:buNone/>
                      </a:pPr>
                      <a:r>
                        <a:rPr lang="en-US" sz="1500" dirty="0">
                          <a:solidFill>
                            <a:srgbClr val="1F2A36"/>
                          </a:solidFill>
                          <a:latin typeface="맑은 고딕" pitchFamily="34" charset="0"/>
                          <a:ea typeface="맑은 고딕" pitchFamily="34" charset="-122"/>
                          <a:cs typeface="맑은 고딕" pitchFamily="34" charset="-120"/>
                        </a:rPr>
                        <a:t>DXF와 DWG 파일로 저장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공구 2JJCR 040 010 200 3D 모델.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82296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G코드 생성과 사내 장비용 출력 형식 시험 중</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5029200"/>
            <a:ext cx="5303520" cy="1051560"/>
          </a:xfrm>
          <a:prstGeom prst="rect">
            <a:avLst/>
          </a:prstGeom>
          <a:solidFill>
            <a:srgbClr val="F4F6F8"/>
          </a:solidFill>
          <a:ln w="9525">
            <a:solidFill>
              <a:srgbClr val="D9E2EC"/>
            </a:solidFill>
            <a:prstDash val="solid"/>
          </a:ln>
        </p:spPr>
      </p:sp>
      <p:sp>
        <p:nvSpPr>
          <p:cNvPr id="18" name="cam-flow-t"/>
          <p:cNvSpPr txBox="1"/>
          <p:nvPr/>
        </p:nvSpPr>
        <p:spPr>
          <a:xfrm>
            <a:off x="6492240" y="5074920"/>
            <a:ext cx="4937760" cy="960120"/>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현장에 쓰기 전 확인</a:t>
            </a:r>
            <a:endParaRPr lang="en-US" sz="1600" dirty="0"/>
          </a:p>
          <a:p>
            <a:pPr indent="0" marL="0">
              <a:spcAft>
                <a:spcPts val="400"/>
              </a:spcAft>
              <a:buNone/>
            </a:pPr>
            <a:r>
              <a:rPr lang="en-US" sz="1600" dirty="0">
                <a:solidFill>
                  <a:srgbClr val="2C3E50"/>
                </a:solidFill>
              </a:rPr>
              <a:t>3D 모델은 설명용으로만 쓰고 새 G코드는 시뮬레이션과 공운전 뒤 사용</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3D 모델은 가공 조건 근거로 쓰지 않음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작업실적 (10-22까지 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시연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28600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 적용 전</a:t>
            </a:r>
            <a:endParaRPr lang="en-US" sz="1500" dirty="0"/>
          </a:p>
        </p:txBody>
      </p:sp>
      <p:sp>
        <p:nvSpPr>
          <p:cNvPr id="13" name="ba0-t"/>
          <p:cNvSpPr txBox="1"/>
          <p:nvPr/>
        </p:nvSpPr>
        <p:spPr>
          <a:xfrm>
            <a:off x="7909560" y="265176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41148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 적용 후</a:t>
            </a:r>
            <a:endParaRPr lang="en-US" sz="1500" dirty="0"/>
          </a:p>
        </p:txBody>
      </p:sp>
      <p:sp>
        <p:nvSpPr>
          <p:cNvPr id="15" name="ba1-t"/>
          <p:cNvSpPr txBox="1"/>
          <p:nvPr/>
        </p:nvSpPr>
        <p:spPr>
          <a:xfrm>
            <a:off x="7909560" y="44805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23일까지  |  자료 기준일 2026-10-23</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항목별</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20 / 20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파일 기록 10-23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개선 방향: 생산 실적 ERP 단일 기록</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10-23부터 엑셀 작업일지 입력 중단, 생산 실적은 ERP에만 기록</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erp-table"/>
          <p:cNvGraphicFramePr>
            <a:graphicFrameLocks noGrp="1"/>
          </p:cNvGraphicFramePr>
          <p:nvPr>
            <p:extLst>
              <p:ext uri="{D42A27DB-BD31-4B8C-83A1-F6EECF244321}">
                <p14:modId xmlns:p14="http://schemas.microsoft.com/office/powerpoint/2010/main" val="1579011935"/>
              </p:ext>
            </p:extLst>
          </p:nvPr>
        </p:nvGraphicFramePr>
        <p:xfrm>
          <a:off x="548640" y="1965960"/>
          <a:ext cx="6949440" cy="914400"/>
        </p:xfrm>
        <a:graphic>
          <a:graphicData uri="http://schemas.openxmlformats.org/drawingml/2006/table">
            <a:tbl>
              <a:tblPr/>
              <a:tblGrid>
                <a:gridCol w="1828800"/>
                <a:gridCol w="2377440"/>
                <a:gridCol w="274320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10-22까지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10-23부터</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실적 입력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엑셀과 ERP에 두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작업실적에 한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일일보고</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엑셀의 FG, GX7 수량과 가공시간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NC 수량, 가공시간은 표준공수 추정</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현황판 오늘 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엑셀 작업일지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장비별 투입 목록</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작업일지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ERP 작업실적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erp-cmp"/>
          <p:cNvSpPr/>
          <p:nvPr/>
        </p:nvSpPr>
        <p:spPr>
          <a:xfrm>
            <a:off x="7772400" y="1965960"/>
            <a:ext cx="3840480" cy="2651760"/>
          </a:xfrm>
          <a:prstGeom prst="rect">
            <a:avLst/>
          </a:prstGeom>
          <a:solidFill>
            <a:srgbClr val="F4F6F8"/>
          </a:solidFill>
          <a:ln w="9525">
            <a:solidFill>
              <a:srgbClr val="D9E2EC"/>
            </a:solidFill>
            <a:prstDash val="solid"/>
          </a:ln>
        </p:spPr>
      </p:sp>
      <p:sp>
        <p:nvSpPr>
          <p:cNvPr id="12" name="erp-cmp-h"/>
          <p:cNvSpPr txBox="1"/>
          <p:nvPr/>
        </p:nvSpPr>
        <p:spPr>
          <a:xfrm>
            <a:off x="7955280" y="2057400"/>
            <a:ext cx="3474720" cy="329184"/>
          </a:xfrm>
          <a:prstGeom prst="rect">
            <a:avLst/>
          </a:prstGeom>
          <a:noFill/>
          <a:ln/>
        </p:spPr>
        <p:txBody>
          <a:bodyPr wrap="square" lIns="0" tIns="0" rIns="0" bIns="0" rtlCol="0" anchor="ctr"/>
          <a:lstStyle/>
          <a:p>
            <a:pPr indent="0" marL="0">
              <a:buNone/>
            </a:pPr>
            <a:r>
              <a:rPr lang="en-US" sz="1400" b="1" dirty="0">
                <a:solidFill>
                  <a:srgbClr val="3A506B"/>
                </a:solidFill>
              </a:rPr>
              <a:t>엑셀과 ERP 수량 대조 (10-01 ~ 10-23)</a:t>
            </a:r>
            <a:endParaRPr lang="en-US" sz="1400" dirty="0"/>
          </a:p>
        </p:txBody>
      </p:sp>
      <p:sp>
        <p:nvSpPr>
          <p:cNvPr id="13" name="erp-cmp-n"/>
          <p:cNvSpPr txBox="1"/>
          <p:nvPr/>
        </p:nvSpPr>
        <p:spPr>
          <a:xfrm>
            <a:off x="7955280" y="2468880"/>
            <a:ext cx="3474720" cy="1417320"/>
          </a:xfrm>
          <a:prstGeom prst="rect">
            <a:avLst/>
          </a:prstGeom>
          <a:noFill/>
          <a:ln/>
        </p:spPr>
        <p:txBody>
          <a:bodyPr wrap="square" lIns="0" tIns="0" rIns="0" bIns="0" rtlCol="0" anchor="t"/>
          <a:lstStyle/>
          <a:p>
            <a:pPr indent="0" marL="0">
              <a:buNone/>
            </a:pPr>
            <a:r>
              <a:rPr lang="en-US" sz="1600" dirty="0">
                <a:solidFill>
                  <a:srgbClr val="6B7A88"/>
                </a:solidFill>
              </a:rPr>
              <a:t>엑셀  </a:t>
            </a:r>
            <a:pPr indent="0" marL="0">
              <a:buNone/>
            </a:pPr>
            <a:r>
              <a:rPr lang="en-US" sz="3600" b="1" dirty="0">
                <a:solidFill>
                  <a:srgbClr val="1F2A36"/>
                </a:solidFill>
              </a:rPr>
              <a:t>971</a:t>
            </a:r>
            <a:pPr indent="0" marL="0">
              <a:buNone/>
            </a:pPr>
            <a:r>
              <a:rPr lang="en-US" sz="1600" dirty="0">
                <a:solidFill>
                  <a:srgbClr val="1F2A36"/>
                </a:solidFill>
              </a:rPr>
              <a:t> 개</a:t>
            </a:r>
            <a:endParaRPr lang="en-US" sz="1600" dirty="0"/>
          </a:p>
          <a:p>
            <a:pPr indent="0" marL="0">
              <a:buNone/>
            </a:pPr>
            <a:r>
              <a:rPr lang="en-US" sz="1600" dirty="0">
                <a:solidFill>
                  <a:srgbClr val="6B7A88"/>
                </a:solidFill>
              </a:rPr>
              <a:t>ERP  </a:t>
            </a:r>
            <a:pPr indent="0" marL="0">
              <a:buNone/>
            </a:pPr>
            <a:r>
              <a:rPr lang="en-US" sz="3600" b="1" dirty="0">
                <a:solidFill>
                  <a:srgbClr val="0E7C86"/>
                </a:solidFill>
              </a:rPr>
              <a:t>955</a:t>
            </a:r>
            <a:pPr indent="0" marL="0">
              <a:buNone/>
            </a:pPr>
            <a:r>
              <a:rPr lang="en-US" sz="1600" dirty="0">
                <a:solidFill>
                  <a:srgbClr val="0E7C86"/>
                </a:solidFill>
              </a:rPr>
              <a:t> 개</a:t>
            </a:r>
            <a:endParaRPr lang="en-US" sz="1600" dirty="0"/>
          </a:p>
        </p:txBody>
      </p:sp>
      <p:sp>
        <p:nvSpPr>
          <p:cNvPr id="14" name="erp-cmp-t"/>
          <p:cNvSpPr txBox="1"/>
          <p:nvPr/>
        </p:nvSpPr>
        <p:spPr>
          <a:xfrm>
            <a:off x="7955280" y="3977640"/>
            <a:ext cx="3474720" cy="502920"/>
          </a:xfrm>
          <a:prstGeom prst="rect">
            <a:avLst/>
          </a:prstGeom>
          <a:noFill/>
          <a:ln/>
        </p:spPr>
        <p:txBody>
          <a:bodyPr wrap="square" lIns="0" tIns="0" rIns="0" bIns="0" rtlCol="0" anchor="t"/>
          <a:lstStyle/>
          <a:p>
            <a:pPr indent="0" marL="0">
              <a:buNone/>
            </a:pPr>
            <a:r>
              <a:rPr lang="en-US" sz="1400" dirty="0">
                <a:solidFill>
                  <a:srgbClr val="2C3E50"/>
                </a:solidFill>
              </a:rPr>
              <a:t>차이 1.6 %, 하루 단위로는 −18 ~ +12개</a:t>
            </a:r>
            <a:endParaRPr lang="en-US" sz="1400" dirty="0"/>
          </a:p>
        </p:txBody>
      </p:sp>
      <p:sp>
        <p:nvSpPr>
          <p:cNvPr id="15" name="erp-left"/>
          <p:cNvSpPr/>
          <p:nvPr/>
        </p:nvSpPr>
        <p:spPr>
          <a:xfrm>
            <a:off x="548640" y="4846320"/>
            <a:ext cx="11064240" cy="1234440"/>
          </a:xfrm>
          <a:prstGeom prst="rect">
            <a:avLst/>
          </a:prstGeom>
          <a:solidFill>
            <a:srgbClr val="EAF4F5"/>
          </a:solidFill>
          <a:ln w="9525">
            <a:solidFill>
              <a:srgbClr val="D9E2EC"/>
            </a:solidFill>
            <a:prstDash val="solid"/>
          </a:ln>
        </p:spPr>
      </p:sp>
      <p:sp>
        <p:nvSpPr>
          <p:cNvPr id="16" name="erp-left-t"/>
          <p:cNvSpPr txBox="1"/>
          <p:nvPr/>
        </p:nvSpPr>
        <p:spPr>
          <a:xfrm>
            <a:off x="731520" y="4892040"/>
            <a:ext cx="10698480" cy="1143000"/>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보완할 점</a:t>
            </a:r>
            <a:endParaRPr lang="en-US" sz="1600" dirty="0"/>
          </a:p>
          <a:p>
            <a:pPr marL="342900" indent="-342900">
              <a:spcAft>
                <a:spcPts val="400"/>
              </a:spcAft>
              <a:buSzPct val="100000"/>
              <a:buChar char="•"/>
            </a:pPr>
            <a:r>
              <a:rPr lang="en-US" sz="1600" dirty="0">
                <a:solidFill>
                  <a:srgbClr val="2C3E50"/>
                </a:solidFill>
              </a:rPr>
              <a:t>장비(FG, GX7)별 수량 구분 없음 → 필요할 때만 기간을 정해 비고 칸에 기록</a:t>
            </a:r>
            <a:endParaRPr lang="en-US" sz="1600" dirty="0"/>
          </a:p>
          <a:p>
            <a:pPr marL="342900" indent="-342900">
              <a:spcAft>
                <a:spcPts val="400"/>
              </a:spcAft>
              <a:buSzPct val="100000"/>
              <a:buChar char="•"/>
            </a:pPr>
            <a:r>
              <a:rPr lang="en-US" sz="1600" dirty="0">
                <a:solidFill>
                  <a:srgbClr val="2C3E50"/>
                </a:solidFill>
              </a:rPr>
              <a:t>가공시간 입력 칸 없음 → 2022년부터 쌓인 기록으로 품목별 추정값 사용</a:t>
            </a:r>
            <a:endParaRPr lang="en-US" sz="16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엑셀은 FG와 GX7 합, ERP는 NC 양품과 불량  |  자료 기준일 2026-10-23</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개선 방향</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개선 방향: 운영 한계와 대응</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원목 연삭 테스트 3, CAM 출력 시험</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2026-10-23T06:04:25Z</dcterms:created>
  <dcterms:modified xsi:type="dcterms:W3CDTF">2026-10-23T06:04:25Z</dcterms:modified>
</cp:coreProperties>
</file>