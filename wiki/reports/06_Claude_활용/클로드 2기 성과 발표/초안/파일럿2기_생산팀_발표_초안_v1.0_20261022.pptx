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42226374-21da-902d-2f6e-83eb4b252f08}">
          <p14:sldIdLst>
            <p14:sldId id="256"/>
          </p14:sldIdLst>
        </p14:section>
        <p14:section name="01 추진 배경" id="{6fd23bd7-6905-05c6-6b19-661a4da47a7f}">
          <p14:sldIdLst>
            <p14:sldId id="257"/>
          </p14:sldIdLst>
        </p14:section>
        <p14:section name="① 활용 현황" id="{2d4eff87-7d45-21ef-a9af-bd435d61a050}">
          <p14:sldIdLst>
            <p14:sldId id="258"/>
            <p14:sldId id="259"/>
          </p14:sldIdLst>
        </p14:section>
        <p14:section name="② 자동화 시스템" id="{020a27b5-eb1d-e116-048e-78be9f125f97}">
          <p14:sldIdLst>
            <p14:sldId id="260"/>
            <p14:sldId id="261"/>
            <p14:sldId id="262"/>
          </p14:sldIdLst>
        </p14:section>
        <p14:section name="③ 전후 비교" id="{47a2570d-4110-a144-61f8-e1b5f2f18b05}">
          <p14:sldIdLst>
            <p14:sldId id="263"/>
            <p14:sldId id="264"/>
          </p14:sldIdLst>
        </p14:section>
        <p14:section name="한계와 과제" id="{fabae418-abd4-a206-22e6-cee1af41a3d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11</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 한곳에 기록, 반복은 자동 실행, 판단 근거는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138개와, 무엇을 왜 바꿨는지 남긴 판단 근거 약 300건이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시스템을 들인 게 아니라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(화면을 짚으며) 왼쪽이 매일 자동으로 만들어지는 일일보고 — 16:00 시점 속보값이라 이후 입력분은 다음 날 「전일」 칸과 월 합계에서 확정됩니다 —, 가운데가 사내 현황판, 오른쪽이 장비별 투입 목록입니다.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19일 기준 최근 20영업일은 20건 모두 생성됐습니다. 아낀 시간은 하루 15분 이하인데, 정식으로 잰 값이 아니라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약 300건,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40080"/>
            <a:ext cx="11064240" cy="1143000"/>
          </a:xfrm>
          <a:prstGeom prst="rect">
            <a:avLst/>
          </a:prstGeom>
          <a:noFill/>
          <a:ln/>
        </p:spPr>
        <p:txBody>
          <a:bodyPr wrap="square" rtlCol="0"/>
          <a:lstStyle>
            <a:lvl1pPr algn="l" indent="0" marL="0">
              <a:lnSpc>
                <a:spcPct val="95000"/>
              </a:lnSpc>
              <a:buNone/>
              <a:defRPr lang="en-US" sz="3600" b="1" dirty="0">
                <a:solidFill>
                  <a:schemeClr val="tx1"/>
                </a:solidFill>
              </a:defRPr>
            </a:lvl1pPr>
          </a:lstStyle>
          <a:p>
            <a:pPr algn="l" indent="0" marL="0">
              <a:lnSpc>
                <a:spcPct val="95000"/>
              </a:lnSpc>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매일 손으로 하던 일일보고 집계와 장비 투입 판단</a:t>
            </a:r>
            <a:endParaRPr lang="en-US" sz="3600" dirty="0"/>
          </a:p>
        </p:txBody>
      </p:sp>
      <p:sp>
        <p:nvSpPr>
          <p:cNvPr id="8"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월간생산일지 엑셀, 하루 1시트 수기 입력</a:t>
            </a:r>
            <a:endParaRPr lang="en-US" sz="1300" dirty="0"/>
          </a:p>
        </p:txBody>
      </p:sp>
      <p:pic>
        <p:nvPicPr>
          <p:cNvPr id="9"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0" name="src0-frame"/>
          <p:cNvSpPr/>
          <p:nvPr/>
        </p:nvSpPr>
        <p:spPr>
          <a:xfrm>
            <a:off x="548640" y="2286000"/>
            <a:ext cx="4572000" cy="1569386"/>
          </a:xfrm>
          <a:prstGeom prst="rect">
            <a:avLst/>
          </a:prstGeom>
          <a:ln w="9525">
            <a:solidFill>
              <a:srgbClr val="D9E2EC"/>
            </a:solidFill>
            <a:prstDash val="solid"/>
          </a:ln>
        </p:spPr>
      </p:sp>
      <p:sp>
        <p:nvSpPr>
          <p:cNvPr id="11"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수리 발주서 PDF, 장비마다 따로 보관</a:t>
            </a:r>
            <a:endParaRPr lang="en-US" sz="1300" dirty="0"/>
          </a:p>
        </p:txBody>
      </p:sp>
      <p:pic>
        <p:nvPicPr>
          <p:cNvPr id="12"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3" name="src1-frame"/>
          <p:cNvSpPr/>
          <p:nvPr/>
        </p:nvSpPr>
        <p:spPr>
          <a:xfrm>
            <a:off x="548640" y="4361688"/>
            <a:ext cx="3474720" cy="1737360"/>
          </a:xfrm>
          <a:prstGeom prst="rect">
            <a:avLst/>
          </a:prstGeom>
          <a:ln w="9525">
            <a:solidFill>
              <a:srgbClr val="D9E2EC"/>
            </a:solidFill>
            <a:prstDash val="solid"/>
          </a:ln>
        </p:spPr>
      </p:sp>
      <p:sp>
        <p:nvSpPr>
          <p:cNvPr id="14"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5"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6"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 고장 처리 경위는 기록이 없음</a:t>
            </a:r>
            <a:endParaRPr lang="en-US" sz="1700" dirty="0"/>
          </a:p>
        </p:txBody>
      </p:sp>
      <p:sp>
        <p:nvSpPr>
          <p:cNvPr id="17"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18"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19"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0"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생산팀 재연마 장비 2대, ANCA FastGrind와 GX7</a:t>
            </a:r>
            <a:endParaRPr lang="en-US" sz="1200" dirty="0"/>
          </a:p>
        </p:txBody>
      </p:sp>
      <p:sp>
        <p:nvSpPr>
          <p:cNvPr id="2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6개월 동안 쌓은 재연마 기록 문서 138개</a:t>
            </a:r>
            <a:endParaRPr lang="en-US" sz="3600" dirty="0"/>
          </a:p>
        </p:txBody>
      </p:sp>
      <p:graphicFrame>
        <p:nvGraphicFramePr>
          <p:cNvPr id="4" name="area-table"/>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920240"/>
                <a:gridCol w="5394960"/>
                <a:gridCol w="374904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5836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138개,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5836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일일보고 엑셀과 공유폴더 현황판, 매일 07:50과 16:00</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133건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5836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수주에서 가공이 끝난 것을 빼고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사용,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5836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5836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9" name="area-etc"/>
          <p:cNvSpPr txBox="1"/>
          <p:nvPr/>
        </p:nvSpPr>
        <p:spPr>
          <a:xfrm>
            <a:off x="548640" y="5440680"/>
            <a:ext cx="11064240" cy="347472"/>
          </a:xfrm>
          <a:prstGeom prst="rect">
            <a:avLst/>
          </a:prstGeom>
          <a:noFill/>
          <a:ln/>
        </p:spPr>
        <p:txBody>
          <a:bodyPr wrap="square" lIns="0" tIns="0" rIns="0" bIns="0" rtlCol="0" anchor="ctr"/>
          <a:lstStyle/>
          <a:p>
            <a:pPr indent="0" marL="0">
              <a:buNone/>
            </a:pPr>
            <a:r>
              <a:rPr lang="en-US" sz="1700" b="1" dirty="0">
                <a:solidFill>
                  <a:srgbClr val="1F2A36"/>
                </a:solidFill>
              </a:rPr>
              <a:t>판단 근거 기록 약 300건, 자동화 스크립트 55개</a:t>
            </a:r>
            <a:endParaRPr lang="en-US" sz="1700" dirty="0"/>
          </a:p>
        </p:txBody>
      </p:sp>
      <p:sp>
        <p:nvSpPr>
          <p:cNvPr id="10" name="area-src"/>
          <p:cNvSpPr txBox="1"/>
          <p:nvPr/>
        </p:nvSpPr>
        <p:spPr>
          <a:xfrm>
            <a:off x="548640" y="5806440"/>
            <a:ext cx="11064240" cy="347472"/>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휠 원주속도 18 ~ 22 m/s [제조사 기준], 사내 실사용 2,600 ~ 3,000 rpm [실측]</a:t>
            </a:r>
            <a:endParaRPr lang="en-US" sz="1500" dirty="0"/>
          </a:p>
        </p:txBody>
      </p:sp>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2026-10-19</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4"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두 번째 시험에서 없앤 넥 시작부 자국</a:t>
            </a:r>
            <a:endParaRPr lang="en-US" sz="3600" dirty="0"/>
          </a:p>
        </p:txBody>
      </p:sp>
      <p:sp>
        <p:nvSpPr>
          <p:cNvPr id="8"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9"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0"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넥 시작부 같은 자리에 자국 반복</a:t>
            </a:r>
            <a:endParaRPr lang="en-US" sz="1700" dirty="0"/>
          </a:p>
        </p:txBody>
      </p:sp>
      <p:sp>
        <p:nvSpPr>
          <p:cNvPr id="11"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2"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3"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4"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5"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6"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7"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18"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19"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결과 보고서 작성</a:t>
            </a:r>
            <a:endParaRPr lang="en-US" sz="1700" dirty="0"/>
          </a:p>
        </p:txBody>
      </p:sp>
      <p:sp>
        <p:nvSpPr>
          <p:cNvPr id="20"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1"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2" name="case-fig-frame"/>
          <p:cNvSpPr/>
          <p:nvPr/>
        </p:nvSpPr>
        <p:spPr>
          <a:xfrm>
            <a:off x="5943600" y="2286000"/>
            <a:ext cx="5669280" cy="2834640"/>
          </a:xfrm>
          <a:prstGeom prst="rect">
            <a:avLst/>
          </a:prstGeom>
          <a:ln w="9525">
            <a:solidFill>
              <a:srgbClr val="D9E2EC"/>
            </a:solidFill>
            <a:prstDash val="solid"/>
          </a:ln>
        </p:spPr>
      </p:sp>
      <p:graphicFrame>
        <p:nvGraphicFramePr>
          <p:cNvPr id="5"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 양산 미적용  |  자료 기준일 2026-10-21</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기존 엑셀과 ERP를 그대로 읽는 자동 실행 구조</a:t>
            </a:r>
            <a:endParaRPr lang="en-US" sz="3600" dirty="0"/>
          </a:p>
        </p:txBody>
      </p:sp>
      <p:sp>
        <p:nvSpPr>
          <p:cNvPr id="8"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9"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0"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1"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 A/S 조회</a:t>
            </a:r>
            <a:endParaRPr lang="en-US" sz="1700" dirty="0"/>
          </a:p>
        </p:txBody>
      </p:sp>
      <p:sp>
        <p:nvSpPr>
          <p:cNvPr id="12"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3"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4"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5"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6"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7"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18"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19"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 16:00</a:t>
            </a:r>
            <a:endParaRPr lang="en-US" sz="1700" dirty="0"/>
          </a:p>
        </p:txBody>
      </p:sp>
      <p:sp>
        <p:nvSpPr>
          <p:cNvPr id="20"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1"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2"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3"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4"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5"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6"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7"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28"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29"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0"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1"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2"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3"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4"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5"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 시작 프로그램 1개로 실행</a:t>
            </a:r>
            <a:endParaRPr lang="en-US" sz="1200" dirty="0"/>
          </a:p>
        </p:txBody>
      </p:sp>
      <p:sp>
        <p:nvSpPr>
          <p:cNvPr id="3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3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PC를 켜면 만들어지는 일일보고, 현황판, 투입 목록</a:t>
            </a:r>
            <a:endParaRPr lang="en-US" sz="3600" dirty="0"/>
          </a:p>
        </p:txBody>
      </p:sp>
      <p:sp>
        <p:nvSpPr>
          <p:cNvPr id="8"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9"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0"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 확정치는 다음 날 「전일」 칸</a:t>
            </a:r>
            <a:endParaRPr lang="en-US" sz="1700" dirty="0"/>
          </a:p>
        </p:txBody>
      </p:sp>
      <p:sp>
        <p:nvSpPr>
          <p:cNvPr id="11"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2"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3"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4"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5" name="cap2-img" descr="장비별 투입 목록, FG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6"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장비별 투입 목록, FG</a:t>
            </a:r>
            <a:endParaRPr lang="en-US" sz="1700" dirty="0"/>
          </a:p>
          <a:p>
            <a:pPr indent="0" marL="0">
              <a:buNone/>
            </a:pPr>
            <a:r>
              <a:rPr lang="en-US" sz="1400" dirty="0">
                <a:solidFill>
                  <a:srgbClr val="6B7A88"/>
                </a:solidFill>
              </a:rPr>
              <a:t>납기순, 같은 형상끼리 묶음</a:t>
            </a:r>
            <a:endParaRPr lang="en-US" sz="17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2026-10-19</a:t>
            </a:r>
            <a:endParaRPr lang="en-US" sz="1200" dirty="0"/>
          </a:p>
        </p:txBody>
      </p:sp>
      <p:sp>
        <p:nvSpPr>
          <p:cNvPr id="19"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0"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기록에 있는 근거로만 답하는 질의응답</a:t>
            </a:r>
            <a:endParaRPr lang="en-US" sz="3600" dirty="0"/>
          </a:p>
        </p:txBody>
      </p:sp>
      <p:sp>
        <p:nvSpPr>
          <p:cNvPr id="8"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9"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0"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1"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2"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 실린더 이상으로 로더 사용 금지</a:t>
            </a:r>
            <a:endParaRPr lang="en-US" sz="1700" dirty="0"/>
          </a:p>
          <a:p>
            <a:pPr marL="342900" indent="-342900">
              <a:spcAft>
                <a:spcPts val="800"/>
              </a:spcAft>
              <a:buSzPct val="100000"/>
              <a:buChar char="•"/>
            </a:pPr>
            <a:r>
              <a:rPr lang="en-US" sz="1700" dirty="0">
                <a:solidFill>
                  <a:srgbClr val="2C3E50"/>
                </a:solidFill>
              </a:rPr>
              <a:t>08-14 부품 발주,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3"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4"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5"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6"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7"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18"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19"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0"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1"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 확정은 현장 시험으로</a:t>
            </a:r>
            <a:endParaRPr lang="en-US" sz="1700" dirty="0"/>
          </a:p>
        </p:txBody>
      </p:sp>
      <p:sp>
        <p:nvSpPr>
          <p:cNvPr id="22"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4"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최근 20영업일 동안 일일보고 20건 자동 생성</a:t>
            </a:r>
            <a:endParaRPr lang="en-US" sz="3600" dirty="0"/>
          </a:p>
        </p:txBody>
      </p:sp>
      <p:graphicFrame>
        <p:nvGraphicFramePr>
          <p:cNvPr id="8"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9"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0"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1"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2"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3"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 16:00 자동 생성, 담당자는 확인만</a:t>
            </a:r>
            <a:endParaRPr lang="en-US" sz="1800" dirty="0"/>
          </a:p>
        </p:txBody>
      </p:sp>
      <p:sp>
        <p:nvSpPr>
          <p:cNvPr id="14"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5"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19일까지  |  자료 기준일 2026-10-19</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③ 전후 비교</a:t>
            </a:r>
            <a:endParaRPr lang="en-US" sz="1400" dirty="0"/>
          </a:p>
        </p:txBody>
      </p:sp>
      <p:sp>
        <p:nvSpPr>
          <p:cNvPr id="6" name="nav4"/>
          <p:cNvSpPr txBox="1"/>
          <p:nvPr/>
        </p:nvSpPr>
        <p:spPr>
          <a:xfrm>
            <a:off x="10287000" y="201168"/>
            <a:ext cx="1252728" cy="329184"/>
          </a:xfrm>
          <a:prstGeom prst="rect">
            <a:avLst/>
          </a:prstGeom>
          <a:noFill/>
          <a:ln/>
        </p:spPr>
        <p:txBody>
          <a:bodyPr wrap="square" lIns="0" tIns="0" rIns="0" bIns="0" rtlCol="0" anchor="ctr"/>
          <a:lstStyle/>
          <a:p>
            <a:pPr algn="ctr" indent="0" marL="0">
              <a:buNone/>
            </a:pPr>
            <a:r>
              <a:rPr lang="en-US" sz="1400" dirty="0">
                <a:solidFill>
                  <a:srgbClr val="6B7A88"/>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전후 비교 6개 항목 중 실측으로 확인된 4개</a:t>
            </a:r>
            <a:endParaRPr lang="en-US" sz="3600" dirty="0"/>
          </a:p>
        </p:txBody>
      </p:sp>
      <p:graphicFrame>
        <p:nvGraphicFramePr>
          <p:cNvPr id="10"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약 300건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17건 정리, 과거 12건과 올해 5건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효과는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 효과는 도입 2주, 추석, 장비 수리가 섞여 판단 보류  |  자료 기준일 2026-10-19</a:t>
            </a:r>
            <a:endParaRPr lang="en-US" sz="1200" dirty="0"/>
          </a:p>
        </p:txBody>
      </p:sp>
      <p:sp>
        <p:nvSpPr>
          <p:cNvPr id="1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2"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937760" y="201168"/>
            <a:ext cx="749808" cy="329184"/>
          </a:xfrm>
          <a:prstGeom prst="rect">
            <a:avLst/>
          </a:prstGeom>
          <a:noFill/>
          <a:ln/>
        </p:spPr>
        <p:txBody>
          <a:bodyPr wrap="square" lIns="0" tIns="0" rIns="0" bIns="0" rtlCol="0" anchor="ctr"/>
          <a:lstStyle/>
          <a:p>
            <a:pPr algn="ctr" indent="0" marL="0">
              <a:buNone/>
            </a:pPr>
            <a:r>
              <a:rPr lang="en-US" sz="1400" dirty="0">
                <a:solidFill>
                  <a:srgbClr val="6B7A88"/>
                </a:solidFill>
              </a:rPr>
              <a:t>배경</a:t>
            </a:r>
            <a:endParaRPr lang="en-US" sz="1400" dirty="0"/>
          </a:p>
        </p:txBody>
      </p:sp>
      <p:sp>
        <p:nvSpPr>
          <p:cNvPr id="3" name="nav1"/>
          <p:cNvSpPr txBox="1"/>
          <p:nvPr/>
        </p:nvSpPr>
        <p:spPr>
          <a:xfrm>
            <a:off x="576072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① 활용 현황</a:t>
            </a:r>
            <a:endParaRPr lang="en-US" sz="1400" dirty="0"/>
          </a:p>
        </p:txBody>
      </p:sp>
      <p:sp>
        <p:nvSpPr>
          <p:cNvPr id="4" name="nav2"/>
          <p:cNvSpPr txBox="1"/>
          <p:nvPr/>
        </p:nvSpPr>
        <p:spPr>
          <a:xfrm>
            <a:off x="7178040" y="201168"/>
            <a:ext cx="1618488" cy="329184"/>
          </a:xfrm>
          <a:prstGeom prst="rect">
            <a:avLst/>
          </a:prstGeom>
          <a:noFill/>
          <a:ln/>
        </p:spPr>
        <p:txBody>
          <a:bodyPr wrap="square" lIns="0" tIns="0" rIns="0" bIns="0" rtlCol="0" anchor="ctr"/>
          <a:lstStyle/>
          <a:p>
            <a:pPr algn="ctr" indent="0" marL="0">
              <a:buNone/>
            </a:pPr>
            <a:r>
              <a:rPr lang="en-US" sz="1400" dirty="0">
                <a:solidFill>
                  <a:srgbClr val="6B7A88"/>
                </a:solidFill>
              </a:rPr>
              <a:t>② 자동화 시스템</a:t>
            </a:r>
            <a:endParaRPr lang="en-US" sz="1400" dirty="0"/>
          </a:p>
        </p:txBody>
      </p:sp>
      <p:sp>
        <p:nvSpPr>
          <p:cNvPr id="5" name="nav3"/>
          <p:cNvSpPr txBox="1"/>
          <p:nvPr/>
        </p:nvSpPr>
        <p:spPr>
          <a:xfrm>
            <a:off x="8869680" y="201168"/>
            <a:ext cx="1344168" cy="329184"/>
          </a:xfrm>
          <a:prstGeom prst="rect">
            <a:avLst/>
          </a:prstGeom>
          <a:noFill/>
          <a:ln/>
        </p:spPr>
        <p:txBody>
          <a:bodyPr wrap="square" lIns="0" tIns="0" rIns="0" bIns="0" rtlCol="0" anchor="ctr"/>
          <a:lstStyle/>
          <a:p>
            <a:pPr algn="ctr" indent="0" marL="0">
              <a:buNone/>
            </a:pPr>
            <a:r>
              <a:rPr lang="en-US" sz="1400" dirty="0">
                <a:solidFill>
                  <a:srgbClr val="6B7A88"/>
                </a:solidFill>
              </a:rPr>
              <a:t>③ 전후 비교</a:t>
            </a:r>
            <a:endParaRPr lang="en-US" sz="1400" dirty="0"/>
          </a:p>
        </p:txBody>
      </p:sp>
      <p:sp>
        <p:nvSpPr>
          <p:cNvPr id="6" name="nav4"/>
          <p:cNvSpPr txBox="1"/>
          <p:nvPr/>
        </p:nvSpPr>
        <p:spPr>
          <a:xfrm>
            <a:off x="10287000" y="201168"/>
            <a:ext cx="12527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한계와 과제</a:t>
            </a:r>
            <a:endParaRPr lang="en-US" sz="1400" dirty="0"/>
          </a:p>
        </p:txBody>
      </p:sp>
      <p:sp>
        <p:nvSpPr>
          <p:cNvPr id="7" name="Text 0"/>
          <p:cNvSpPr/>
          <p:nvPr>
            <p:ph idx="101" type="title" hasCustomPrompt="1"/>
          </p:nvPr>
        </p:nvSpPr>
        <p:spPr>
          <a:xfrm>
            <a:off x="548640" y="640080"/>
            <a:ext cx="11064240" cy="1143000"/>
          </a:xfrm>
          <a:prstGeom prst="rect">
            <a:avLst/>
          </a:prstGeom>
          <a:noFill/>
          <a:ln/>
        </p:spPr>
        <p:txBody>
          <a:bodyPr wrap="square" lIns="0" tIns="0" rIns="0" bIns="0" rtlCol="0" anchor="t"/>
          <a:lstStyle/>
          <a:p>
            <a:pPr algn="l" indent="0" marL="0">
              <a:lnSpc>
                <a:spcPct val="95000"/>
              </a:lnSpc>
              <a:buNone/>
            </a:pPr>
            <a:r>
              <a:rPr lang="en-US" sz="3600" b="1" dirty="0">
                <a:solidFill>
                  <a:schemeClr val="tx1"/>
                </a:solidFill>
              </a:rPr>
              <a:t>자동화 수리에 들어간 결정 84건 중 30건</a:t>
            </a:r>
            <a:endParaRPr lang="en-US" sz="3600" dirty="0"/>
          </a:p>
        </p:txBody>
      </p:sp>
      <p:graphicFrame>
        <p:nvGraphicFramePr>
          <p:cNvPr id="11" name="lim-table"/>
          <p:cNvGraphicFramePr>
            <a:graphicFrameLocks noGrp="1"/>
          </p:cNvGraphicFramePr>
          <p:nvPr>
            <p:extLst>
              <p:ext uri="{D42A27DB-BD31-4B8C-83A1-F6EECF244321}">
                <p14:modId xmlns:p14="http://schemas.microsoft.com/office/powerpoint/2010/main" val="1579011935"/>
              </p:ext>
            </p:extLst>
          </p:nvPr>
        </p:nvGraphicFramePr>
        <p:xfrm>
          <a:off x="548640" y="2697480"/>
          <a:ext cx="11064240" cy="914400"/>
        </p:xfrm>
        <a:graphic>
          <a:graphicData uri="http://schemas.openxmlformats.org/drawingml/2006/table">
            <a:tbl>
              <a:tblPr/>
              <a:tblGrid>
                <a:gridCol w="1920240"/>
                <a:gridCol w="4754880"/>
                <a:gridCol w="4389120"/>
              </a:tblGrid>
              <a:tr h="384048">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572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효과 없는 자동화</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0E7C86"/>
                          </a:solidFill>
                          <a:latin typeface="맑은 고딕" pitchFamily="34" charset="0"/>
                          <a:ea typeface="맑은 고딕" pitchFamily="34" charset="-122"/>
                          <a:cs typeface="맑은 고딕" pitchFamily="34" charset="-120"/>
                        </a:rPr>
                        <a:t>10-07에 4건 중단</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572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정상으로 찍힌 실패</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AI 계산 오류</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0E7C86"/>
                          </a:solidFill>
                          <a:latin typeface="맑은 고딕" pitchFamily="34" charset="0"/>
                          <a:ea typeface="맑은 고딕" pitchFamily="34" charset="-122"/>
                          <a:cs typeface="맑은 고딕" pitchFamily="34" charset="-120"/>
                        </a:rPr>
                        <a:t>출처와 신뢰도 표기, 현장 시험 후 적용</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572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AI 문서 문체</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0E7C86"/>
                          </a:solidFill>
                          <a:latin typeface="맑은 고딕" pitchFamily="34" charset="0"/>
                          <a:ea typeface="맑은 고딕" pitchFamily="34" charset="-122"/>
                          <a:cs typeface="맑은 고딕" pitchFamily="34" charset="-120"/>
                        </a:rPr>
                        <a:t>공식 양식, 논문과 대조해 작성 기준 마련</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572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담당자 1명</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만들고 고치는 사람이 1명</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5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9" name="cost-pct"/>
          <p:cNvSpPr txBox="1"/>
          <p:nvPr/>
        </p:nvSpPr>
        <p:spPr>
          <a:xfrm>
            <a:off x="548640" y="1600200"/>
            <a:ext cx="1737360" cy="91440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0" name="cost-h"/>
          <p:cNvSpPr txBox="1"/>
          <p:nvPr/>
        </p:nvSpPr>
        <p:spPr>
          <a:xfrm>
            <a:off x="2286000" y="1600200"/>
            <a:ext cx="7772400" cy="365760"/>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1" name="cost-chart" descr=""/>
          <p:cNvGraphicFramePr/>
          <p:nvPr/>
        </p:nvGraphicFramePr>
        <p:xfrm>
          <a:off x="2194560" y="1920240"/>
          <a:ext cx="9418320" cy="685800"/>
        </p:xfrm>
        <a:graphic xmlns:a="http://schemas.openxmlformats.org/drawingml/2006/main">
          <a:graphicData uri="http://schemas.openxmlformats.org/drawingml/2006/chart">
            <c:chart xmlns:c="http://schemas.openxmlformats.org/drawingml/2006/chart" r:id="rId1"/>
          </a:graphicData>
        </a:graphic>
      </p:graphicFrame>
      <p:sp>
        <p:nvSpPr>
          <p:cNvPr id="12" name="next"/>
          <p:cNvSpPr/>
          <p:nvPr/>
        </p:nvSpPr>
        <p:spPr>
          <a:xfrm>
            <a:off x="548640" y="5468112"/>
            <a:ext cx="11064240" cy="658368"/>
          </a:xfrm>
          <a:prstGeom prst="rect">
            <a:avLst/>
          </a:prstGeom>
          <a:solidFill>
            <a:srgbClr val="1F2A36"/>
          </a:solidFill>
          <a:ln w="9525">
            <a:solidFill>
              <a:srgbClr val="1F2A36"/>
            </a:solidFill>
            <a:prstDash val="solid"/>
          </a:ln>
        </p:spPr>
      </p:sp>
      <p:sp>
        <p:nvSpPr>
          <p:cNvPr id="13" name="next-t"/>
          <p:cNvSpPr txBox="1"/>
          <p:nvPr/>
        </p:nvSpPr>
        <p:spPr>
          <a:xfrm>
            <a:off x="777240" y="5468112"/>
            <a:ext cx="10698480" cy="658368"/>
          </a:xfrm>
          <a:prstGeom prst="rect">
            <a:avLst/>
          </a:prstGeom>
          <a:noFill/>
          <a:ln/>
        </p:spPr>
        <p:txBody>
          <a:bodyPr wrap="square" lIns="0" tIns="0" rIns="0" bIns="0" rtlCol="0" anchor="ctr"/>
          <a:lstStyle/>
          <a:p>
            <a:pPr indent="0" marL="0">
              <a:buNone/>
            </a:pPr>
            <a:r>
              <a:rPr lang="en-US" sz="1800" b="1" dirty="0">
                <a:solidFill>
                  <a:srgbClr val="FFFFFF"/>
                </a:solidFill>
              </a:rPr>
              <a:t>다음 과제: 11월 4일 자동화 2차 판정, 투입 목록 효과 재측정, 넥 원통연삭 테스트 3</a:t>
            </a:r>
            <a:endParaRPr lang="en-US" sz="1800" dirty="0"/>
          </a:p>
        </p:txBody>
      </p:sp>
      <p:sp>
        <p:nvSpPr>
          <p:cNvPr id="1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17"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2026-10-22T00:54:39Z</dcterms:created>
  <dcterms:modified xsi:type="dcterms:W3CDTF">2026-10-22T00:54:39Z</dcterms:modified>
</cp:coreProperties>
</file>