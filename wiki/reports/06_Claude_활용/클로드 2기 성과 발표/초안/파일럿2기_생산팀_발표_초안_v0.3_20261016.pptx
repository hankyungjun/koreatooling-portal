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0062628f-342b-37d2-c730-33b142a5262e}">
          <p14:sldIdLst>
            <p14:sldId id="256"/>
            <p14:sldId id="257"/>
          </p14:sldIdLst>
        </p14:section>
        <p14:section name="01 추진 배경" id="{61ee555d-c5b6-b8f3-688e-3e163d89d495}">
          <p14:sldIdLst>
            <p14:sldId id="258"/>
          </p14:sldIdLst>
        </p14:section>
        <p14:section name="02 활용 현황" id="{8f1dc66f-109d-8097-32fb-59fb6d55de03}">
          <p14:sldIdLst>
            <p14:sldId id="259"/>
            <p14:sldId id="260"/>
            <p14:sldId id="261"/>
          </p14:sldIdLst>
        </p14:section>
        <p14:section name="03 자동화 시스템" id="{3b50a2cf-de32-b6e6-1bb9-bc89adb1180d}">
          <p14:sldIdLst>
            <p14:sldId id="262"/>
            <p14:sldId id="263"/>
            <p14:sldId id="264"/>
          </p14:sldIdLst>
        </p14:section>
        <p14:section name="04 전후 비교" id="{b77ee21e-78b0-890d-d622-18fbae98eb59}">
          <p14:sldIdLst>
            <p14:sldId id="265"/>
          </p14:sldIdLst>
        </p14:section>
        <p14:section name="05 한계와 과제" id="{235ffa33-c22b-7984-6bb2-95282ce898d6}">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 생성 (6-09 일괄)</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5</c:v>
                </c:pt>
                <c:pt idx="3">
                  <c:v>0</c:v>
                </c:pt>
                <c:pt idx="4">
                  <c:v>0</c:v>
                </c:pt>
                <c:pt idx="5">
                  <c:v>0</c:v>
                </c:pt>
                <c:pt idx="6">
                  <c:v>0</c:v>
                </c:pt>
              </c:numCache>
            </c:numRef>
          </c:val>
        </c:ser>
        <c:ser>
          <c:idx val="1"/>
          <c:order val="1"/>
          <c:tx>
            <c:strRef>
              <c:f>Sheet1!$C$1</c:f>
              <c:strCache>
                <c:ptCount val="1"/>
                <c:pt idx="0">
                  <c:v>매일 자동 생성</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16</c:v>
                </c:pt>
                <c:pt idx="3">
                  <c:v>22</c:v>
                </c:pt>
                <c:pt idx="4">
                  <c:v>19</c:v>
                </c:pt>
                <c:pt idx="5">
                  <c:v>20</c:v>
                </c:pt>
                <c:pt idx="6">
                  <c:v>10</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순서입니다. 공지된 필수 항목 세 가지를 2·3·4장에 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(장비 사진을 가리키며) 생산팀은 ANCA 장비 두 대로 재연마를 합니다.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핵심 수치입니다. 위키 138페이지, 결정 기록 약 300건 — 왜 그렇게 했는지 나중에 찾을 수 있습니다. 일일보고 132건 — 6월부터는 매일 자동 생성, 단가표 1만여 건 자동 대조. 원칙은 모든 수치에 신뢰도를 붙이고, AI 수치는 현장 검증 후에만 쓴다는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활용 영역은 다섯 가지입니다. 2기에 새로 들어간 건 현장 판단 보조 — ERP 수주에서 이미 가공한 것을 빼고 장비별 투입 목록을 만드는 것 — 과 단가표·ERP 데이터 검수, 그리고 8월 로더 고장 때 진단부터 수리 검토보고까지 문서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그래프는 일일보고 파일 수입니다. 회색은 6월 9일에 지난 분을 한꺼번에 만든 것이고, 청록이 그날그날 자동으로 생성된 것입니다. 6월부터는 매달 영업일 수만큼 빠짐없이 쌓이고 있습니다. 오른쪽은 1기·2기 경과입니다 — 7월 가공 테스트, 8월 로더 고장 대응, 9월 ERP 연동과 투입 목록, 10월 효과 측정.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가운데가 사내 현황판, 오른쪽이 장비별 투입 목록입니다. 투입 목록은 현장 의견을 받아 규칙을 일곱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전후 비교입니다. 일일보고는 4주 동안 하루도 빠지지 않고 자동 생성됐습니다. 절약 시간은 하루 15분, 월 5시간 정도인데 정식으로 잰 값이 아니라 경험값이라고 표시했습니다. 결정 기록 약 300건, 수리 이력 17건, 단가표 1만여 건 대조는 실측입니다. 투입 목록은 셋업당 개수로 효과를 재는 도구까지 만들었지만, 기간이 짧고 추석과 장비 수리가 겹쳐 아직 효과라고 말하지 않겠습니다. (질문 대비: FG 7.5→6.7, GX7 3.6→4.9 합산 / 하루 평균 6.5→6.1)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한계도 분명히 있습니다. 결정의 36%가 자동화를 고치는 일이었습니다. 그래서 자동화마다 성적표를 매겼고, 알림 메일 48통을 아무도 안 읽은 것처럼 효과 없는 4건은 껐습니다. 정상이라고 찍혔는데 결과물이 없던 경우도 있어서 판정 기준을 바꿨고, AI 수치는 출처와 신뢰도를 붙여 현장에서 확인합니다. 1인 운용 리스크는 기록으로 대비하고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앞으로는 새 기능을 늘리기보다 지금 돌아가는 것의 효과를 확인하겠습니다. 11월 4일 성적표 2차 판정, 투입 목록 효과 재측정, ERP 실적 연동, 그리고 CAD 도면 보조는 시험 중입니다.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지식 기록 · 보고 자동화 · 현장 판단 보조 — 2기(2026. 7 ~ 10)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 자동화 실행 로그  |  자료 기준일 2026-10-16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CONTENTS</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발표 순서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공지된 필수 3항목(①②③)을 4개 장에 나눠 담았습니다</a:t>
            </a:r>
            <a:endParaRPr lang="en-US" sz="2000" dirty="0"/>
          </a:p>
        </p:txBody>
      </p:sp>
      <p:sp>
        <p:nvSpPr>
          <p:cNvPr id="5"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6"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01</a:t>
            </a:r>
            <a:endParaRPr lang="en-US" sz="2400" dirty="0"/>
          </a:p>
        </p:txBody>
      </p:sp>
      <p:sp>
        <p:nvSpPr>
          <p:cNvPr id="7"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8"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현황과 문제점, 추진 방향</a:t>
            </a:r>
            <a:endParaRPr lang="en-US" sz="1600" dirty="0"/>
          </a:p>
        </p:txBody>
      </p:sp>
      <p:sp>
        <p:nvSpPr>
          <p:cNvPr id="9"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10"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02</a:t>
            </a:r>
            <a:endParaRPr lang="en-US" sz="2400" dirty="0"/>
          </a:p>
        </p:txBody>
      </p:sp>
      <p:sp>
        <p:nvSpPr>
          <p:cNvPr id="11"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2"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핵심 수치 · 활용 영역 · 추진 경과</a:t>
            </a:r>
            <a:endParaRPr lang="en-US" sz="1600" dirty="0"/>
          </a:p>
        </p:txBody>
      </p:sp>
      <p:sp>
        <p:nvSpPr>
          <p:cNvPr id="13"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4"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5"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03</a:t>
            </a:r>
            <a:endParaRPr lang="en-US" sz="2400" dirty="0"/>
          </a:p>
        </p:txBody>
      </p:sp>
      <p:sp>
        <p:nvSpPr>
          <p:cNvPr id="16"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7"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시스템 구성 · 실행 화면 · 질의응답</a:t>
            </a:r>
            <a:endParaRPr lang="en-US" sz="1600" dirty="0"/>
          </a:p>
        </p:txBody>
      </p:sp>
      <p:sp>
        <p:nvSpPr>
          <p:cNvPr id="18"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9"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20"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04</a:t>
            </a:r>
            <a:endParaRPr lang="en-US" sz="2400" dirty="0"/>
          </a:p>
        </p:txBody>
      </p:sp>
      <p:sp>
        <p:nvSpPr>
          <p:cNvPr id="21"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2"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정량 비교 · 근거와 신뢰도</a:t>
            </a:r>
            <a:endParaRPr lang="en-US" sz="1600" dirty="0"/>
          </a:p>
        </p:txBody>
      </p:sp>
      <p:sp>
        <p:nvSpPr>
          <p:cNvPr id="23"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4"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5"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05</a:t>
            </a:r>
            <a:endParaRPr lang="en-US" sz="2400" dirty="0"/>
          </a:p>
        </p:txBody>
      </p:sp>
      <p:sp>
        <p:nvSpPr>
          <p:cNvPr id="26"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7"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운영하며 확인한 한계 · 대응 · 다음 과제</a:t>
            </a:r>
            <a:endParaRPr lang="en-US" sz="16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01  추진 배경</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현황과 문제점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재연마 업무의 자료는 다섯 곳에 흩어져 있었고, 집계와 판단은 매일 사람이 했습니다</a:t>
            </a:r>
            <a:endParaRPr lang="en-US" sz="2000" dirty="0"/>
          </a:p>
        </p:txBody>
      </p:sp>
      <p:sp>
        <p:nvSpPr>
          <p:cNvPr id="5" name="photo-main"/>
          <p:cNvSpPr/>
          <p:nvPr/>
        </p:nvSpPr>
        <p:spPr>
          <a:xfrm>
            <a:off x="548640" y="1965960"/>
            <a:ext cx="4572000" cy="3246120"/>
          </a:xfrm>
          <a:prstGeom prst="rect">
            <a:avLst/>
          </a:prstGeom>
          <a:solidFill>
            <a:srgbClr val="F4F6F8"/>
          </a:solidFill>
          <a:ln w="12700">
            <a:solidFill>
              <a:srgbClr val="6B7A88"/>
            </a:solidFill>
            <a:prstDash val="dash"/>
          </a:ln>
        </p:spPr>
      </p:sp>
      <p:sp>
        <p:nvSpPr>
          <p:cNvPr id="6" name="photo-main-ph"/>
          <p:cNvSpPr txBox="1"/>
          <p:nvPr/>
        </p:nvSpPr>
        <p:spPr>
          <a:xfrm>
            <a:off x="548640" y="1965960"/>
            <a:ext cx="4572000" cy="3246120"/>
          </a:xfrm>
          <a:prstGeom prst="rect">
            <a:avLst/>
          </a:prstGeom>
          <a:noFill/>
          <a:ln/>
        </p:spPr>
        <p:txBody>
          <a:bodyPr wrap="square" lIns="0" tIns="0" rIns="0" bIns="0" rtlCol="0" anchor="ctr"/>
          <a:lstStyle/>
          <a:p>
            <a:pPr algn="ctr" indent="0" marL="0">
              <a:buNone/>
            </a:pPr>
            <a:r>
              <a:rPr lang="en-US" sz="1500" dirty="0">
                <a:solidFill>
                  <a:srgbClr val="6B7A88"/>
                </a:solidFill>
              </a:rPr>
              <a:t>사진 삽입</a:t>
            </a:r>
            <a:endParaRPr lang="en-US" sz="1500" dirty="0"/>
          </a:p>
          <a:p>
            <a:pPr algn="ctr" indent="0" marL="0">
              <a:buNone/>
            </a:pPr>
            <a:r>
              <a:rPr lang="en-US" sz="1500" dirty="0">
                <a:solidFill>
                  <a:srgbClr val="6B7A88"/>
                </a:solidFill>
              </a:rPr>
              <a:t>ANCA 장비 (FG · GX7)</a:t>
            </a:r>
            <a:endParaRPr lang="en-US" sz="1500" dirty="0"/>
          </a:p>
        </p:txBody>
      </p:sp>
      <p:sp>
        <p:nvSpPr>
          <p:cNvPr id="7" name="photo-sub0"/>
          <p:cNvSpPr/>
          <p:nvPr/>
        </p:nvSpPr>
        <p:spPr>
          <a:xfrm>
            <a:off x="548640" y="5349240"/>
            <a:ext cx="2240280" cy="777240"/>
          </a:xfrm>
          <a:prstGeom prst="rect">
            <a:avLst/>
          </a:prstGeom>
          <a:solidFill>
            <a:srgbClr val="F4F6F8"/>
          </a:solidFill>
          <a:ln w="12700">
            <a:solidFill>
              <a:srgbClr val="6B7A88"/>
            </a:solidFill>
            <a:prstDash val="dash"/>
          </a:ln>
        </p:spPr>
      </p:sp>
      <p:sp>
        <p:nvSpPr>
          <p:cNvPr id="8" name="photo-sub0-ph"/>
          <p:cNvSpPr txBox="1"/>
          <p:nvPr/>
        </p:nvSpPr>
        <p:spPr>
          <a:xfrm>
            <a:off x="548640" y="5349240"/>
            <a:ext cx="2240280" cy="777240"/>
          </a:xfrm>
          <a:prstGeom prst="rect">
            <a:avLst/>
          </a:prstGeom>
          <a:noFill/>
          <a:ln/>
        </p:spPr>
        <p:txBody>
          <a:bodyPr wrap="square" lIns="0" tIns="0" rIns="0" bIns="0" rtlCol="0" anchor="ctr"/>
          <a:lstStyle/>
          <a:p>
            <a:pPr algn="ctr" indent="0" marL="0">
              <a:buNone/>
            </a:pPr>
            <a:r>
              <a:rPr lang="en-US" sz="1200" dirty="0">
                <a:solidFill>
                  <a:srgbClr val="6B7A88"/>
                </a:solidFill>
              </a:rPr>
              <a:t>캡처: 월간생산일지 엑셀</a:t>
            </a:r>
            <a:endParaRPr lang="en-US" sz="1200" dirty="0"/>
          </a:p>
        </p:txBody>
      </p:sp>
      <p:sp>
        <p:nvSpPr>
          <p:cNvPr id="9" name="photo-sub1"/>
          <p:cNvSpPr/>
          <p:nvPr/>
        </p:nvSpPr>
        <p:spPr>
          <a:xfrm>
            <a:off x="2880360" y="5349240"/>
            <a:ext cx="2240280" cy="777240"/>
          </a:xfrm>
          <a:prstGeom prst="rect">
            <a:avLst/>
          </a:prstGeom>
          <a:solidFill>
            <a:srgbClr val="F4F6F8"/>
          </a:solidFill>
          <a:ln w="12700">
            <a:solidFill>
              <a:srgbClr val="6B7A88"/>
            </a:solidFill>
            <a:prstDash val="dash"/>
          </a:ln>
        </p:spPr>
      </p:sp>
      <p:sp>
        <p:nvSpPr>
          <p:cNvPr id="10" name="photo-sub1-ph"/>
          <p:cNvSpPr txBox="1"/>
          <p:nvPr/>
        </p:nvSpPr>
        <p:spPr>
          <a:xfrm>
            <a:off x="2880360" y="5349240"/>
            <a:ext cx="2240280" cy="777240"/>
          </a:xfrm>
          <a:prstGeom prst="rect">
            <a:avLst/>
          </a:prstGeom>
          <a:noFill/>
          <a:ln/>
        </p:spPr>
        <p:txBody>
          <a:bodyPr wrap="square" lIns="0" tIns="0" rIns="0" bIns="0" rtlCol="0" anchor="ctr"/>
          <a:lstStyle/>
          <a:p>
            <a:pPr algn="ctr" indent="0" marL="0">
              <a:buNone/>
            </a:pPr>
            <a:r>
              <a:rPr lang="en-US" sz="1200" dirty="0">
                <a:solidFill>
                  <a:srgbClr val="6B7A88"/>
                </a:solidFill>
              </a:rPr>
              <a:t>캡처: 수리 기록 PDF</a:t>
            </a:r>
            <a:endParaRPr lang="en-US" sz="1200" dirty="0"/>
          </a:p>
        </p:txBody>
      </p:sp>
      <p:sp>
        <p:nvSpPr>
          <p:cNvPr id="11"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2"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현황 (도입 전)</a:t>
            </a:r>
            <a:endParaRPr lang="en-US" sz="1700" dirty="0"/>
          </a:p>
        </p:txBody>
      </p:sp>
      <p:sp>
        <p:nvSpPr>
          <p:cNvPr id="13"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자료 분산 — ERP · 엑셀 2종 · PDF · 개인 노하우</a:t>
            </a:r>
            <a:endParaRPr lang="en-US" sz="1700" dirty="0"/>
          </a:p>
          <a:p>
            <a:pPr marL="342900" indent="-342900">
              <a:spcAft>
                <a:spcPts val="600"/>
              </a:spcAft>
              <a:buSzPct val="100000"/>
              <a:buChar char="•"/>
            </a:pPr>
            <a:r>
              <a:rPr lang="en-US" sz="1700" dirty="0">
                <a:solidFill>
                  <a:srgbClr val="2C3E50"/>
                </a:solidFill>
              </a:rPr>
              <a:t>일일보고 집계 · 투입 판단을 매일 수작업</a:t>
            </a:r>
            <a:endParaRPr lang="en-US" sz="1700" dirty="0"/>
          </a:p>
          <a:p>
            <a:pPr marL="342900" indent="-342900">
              <a:spcAft>
                <a:spcPts val="600"/>
              </a:spcAft>
              <a:buSzPct val="100000"/>
              <a:buChar char="•"/>
            </a:pPr>
            <a:r>
              <a:rPr lang="en-US" sz="1700" dirty="0">
                <a:solidFill>
                  <a:srgbClr val="2C3E50"/>
                </a:solidFill>
              </a:rPr>
              <a:t>조건·고장 처리의 근거가 기록으로 남지 않음</a:t>
            </a:r>
            <a:endParaRPr lang="en-US" sz="1700" dirty="0"/>
          </a:p>
        </p:txBody>
      </p:sp>
      <p:sp>
        <p:nvSpPr>
          <p:cNvPr id="14"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5"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6"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17"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한곳에 기록 — 출처·신뢰도와 함께 사내 위키로</a:t>
            </a:r>
            <a:endParaRPr lang="en-US" sz="1700" dirty="0"/>
          </a:p>
          <a:p>
            <a:pPr marL="342900" indent="-342900">
              <a:spcAft>
                <a:spcPts val="400"/>
              </a:spcAft>
              <a:buSzPct val="100000"/>
              <a:buChar char="•"/>
            </a:pPr>
            <a:r>
              <a:rPr lang="en-US" sz="1700" dirty="0">
                <a:solidFill>
                  <a:srgbClr val="2C3E50"/>
                </a:solidFill>
              </a:rPr>
              <a:t>반복은 자동 실행 — 업무 PC 예약 실행</a:t>
            </a:r>
            <a:endParaRPr lang="en-US" sz="1700" dirty="0"/>
          </a:p>
          <a:p>
            <a:pPr marL="342900" indent="-342900">
              <a:spcAft>
                <a:spcPts val="400"/>
              </a:spcAft>
              <a:buSzPct val="100000"/>
              <a:buChar char="•"/>
            </a:pPr>
            <a:r>
              <a:rPr lang="en-US" sz="1700" dirty="0">
                <a:solidFill>
                  <a:srgbClr val="2C3E50"/>
                </a:solidFill>
              </a:rPr>
              <a:t>판단 근거 보존 — 기존 값은 지우지 않고 이력으로</a:t>
            </a:r>
            <a:endParaRPr lang="en-US" sz="17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생산팀 재연마 — 장비 2대(ANCA FastGrind · ANCA GX7)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핵심 수치</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생산팀 계정 1개로, 업무 PC 폴더를 연결해 대화로 정리·분석·자동화를 진행했습니다</a:t>
            </a:r>
            <a:endParaRPr lang="en-US" sz="2000" dirty="0"/>
          </a:p>
        </p:txBody>
      </p:sp>
      <p:sp>
        <p:nvSpPr>
          <p:cNvPr id="5" name="kpi0"/>
          <p:cNvSpPr/>
          <p:nvPr/>
        </p:nvSpPr>
        <p:spPr>
          <a:xfrm>
            <a:off x="548640" y="2011680"/>
            <a:ext cx="2066544" cy="2377440"/>
          </a:xfrm>
          <a:prstGeom prst="rect">
            <a:avLst/>
          </a:prstGeom>
          <a:solidFill>
            <a:srgbClr val="F4F6F8"/>
          </a:solidFill>
          <a:ln w="9525">
            <a:solidFill>
              <a:srgbClr val="D9E2EC"/>
            </a:solidFill>
            <a:prstDash val="solid"/>
          </a:ln>
        </p:spPr>
      </p:sp>
      <p:sp>
        <p:nvSpPr>
          <p:cNvPr id="6" name="kpi0-n"/>
          <p:cNvSpPr txBox="1"/>
          <p:nvPr/>
        </p:nvSpPr>
        <p:spPr>
          <a:xfrm>
            <a:off x="640080"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138</a:t>
            </a:r>
            <a:pPr algn="ctr" indent="0" marL="0">
              <a:buNone/>
            </a:pPr>
            <a:r>
              <a:rPr lang="en-US" sz="1500" b="1" dirty="0">
                <a:solidFill>
                  <a:srgbClr val="1F2A36"/>
                </a:solidFill>
              </a:rPr>
              <a:t> 페이지</a:t>
            </a:r>
            <a:endParaRPr lang="en-US" sz="3400" dirty="0"/>
          </a:p>
        </p:txBody>
      </p:sp>
      <p:sp>
        <p:nvSpPr>
          <p:cNvPr id="7" name="kpi0-l"/>
          <p:cNvSpPr txBox="1"/>
          <p:nvPr/>
        </p:nvSpPr>
        <p:spPr>
          <a:xfrm>
            <a:off x="640080"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지식 위키</a:t>
            </a:r>
            <a:endParaRPr lang="en-US" sz="1800" dirty="0"/>
          </a:p>
          <a:p>
            <a:pPr algn="ctr" indent="0" marL="0">
              <a:buNone/>
            </a:pPr>
            <a:r>
              <a:rPr lang="en-US" sz="1400" dirty="0">
                <a:solidFill>
                  <a:srgbClr val="6B7A88"/>
                </a:solidFill>
              </a:rPr>
              <a:t>장비 · 휠 · 연삭 조건 · 수리</a:t>
            </a:r>
            <a:endParaRPr lang="en-US" sz="1800" dirty="0"/>
          </a:p>
        </p:txBody>
      </p:sp>
      <p:sp>
        <p:nvSpPr>
          <p:cNvPr id="8" name="kpi1"/>
          <p:cNvSpPr/>
          <p:nvPr/>
        </p:nvSpPr>
        <p:spPr>
          <a:xfrm>
            <a:off x="2798064" y="2011680"/>
            <a:ext cx="2066544" cy="2377440"/>
          </a:xfrm>
          <a:prstGeom prst="rect">
            <a:avLst/>
          </a:prstGeom>
          <a:solidFill>
            <a:srgbClr val="F4F6F8"/>
          </a:solidFill>
          <a:ln w="9525">
            <a:solidFill>
              <a:srgbClr val="D9E2EC"/>
            </a:solidFill>
            <a:prstDash val="solid"/>
          </a:ln>
        </p:spPr>
      </p:sp>
      <p:sp>
        <p:nvSpPr>
          <p:cNvPr id="9" name="kpi1-n"/>
          <p:cNvSpPr txBox="1"/>
          <p:nvPr/>
        </p:nvSpPr>
        <p:spPr>
          <a:xfrm>
            <a:off x="2889504"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약 300</a:t>
            </a:r>
            <a:pPr algn="ctr" indent="0" marL="0">
              <a:buNone/>
            </a:pPr>
            <a:r>
              <a:rPr lang="en-US" sz="1500" b="1" dirty="0">
                <a:solidFill>
                  <a:srgbClr val="1F2A36"/>
                </a:solidFill>
              </a:rPr>
              <a:t> 건</a:t>
            </a:r>
            <a:endParaRPr lang="en-US" sz="3400" dirty="0"/>
          </a:p>
        </p:txBody>
      </p:sp>
      <p:sp>
        <p:nvSpPr>
          <p:cNvPr id="10" name="kpi1-l"/>
          <p:cNvSpPr txBox="1"/>
          <p:nvPr/>
        </p:nvSpPr>
        <p:spPr>
          <a:xfrm>
            <a:off x="2889504"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결정 기록</a:t>
            </a:r>
            <a:endParaRPr lang="en-US" sz="1800" dirty="0"/>
          </a:p>
          <a:p>
            <a:pPr algn="ctr" indent="0" marL="0">
              <a:buNone/>
            </a:pPr>
            <a:r>
              <a:rPr lang="en-US" sz="1400" dirty="0">
                <a:solidFill>
                  <a:srgbClr val="6B7A88"/>
                </a:solidFill>
              </a:rPr>
              <a:t>근거 · 대안 · 영향</a:t>
            </a:r>
            <a:endParaRPr lang="en-US" sz="1800" dirty="0"/>
          </a:p>
        </p:txBody>
      </p:sp>
      <p:sp>
        <p:nvSpPr>
          <p:cNvPr id="11" name="kpi2"/>
          <p:cNvSpPr/>
          <p:nvPr/>
        </p:nvSpPr>
        <p:spPr>
          <a:xfrm>
            <a:off x="5047488" y="2011680"/>
            <a:ext cx="2066544" cy="2377440"/>
          </a:xfrm>
          <a:prstGeom prst="rect">
            <a:avLst/>
          </a:prstGeom>
          <a:solidFill>
            <a:srgbClr val="F4F6F8"/>
          </a:solidFill>
          <a:ln w="9525">
            <a:solidFill>
              <a:srgbClr val="D9E2EC"/>
            </a:solidFill>
            <a:prstDash val="solid"/>
          </a:ln>
        </p:spPr>
      </p:sp>
      <p:sp>
        <p:nvSpPr>
          <p:cNvPr id="12" name="kpi2-n"/>
          <p:cNvSpPr txBox="1"/>
          <p:nvPr/>
        </p:nvSpPr>
        <p:spPr>
          <a:xfrm>
            <a:off x="5138928"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132</a:t>
            </a:r>
            <a:pPr algn="ctr" indent="0" marL="0">
              <a:buNone/>
            </a:pPr>
            <a:r>
              <a:rPr lang="en-US" sz="1500" b="1" dirty="0">
                <a:solidFill>
                  <a:srgbClr val="1F2A36"/>
                </a:solidFill>
              </a:rPr>
              <a:t> 건</a:t>
            </a:r>
            <a:endParaRPr lang="en-US" sz="3400" dirty="0"/>
          </a:p>
        </p:txBody>
      </p:sp>
      <p:sp>
        <p:nvSpPr>
          <p:cNvPr id="13" name="kpi2-l"/>
          <p:cNvSpPr txBox="1"/>
          <p:nvPr/>
        </p:nvSpPr>
        <p:spPr>
          <a:xfrm>
            <a:off x="5138928"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일일보고 생성</a:t>
            </a:r>
            <a:endParaRPr lang="en-US" sz="1800" dirty="0"/>
          </a:p>
          <a:p>
            <a:pPr algn="ctr" indent="0" marL="0">
              <a:buNone/>
            </a:pPr>
            <a:r>
              <a:rPr lang="en-US" sz="1400" dirty="0">
                <a:solidFill>
                  <a:srgbClr val="6B7A88"/>
                </a:solidFill>
              </a:rPr>
              <a:t>6월부터 매일 자동</a:t>
            </a:r>
            <a:endParaRPr lang="en-US" sz="1800" dirty="0"/>
          </a:p>
        </p:txBody>
      </p:sp>
      <p:sp>
        <p:nvSpPr>
          <p:cNvPr id="14" name="kpi3"/>
          <p:cNvSpPr/>
          <p:nvPr/>
        </p:nvSpPr>
        <p:spPr>
          <a:xfrm>
            <a:off x="7296912" y="2011680"/>
            <a:ext cx="2066544" cy="2377440"/>
          </a:xfrm>
          <a:prstGeom prst="rect">
            <a:avLst/>
          </a:prstGeom>
          <a:solidFill>
            <a:srgbClr val="F4F6F8"/>
          </a:solidFill>
          <a:ln w="9525">
            <a:solidFill>
              <a:srgbClr val="D9E2EC"/>
            </a:solidFill>
            <a:prstDash val="solid"/>
          </a:ln>
        </p:spPr>
      </p:sp>
      <p:sp>
        <p:nvSpPr>
          <p:cNvPr id="15" name="kpi3-n"/>
          <p:cNvSpPr txBox="1"/>
          <p:nvPr/>
        </p:nvSpPr>
        <p:spPr>
          <a:xfrm>
            <a:off x="7388352"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10,744</a:t>
            </a:r>
            <a:pPr algn="ctr" indent="0" marL="0">
              <a:buNone/>
            </a:pPr>
            <a:r>
              <a:rPr lang="en-US" sz="1500" b="1" dirty="0">
                <a:solidFill>
                  <a:srgbClr val="1F2A36"/>
                </a:solidFill>
              </a:rPr>
              <a:t> 건</a:t>
            </a:r>
            <a:endParaRPr lang="en-US" sz="3400" dirty="0"/>
          </a:p>
        </p:txBody>
      </p:sp>
      <p:sp>
        <p:nvSpPr>
          <p:cNvPr id="16" name="kpi3-l"/>
          <p:cNvSpPr txBox="1"/>
          <p:nvPr/>
        </p:nvSpPr>
        <p:spPr>
          <a:xfrm>
            <a:off x="7388352"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단가표 자동 대조</a:t>
            </a:r>
            <a:endParaRPr lang="en-US" sz="1800" dirty="0"/>
          </a:p>
          <a:p>
            <a:pPr algn="ctr" indent="0" marL="0">
              <a:buNone/>
            </a:pPr>
            <a:r>
              <a:rPr lang="en-US" sz="1400" dirty="0">
                <a:solidFill>
                  <a:srgbClr val="6B7A88"/>
                </a:solidFill>
              </a:rPr>
              <a:t>재연마 단가표 검수</a:t>
            </a:r>
            <a:endParaRPr lang="en-US" sz="1800" dirty="0"/>
          </a:p>
        </p:txBody>
      </p:sp>
      <p:sp>
        <p:nvSpPr>
          <p:cNvPr id="17" name="kpi4"/>
          <p:cNvSpPr/>
          <p:nvPr/>
        </p:nvSpPr>
        <p:spPr>
          <a:xfrm>
            <a:off x="9546336" y="2011680"/>
            <a:ext cx="2066544" cy="2377440"/>
          </a:xfrm>
          <a:prstGeom prst="rect">
            <a:avLst/>
          </a:prstGeom>
          <a:solidFill>
            <a:srgbClr val="F4F6F8"/>
          </a:solidFill>
          <a:ln w="9525">
            <a:solidFill>
              <a:srgbClr val="D9E2EC"/>
            </a:solidFill>
            <a:prstDash val="solid"/>
          </a:ln>
        </p:spPr>
      </p:sp>
      <p:sp>
        <p:nvSpPr>
          <p:cNvPr id="18" name="kpi4-n"/>
          <p:cNvSpPr txBox="1"/>
          <p:nvPr/>
        </p:nvSpPr>
        <p:spPr>
          <a:xfrm>
            <a:off x="9637776" y="2194560"/>
            <a:ext cx="1883664" cy="868680"/>
          </a:xfrm>
          <a:prstGeom prst="rect">
            <a:avLst/>
          </a:prstGeom>
          <a:noFill/>
          <a:ln/>
        </p:spPr>
        <p:txBody>
          <a:bodyPr wrap="square" lIns="0" tIns="0" rIns="0" bIns="0" rtlCol="0" anchor="b"/>
          <a:lstStyle/>
          <a:p>
            <a:pPr algn="ctr" indent="0" marL="0">
              <a:buNone/>
            </a:pPr>
            <a:r>
              <a:rPr lang="en-US" sz="3400" b="1" dirty="0">
                <a:solidFill>
                  <a:srgbClr val="0E7C86"/>
                </a:solidFill>
              </a:rPr>
              <a:t>55</a:t>
            </a:r>
            <a:pPr algn="ctr" indent="0" marL="0">
              <a:buNone/>
            </a:pPr>
            <a:r>
              <a:rPr lang="en-US" sz="1500" b="1" dirty="0">
                <a:solidFill>
                  <a:srgbClr val="1F2A36"/>
                </a:solidFill>
              </a:rPr>
              <a:t> 개</a:t>
            </a:r>
            <a:endParaRPr lang="en-US" sz="3400" dirty="0"/>
          </a:p>
        </p:txBody>
      </p:sp>
      <p:sp>
        <p:nvSpPr>
          <p:cNvPr id="19" name="kpi4-l"/>
          <p:cNvSpPr txBox="1"/>
          <p:nvPr/>
        </p:nvSpPr>
        <p:spPr>
          <a:xfrm>
            <a:off x="9637776" y="3246120"/>
            <a:ext cx="1883664" cy="914400"/>
          </a:xfrm>
          <a:prstGeom prst="rect">
            <a:avLst/>
          </a:prstGeom>
          <a:noFill/>
          <a:ln/>
        </p:spPr>
        <p:txBody>
          <a:bodyPr wrap="square" lIns="0" tIns="0" rIns="0" bIns="0" rtlCol="0" anchor="t"/>
          <a:lstStyle/>
          <a:p>
            <a:pPr algn="ctr" indent="0" marL="0">
              <a:buNone/>
            </a:pPr>
            <a:r>
              <a:rPr lang="en-US" sz="1800" b="1" dirty="0">
                <a:solidFill>
                  <a:srgbClr val="1F2A36"/>
                </a:solidFill>
              </a:rPr>
              <a:t>자동화 스크립트</a:t>
            </a:r>
            <a:endParaRPr lang="en-US" sz="1800" dirty="0"/>
          </a:p>
          <a:p>
            <a:pPr algn="ctr" indent="0" marL="0">
              <a:buNone/>
            </a:pPr>
            <a:r>
              <a:rPr lang="en-US" sz="1400" dirty="0">
                <a:solidFill>
                  <a:srgbClr val="6B7A88"/>
                </a:solidFill>
              </a:rPr>
              <a:t>Python</a:t>
            </a:r>
            <a:endParaRPr lang="en-US" sz="1800" dirty="0"/>
          </a:p>
        </p:txBody>
      </p:sp>
      <p:sp>
        <p:nvSpPr>
          <p:cNvPr id="20" name="rule-box"/>
          <p:cNvSpPr/>
          <p:nvPr/>
        </p:nvSpPr>
        <p:spPr>
          <a:xfrm>
            <a:off x="548640" y="4709160"/>
            <a:ext cx="11064240" cy="1371600"/>
          </a:xfrm>
          <a:prstGeom prst="rect">
            <a:avLst/>
          </a:prstGeom>
          <a:solidFill>
            <a:srgbClr val="FFFFFF"/>
          </a:solidFill>
          <a:ln w="9525">
            <a:solidFill>
              <a:srgbClr val="D9E2EC"/>
            </a:solidFill>
            <a:prstDash val="solid"/>
          </a:ln>
        </p:spPr>
      </p:sp>
      <p:sp>
        <p:nvSpPr>
          <p:cNvPr id="21" name="rule-h"/>
          <p:cNvSpPr txBox="1"/>
          <p:nvPr/>
        </p:nvSpPr>
        <p:spPr>
          <a:xfrm>
            <a:off x="777240" y="4846320"/>
            <a:ext cx="1828800" cy="365760"/>
          </a:xfrm>
          <a:prstGeom prst="rect">
            <a:avLst/>
          </a:prstGeom>
          <a:noFill/>
          <a:ln/>
        </p:spPr>
        <p:txBody>
          <a:bodyPr wrap="square" lIns="0" tIns="0" rIns="0" bIns="0" rtlCol="0" anchor="ctr"/>
          <a:lstStyle/>
          <a:p>
            <a:pPr indent="0" marL="0">
              <a:buNone/>
            </a:pPr>
            <a:r>
              <a:rPr lang="en-US" sz="1600" b="1" dirty="0">
                <a:solidFill>
                  <a:srgbClr val="0E7C86"/>
                </a:solidFill>
              </a:rPr>
              <a:t>운영 원칙</a:t>
            </a:r>
            <a:endParaRPr lang="en-US" sz="1600" dirty="0"/>
          </a:p>
        </p:txBody>
      </p:sp>
      <p:sp>
        <p:nvSpPr>
          <p:cNvPr id="22" name="rule-t"/>
          <p:cNvSpPr txBox="1"/>
          <p:nvPr/>
        </p:nvSpPr>
        <p:spPr>
          <a:xfrm>
            <a:off x="777240" y="5212080"/>
            <a:ext cx="10607040" cy="77724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모든 수치에 단위와 신뢰도 표기 (제조사 기준 / 실측 검증 / 사내 경험값 / 추정값)</a:t>
            </a:r>
            <a:endParaRPr lang="en-US" sz="1700" dirty="0"/>
          </a:p>
          <a:p>
            <a:pPr marL="342900" indent="-342900">
              <a:spcAft>
                <a:spcPts val="400"/>
              </a:spcAft>
              <a:buSzPct val="100000"/>
              <a:buChar char="•"/>
            </a:pPr>
            <a:r>
              <a:rPr lang="en-US" sz="1700" dirty="0">
                <a:solidFill>
                  <a:srgbClr val="2C3E50"/>
                </a:solidFill>
              </a:rPr>
              <a:t>AI 가 낸 수치·조건은 참고값 — 현장 검증 후 적용, 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근거: 위키 자동 집계 · 결정 기록 · 중간보고(09-14)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활용 영역</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기록 · 자동화 · 판단 보조 · 검수 · 문서 작성 다섯 영역에 쓰고 있습니다</a:t>
            </a:r>
            <a:endParaRPr lang="en-US" sz="2000" dirty="0"/>
          </a:p>
        </p:txBody>
      </p:sp>
      <p:graphicFrame>
        <p:nvGraphicFramePr>
          <p:cNvPr id="6" name="area-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장비·휠·연삭 조건·수리 이력 정리, 결정마다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위키 138페이지 ·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 생성, 사내 현황판 배포 (매일 07:50 ·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132건 (6월~ 매일 자동)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 가공 완료분 → 장비별 투입 목록 (납기순 · 형상 묶음)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 가동 · 규칙 보강 7회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파싱, ERP 조회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 ERP 5개 화면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73152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대응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 수리 검토보고 ·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 GX7 로더 진단 →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현장 판단 보조·데이터 검수는 2기에 새로 시작한 영역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02  팀 내 Claude 활용 현황  |  필수 ①</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추진 경과</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6월부터 일일보고가 매일 자동으로 만들어지고 있습니다 — 그 이전 분은 일괄 소급 생성</a:t>
            </a:r>
            <a:endParaRPr lang="en-US" sz="2000" dirty="0"/>
          </a:p>
        </p:txBody>
      </p:sp>
      <p:graphicFrame>
        <p:nvGraphicFramePr>
          <p:cNvPr id="5"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tl-panel"/>
          <p:cNvSpPr/>
          <p:nvPr/>
        </p:nvSpPr>
        <p:spPr>
          <a:xfrm>
            <a:off x="7680960" y="1920240"/>
            <a:ext cx="3931920" cy="4206240"/>
          </a:xfrm>
          <a:prstGeom prst="rect">
            <a:avLst/>
          </a:prstGeom>
          <a:solidFill>
            <a:srgbClr val="F4F6F8"/>
          </a:solidFill>
          <a:ln w="9525">
            <a:solidFill>
              <a:srgbClr val="D9E2EC"/>
            </a:solidFill>
            <a:prstDash val="solid"/>
          </a:ln>
        </p:spPr>
      </p:sp>
      <p:sp>
        <p:nvSpPr>
          <p:cNvPr id="7" name="tl-h"/>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1700" b="1" dirty="0">
                <a:solidFill>
                  <a:srgbClr val="1F2A36"/>
                </a:solidFill>
              </a:rPr>
              <a:t>추진 경과</a:t>
            </a:r>
            <a:endParaRPr lang="en-US" sz="1700" dirty="0"/>
          </a:p>
        </p:txBody>
      </p:sp>
      <p:sp>
        <p:nvSpPr>
          <p:cNvPr id="8" name="tl0-m"/>
          <p:cNvSpPr txBox="1"/>
          <p:nvPr/>
        </p:nvSpPr>
        <p:spPr>
          <a:xfrm>
            <a:off x="7909560" y="2514600"/>
            <a:ext cx="3474720" cy="292608"/>
          </a:xfrm>
          <a:prstGeom prst="rect">
            <a:avLst/>
          </a:prstGeom>
          <a:noFill/>
          <a:ln/>
        </p:spPr>
        <p:txBody>
          <a:bodyPr wrap="square" lIns="0" tIns="0" rIns="0" bIns="0" rtlCol="0" anchor="ctr"/>
          <a:lstStyle/>
          <a:p>
            <a:pPr indent="0" marL="0">
              <a:buNone/>
            </a:pPr>
            <a:r>
              <a:rPr lang="en-US" sz="1400" b="1" dirty="0">
                <a:solidFill>
                  <a:srgbClr val="6B7A88"/>
                </a:solidFill>
              </a:rPr>
              <a:t>1기 · 4~6월</a:t>
            </a:r>
            <a:endParaRPr lang="en-US" sz="1400" dirty="0"/>
          </a:p>
        </p:txBody>
      </p:sp>
      <p:sp>
        <p:nvSpPr>
          <p:cNvPr id="9" name="tl0-t"/>
          <p:cNvSpPr txBox="1"/>
          <p:nvPr/>
        </p:nvSpPr>
        <p:spPr>
          <a:xfrm>
            <a:off x="7909560" y="2807208"/>
            <a:ext cx="3474720" cy="347472"/>
          </a:xfrm>
          <a:prstGeom prst="rect">
            <a:avLst/>
          </a:prstGeom>
          <a:noFill/>
          <a:ln/>
        </p:spPr>
        <p:txBody>
          <a:bodyPr wrap="square" lIns="0" tIns="0" rIns="0" bIns="0" rtlCol="0" anchor="ctr"/>
          <a:lstStyle/>
          <a:p>
            <a:pPr indent="0" marL="0">
              <a:buNone/>
            </a:pPr>
            <a:r>
              <a:rPr lang="en-US" sz="1500" dirty="0">
                <a:solidFill>
                  <a:srgbClr val="2C3E50"/>
                </a:solidFill>
              </a:rPr>
              <a:t>기록 체계 구축 · 일일보고 자동화</a:t>
            </a:r>
            <a:endParaRPr lang="en-US" sz="1500" dirty="0"/>
          </a:p>
        </p:txBody>
      </p:sp>
      <p:sp>
        <p:nvSpPr>
          <p:cNvPr id="10" name="tl1-m"/>
          <p:cNvSpPr txBox="1"/>
          <p:nvPr/>
        </p:nvSpPr>
        <p:spPr>
          <a:xfrm>
            <a:off x="7909560" y="3218688"/>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7월</a:t>
            </a:r>
            <a:endParaRPr lang="en-US" sz="1400" dirty="0"/>
          </a:p>
        </p:txBody>
      </p:sp>
      <p:sp>
        <p:nvSpPr>
          <p:cNvPr id="11" name="tl1-t"/>
          <p:cNvSpPr txBox="1"/>
          <p:nvPr/>
        </p:nvSpPr>
        <p:spPr>
          <a:xfrm>
            <a:off x="7909560" y="3511296"/>
            <a:ext cx="3474720" cy="347472"/>
          </a:xfrm>
          <a:prstGeom prst="rect">
            <a:avLst/>
          </a:prstGeom>
          <a:noFill/>
          <a:ln/>
        </p:spPr>
        <p:txBody>
          <a:bodyPr wrap="square" lIns="0" tIns="0" rIns="0" bIns="0" rtlCol="0" anchor="ctr"/>
          <a:lstStyle/>
          <a:p>
            <a:pPr indent="0" marL="0">
              <a:buNone/>
            </a:pPr>
            <a:r>
              <a:rPr lang="en-US" sz="1500" dirty="0">
                <a:solidFill>
                  <a:srgbClr val="2C3E50"/>
                </a:solidFill>
              </a:rPr>
              <a:t>가공 테스트 · 보고서 양식</a:t>
            </a:r>
            <a:endParaRPr lang="en-US" sz="1500" dirty="0"/>
          </a:p>
        </p:txBody>
      </p:sp>
      <p:sp>
        <p:nvSpPr>
          <p:cNvPr id="12" name="tl2-m"/>
          <p:cNvSpPr txBox="1"/>
          <p:nvPr/>
        </p:nvSpPr>
        <p:spPr>
          <a:xfrm>
            <a:off x="7909560" y="3922776"/>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8월</a:t>
            </a:r>
            <a:endParaRPr lang="en-US" sz="1400" dirty="0"/>
          </a:p>
        </p:txBody>
      </p:sp>
      <p:sp>
        <p:nvSpPr>
          <p:cNvPr id="13" name="tl2-t"/>
          <p:cNvSpPr txBox="1"/>
          <p:nvPr/>
        </p:nvSpPr>
        <p:spPr>
          <a:xfrm>
            <a:off x="7909560" y="4215384"/>
            <a:ext cx="3474720" cy="347472"/>
          </a:xfrm>
          <a:prstGeom prst="rect">
            <a:avLst/>
          </a:prstGeom>
          <a:noFill/>
          <a:ln/>
        </p:spPr>
        <p:txBody>
          <a:bodyPr wrap="square" lIns="0" tIns="0" rIns="0" bIns="0" rtlCol="0" anchor="ctr"/>
          <a:lstStyle/>
          <a:p>
            <a:pPr indent="0" marL="0">
              <a:buNone/>
            </a:pPr>
            <a:r>
              <a:rPr lang="en-US" sz="1500" dirty="0">
                <a:solidFill>
                  <a:srgbClr val="2C3E50"/>
                </a:solidFill>
              </a:rPr>
              <a:t>F · GX7 로더 고장 대응</a:t>
            </a:r>
            <a:endParaRPr lang="en-US" sz="1500" dirty="0"/>
          </a:p>
        </p:txBody>
      </p:sp>
      <p:sp>
        <p:nvSpPr>
          <p:cNvPr id="14" name="tl3-m"/>
          <p:cNvSpPr txBox="1"/>
          <p:nvPr/>
        </p:nvSpPr>
        <p:spPr>
          <a:xfrm>
            <a:off x="7909560" y="4626864"/>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9월</a:t>
            </a:r>
            <a:endParaRPr lang="en-US" sz="1400" dirty="0"/>
          </a:p>
        </p:txBody>
      </p:sp>
      <p:sp>
        <p:nvSpPr>
          <p:cNvPr id="15" name="tl3-t"/>
          <p:cNvSpPr txBox="1"/>
          <p:nvPr/>
        </p:nvSpPr>
        <p:spPr>
          <a:xfrm>
            <a:off x="7909560" y="4919472"/>
            <a:ext cx="3474720" cy="347472"/>
          </a:xfrm>
          <a:prstGeom prst="rect">
            <a:avLst/>
          </a:prstGeom>
          <a:noFill/>
          <a:ln/>
        </p:spPr>
        <p:txBody>
          <a:bodyPr wrap="square" lIns="0" tIns="0" rIns="0" bIns="0" rtlCol="0" anchor="ctr"/>
          <a:lstStyle/>
          <a:p>
            <a:pPr indent="0" marL="0">
              <a:buNone/>
            </a:pPr>
            <a:r>
              <a:rPr lang="en-US" sz="1500" dirty="0">
                <a:solidFill>
                  <a:srgbClr val="2C3E50"/>
                </a:solidFill>
              </a:rPr>
              <a:t>ERP 연동 · 투입 목록 가동</a:t>
            </a:r>
            <a:endParaRPr lang="en-US" sz="1500" dirty="0"/>
          </a:p>
        </p:txBody>
      </p:sp>
      <p:sp>
        <p:nvSpPr>
          <p:cNvPr id="16" name="tl4-m"/>
          <p:cNvSpPr txBox="1"/>
          <p:nvPr/>
        </p:nvSpPr>
        <p:spPr>
          <a:xfrm>
            <a:off x="7909560" y="5330952"/>
            <a:ext cx="3474720" cy="292608"/>
          </a:xfrm>
          <a:prstGeom prst="rect">
            <a:avLst/>
          </a:prstGeom>
          <a:noFill/>
          <a:ln/>
        </p:spPr>
        <p:txBody>
          <a:bodyPr wrap="square" lIns="0" tIns="0" rIns="0" bIns="0" rtlCol="0" anchor="ctr"/>
          <a:lstStyle/>
          <a:p>
            <a:pPr indent="0" marL="0">
              <a:buNone/>
            </a:pPr>
            <a:r>
              <a:rPr lang="en-US" sz="1400" b="1" dirty="0">
                <a:solidFill>
                  <a:srgbClr val="0E7C86"/>
                </a:solidFill>
              </a:rPr>
              <a:t>10월</a:t>
            </a:r>
            <a:endParaRPr lang="en-US" sz="1400" dirty="0"/>
          </a:p>
        </p:txBody>
      </p:sp>
      <p:sp>
        <p:nvSpPr>
          <p:cNvPr id="17" name="tl4-t"/>
          <p:cNvSpPr txBox="1"/>
          <p:nvPr/>
        </p:nvSpPr>
        <p:spPr>
          <a:xfrm>
            <a:off x="7909560" y="5623560"/>
            <a:ext cx="3474720" cy="347472"/>
          </a:xfrm>
          <a:prstGeom prst="rect">
            <a:avLst/>
          </a:prstGeom>
          <a:noFill/>
          <a:ln/>
        </p:spPr>
        <p:txBody>
          <a:bodyPr wrap="square" lIns="0" tIns="0" rIns="0" bIns="0" rtlCol="0" anchor="ctr"/>
          <a:lstStyle/>
          <a:p>
            <a:pPr indent="0" marL="0">
              <a:buNone/>
            </a:pPr>
            <a:r>
              <a:rPr lang="en-US" sz="1500" dirty="0">
                <a:solidFill>
                  <a:srgbClr val="2C3E50"/>
                </a:solidFill>
              </a:rPr>
              <a:t>효과 측정 · 효과 없는 자동화 중단</a:t>
            </a:r>
            <a:endParaRPr lang="en-US" sz="15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파일 실측 · *10월은 16일까지 · 8월 11건 재생성 포함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소개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시스템 구성</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기존 자료를 그대로 읽어, 업무 PC 가 정해진 시각에 결과물을 만들어 배포합니다</a:t>
            </a:r>
            <a:endParaRPr lang="en-US" sz="2000" dirty="0"/>
          </a:p>
        </p:txBody>
      </p:sp>
      <p:sp>
        <p:nvSpPr>
          <p:cNvPr id="5"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6"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입력 — 기존 자료</a:t>
            </a:r>
            <a:endParaRPr lang="en-US" sz="1700" dirty="0"/>
          </a:p>
        </p:txBody>
      </p:sp>
      <p:sp>
        <p:nvSpPr>
          <p:cNvPr id="7"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8"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 A/S 조회</a:t>
            </a:r>
            <a:endParaRPr lang="en-US" sz="1700" dirty="0"/>
          </a:p>
        </p:txBody>
      </p:sp>
      <p:sp>
        <p:nvSpPr>
          <p:cNvPr id="9"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0"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1"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2"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3"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4"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처리 — 업무 PC</a:t>
            </a:r>
            <a:endParaRPr lang="en-US" sz="1700" dirty="0"/>
          </a:p>
        </p:txBody>
      </p:sp>
      <p:sp>
        <p:nvSpPr>
          <p:cNvPr id="15"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6"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 07:50 · 16:00</a:t>
            </a:r>
            <a:endParaRPr lang="en-US" sz="1700" dirty="0"/>
          </a:p>
        </p:txBody>
      </p:sp>
      <p:sp>
        <p:nvSpPr>
          <p:cNvPr id="17"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18"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 — 집계 · 대조 · 배정</a:t>
            </a:r>
            <a:endParaRPr lang="en-US" sz="1700" dirty="0"/>
          </a:p>
        </p:txBody>
      </p:sp>
      <p:sp>
        <p:nvSpPr>
          <p:cNvPr id="19"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0"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 — 스크립트 작성 · 점검 · 기록</a:t>
            </a:r>
            <a:endParaRPr lang="en-US" sz="1700" dirty="0"/>
          </a:p>
        </p:txBody>
      </p:sp>
      <p:sp>
        <p:nvSpPr>
          <p:cNvPr id="21"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2"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출력 — 결과물</a:t>
            </a:r>
            <a:endParaRPr lang="en-US" sz="1700" dirty="0"/>
          </a:p>
        </p:txBody>
      </p:sp>
      <p:sp>
        <p:nvSpPr>
          <p:cNvPr id="23"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4"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5"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6"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사내 현황판 (공유폴더)</a:t>
            </a:r>
            <a:endParaRPr lang="en-US" sz="1700" dirty="0"/>
          </a:p>
        </p:txBody>
      </p:sp>
      <p:sp>
        <p:nvSpPr>
          <p:cNvPr id="27"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28"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29"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0"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지식 위키 · 결정 기록</a:t>
            </a:r>
            <a:endParaRPr lang="en-US" sz="1700" dirty="0"/>
          </a:p>
        </p:txBody>
      </p:sp>
      <p:sp>
        <p:nvSpPr>
          <p:cNvPr id="31"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2"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새 시스템을 들이지 않고, 기존 엑셀·ERP 를 그대로 읽는 방식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실행 화면</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출근하면 일일보고·현황판·투입 목록이 이미 만들어져 있습니다</a:t>
            </a:r>
            <a:endParaRPr lang="en-US" sz="2000" dirty="0"/>
          </a:p>
        </p:txBody>
      </p:sp>
      <p:sp>
        <p:nvSpPr>
          <p:cNvPr id="5" name="cap0"/>
          <p:cNvSpPr/>
          <p:nvPr/>
        </p:nvSpPr>
        <p:spPr>
          <a:xfrm>
            <a:off x="548640" y="1965960"/>
            <a:ext cx="3566160" cy="3291840"/>
          </a:xfrm>
          <a:prstGeom prst="rect">
            <a:avLst/>
          </a:prstGeom>
          <a:solidFill>
            <a:srgbClr val="F4F6F8"/>
          </a:solidFill>
          <a:ln w="12700">
            <a:solidFill>
              <a:srgbClr val="6B7A88"/>
            </a:solidFill>
            <a:prstDash val="dash"/>
          </a:ln>
        </p:spPr>
      </p:sp>
      <p:sp>
        <p:nvSpPr>
          <p:cNvPr id="6" name="cap0-ph"/>
          <p:cNvSpPr txBox="1"/>
          <p:nvPr/>
        </p:nvSpPr>
        <p:spPr>
          <a:xfrm>
            <a:off x="548640" y="1965960"/>
            <a:ext cx="3566160" cy="3291840"/>
          </a:xfrm>
          <a:prstGeom prst="rect">
            <a:avLst/>
          </a:prstGeom>
          <a:noFill/>
          <a:ln/>
        </p:spPr>
        <p:txBody>
          <a:bodyPr wrap="square" lIns="0" tIns="0" rIns="0" bIns="0" rtlCol="0" anchor="ctr"/>
          <a:lstStyle/>
          <a:p>
            <a:pPr algn="ctr" indent="0" marL="0">
              <a:buNone/>
            </a:pPr>
            <a:r>
              <a:rPr lang="en-US" sz="1400" dirty="0">
                <a:solidFill>
                  <a:srgbClr val="6B7A88"/>
                </a:solidFill>
              </a:rPr>
              <a:t>화면 캡처 삽입</a:t>
            </a:r>
            <a:endParaRPr lang="en-US" sz="1400" dirty="0"/>
          </a:p>
        </p:txBody>
      </p:sp>
      <p:sp>
        <p:nvSpPr>
          <p:cNvPr id="7"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전일 장비별 실적 · 매일 자동 생성</a:t>
            </a:r>
            <a:endParaRPr lang="en-US" sz="1700" dirty="0"/>
          </a:p>
        </p:txBody>
      </p:sp>
      <p:sp>
        <p:nvSpPr>
          <p:cNvPr id="8" name="cap1"/>
          <p:cNvSpPr/>
          <p:nvPr/>
        </p:nvSpPr>
        <p:spPr>
          <a:xfrm>
            <a:off x="4297680" y="1965960"/>
            <a:ext cx="3566160" cy="3291840"/>
          </a:xfrm>
          <a:prstGeom prst="rect">
            <a:avLst/>
          </a:prstGeom>
          <a:solidFill>
            <a:srgbClr val="F4F6F8"/>
          </a:solidFill>
          <a:ln w="12700">
            <a:solidFill>
              <a:srgbClr val="6B7A88"/>
            </a:solidFill>
            <a:prstDash val="dash"/>
          </a:ln>
        </p:spPr>
      </p:sp>
      <p:sp>
        <p:nvSpPr>
          <p:cNvPr id="9" name="cap1-ph"/>
          <p:cNvSpPr txBox="1"/>
          <p:nvPr/>
        </p:nvSpPr>
        <p:spPr>
          <a:xfrm>
            <a:off x="4297680" y="1965960"/>
            <a:ext cx="3566160" cy="3291840"/>
          </a:xfrm>
          <a:prstGeom prst="rect">
            <a:avLst/>
          </a:prstGeom>
          <a:noFill/>
          <a:ln/>
        </p:spPr>
        <p:txBody>
          <a:bodyPr wrap="square" lIns="0" tIns="0" rIns="0" bIns="0" rtlCol="0" anchor="ctr"/>
          <a:lstStyle/>
          <a:p>
            <a:pPr algn="ctr" indent="0" marL="0">
              <a:buNone/>
            </a:pPr>
            <a:r>
              <a:rPr lang="en-US" sz="1400" dirty="0">
                <a:solidFill>
                  <a:srgbClr val="6B7A88"/>
                </a:solidFill>
              </a:rPr>
              <a:t>화면 캡처 삽입</a:t>
            </a:r>
            <a:endParaRPr lang="en-US" sz="1400" dirty="0"/>
          </a:p>
        </p:txBody>
      </p:sp>
      <p:sp>
        <p:nvSpPr>
          <p:cNvPr id="10"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오늘 실적 · 업체별 출하 · 접수 현황</a:t>
            </a:r>
            <a:endParaRPr lang="en-US" sz="1700" dirty="0"/>
          </a:p>
        </p:txBody>
      </p:sp>
      <p:sp>
        <p:nvSpPr>
          <p:cNvPr id="11" name="cap2"/>
          <p:cNvSpPr/>
          <p:nvPr/>
        </p:nvSpPr>
        <p:spPr>
          <a:xfrm>
            <a:off x="8046720" y="1965960"/>
            <a:ext cx="3566160" cy="3291840"/>
          </a:xfrm>
          <a:prstGeom prst="rect">
            <a:avLst/>
          </a:prstGeom>
          <a:solidFill>
            <a:srgbClr val="F4F6F8"/>
          </a:solidFill>
          <a:ln w="12700">
            <a:solidFill>
              <a:srgbClr val="6B7A88"/>
            </a:solidFill>
            <a:prstDash val="dash"/>
          </a:ln>
        </p:spPr>
      </p:sp>
      <p:sp>
        <p:nvSpPr>
          <p:cNvPr id="12" name="cap2-ph"/>
          <p:cNvSpPr txBox="1"/>
          <p:nvPr/>
        </p:nvSpPr>
        <p:spPr>
          <a:xfrm>
            <a:off x="8046720" y="1965960"/>
            <a:ext cx="3566160" cy="3291840"/>
          </a:xfrm>
          <a:prstGeom prst="rect">
            <a:avLst/>
          </a:prstGeom>
          <a:noFill/>
          <a:ln/>
        </p:spPr>
        <p:txBody>
          <a:bodyPr wrap="square" lIns="0" tIns="0" rIns="0" bIns="0" rtlCol="0" anchor="ctr"/>
          <a:lstStyle/>
          <a:p>
            <a:pPr algn="ctr" indent="0" marL="0">
              <a:buNone/>
            </a:pPr>
            <a:r>
              <a:rPr lang="en-US" sz="1400" dirty="0">
                <a:solidFill>
                  <a:srgbClr val="6B7A88"/>
                </a:solidFill>
              </a:rPr>
              <a:t>화면 캡처 삽입</a:t>
            </a:r>
            <a:endParaRPr lang="en-US" sz="1400" dirty="0"/>
          </a:p>
        </p:txBody>
      </p:sp>
      <p:sp>
        <p:nvSpPr>
          <p:cNvPr id="13"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a:t>
            </a:r>
            <a:endParaRPr lang="en-US" sz="1700" dirty="0"/>
          </a:p>
          <a:p>
            <a:pPr indent="0" marL="0">
              <a:buNone/>
            </a:pPr>
            <a:r>
              <a:rPr lang="en-US" sz="1400" dirty="0">
                <a:solidFill>
                  <a:srgbClr val="6B7A88"/>
                </a:solidFill>
              </a:rPr>
              <a:t>FG / GX7 배정 · 납기순 · 형상 묶음</a:t>
            </a:r>
            <a:endParaRPr lang="en-US" sz="17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일일보고 4주 18/18 영업일 생성(10-07 성적표)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03  자동화 시스템 시연  |  필수 ②</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기록 기반 질의응답</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쌓아 둔 기록에서 근거와 함께 답하고, 확인되지 않은 것은 「확인 필요」로 답합니다</a:t>
            </a:r>
            <a:endParaRPr lang="en-US" sz="2000" dirty="0"/>
          </a:p>
        </p:txBody>
      </p:sp>
      <p:sp>
        <p:nvSpPr>
          <p:cNvPr id="5"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장비 이력</a:t>
            </a:r>
            <a:endParaRPr lang="en-US" sz="1300" dirty="0"/>
          </a:p>
        </p:txBody>
      </p:sp>
      <p:sp>
        <p:nvSpPr>
          <p:cNvPr id="6" name="qa0-q"/>
          <p:cNvSpPr/>
          <p:nvPr/>
        </p:nvSpPr>
        <p:spPr>
          <a:xfrm>
            <a:off x="548640" y="2377440"/>
            <a:ext cx="5440680" cy="777240"/>
          </a:xfrm>
          <a:prstGeom prst="rect">
            <a:avLst/>
          </a:prstGeom>
          <a:solidFill>
            <a:srgbClr val="1F2A36"/>
          </a:solidFill>
          <a:ln w="9525">
            <a:solidFill>
              <a:srgbClr val="1F2A36"/>
            </a:solidFill>
            <a:prstDash val="solid"/>
          </a:ln>
        </p:spPr>
      </p:sp>
      <p:sp>
        <p:nvSpPr>
          <p:cNvPr id="7"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GX7 로더 사용 금지는 왜였고, 언제 풀렸나?</a:t>
            </a:r>
            <a:endParaRPr lang="en-US" sz="1800" dirty="0"/>
          </a:p>
        </p:txBody>
      </p:sp>
      <p:sp>
        <p:nvSpPr>
          <p:cNvPr id="8"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9"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 실린더 이상 → 사용 금지</a:t>
            </a:r>
            <a:endParaRPr lang="en-US" sz="1700" dirty="0"/>
          </a:p>
          <a:p>
            <a:pPr marL="342900" indent="-342900">
              <a:spcAft>
                <a:spcPts val="800"/>
              </a:spcAft>
              <a:buSzPct val="100000"/>
              <a:buChar char="•"/>
            </a:pPr>
            <a:r>
              <a:rPr lang="en-US" sz="1700" dirty="0">
                <a:solidFill>
                  <a:srgbClr val="2C3E50"/>
                </a:solidFill>
              </a:rPr>
              <a:t>08-14 발주 → 10-12 교체 → 10-13 해제</a:t>
            </a:r>
            <a:endParaRPr lang="en-US" sz="1700" dirty="0"/>
          </a:p>
          <a:p>
            <a:pPr marL="342900" indent="-342900">
              <a:spcAft>
                <a:spcPts val="800"/>
              </a:spcAft>
              <a:buSzPct val="100000"/>
              <a:buChar char="•"/>
            </a:pPr>
            <a:r>
              <a:rPr lang="en-US" sz="1700" dirty="0">
                <a:solidFill>
                  <a:srgbClr val="2C3E50"/>
                </a:solidFill>
              </a:rPr>
              <a:t>고장 원인 — 「확인 필요」 (기록 없음)</a:t>
            </a:r>
            <a:endParaRPr lang="en-US" sz="1700" dirty="0"/>
          </a:p>
        </p:txBody>
      </p:sp>
      <p:sp>
        <p:nvSpPr>
          <p:cNvPr id="10"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수리 이력 페이지</a:t>
            </a:r>
            <a:endParaRPr lang="en-US" sz="1200" dirty="0"/>
          </a:p>
        </p:txBody>
      </p:sp>
      <p:sp>
        <p:nvSpPr>
          <p:cNvPr id="11"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300" b="1" dirty="0">
                <a:solidFill>
                  <a:srgbClr val="FFFFFF"/>
                </a:solidFill>
              </a:rPr>
              <a:t>연삭 조건</a:t>
            </a:r>
            <a:endParaRPr lang="en-US" sz="1300" dirty="0"/>
          </a:p>
        </p:txBody>
      </p:sp>
      <p:sp>
        <p:nvSpPr>
          <p:cNvPr id="12"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3"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Q.  Ø125 휠, 원주속도 19 m/s 면 RPM 은?</a:t>
            </a:r>
            <a:endParaRPr lang="en-US" sz="1800" dirty="0"/>
          </a:p>
        </p:txBody>
      </p:sp>
      <p:sp>
        <p:nvSpPr>
          <p:cNvPr id="14"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5"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사내 운용 상한 25 m/s = 3,820 rpm</a:t>
            </a:r>
            <a:endParaRPr lang="en-US" sz="1700" dirty="0"/>
          </a:p>
        </p:txBody>
      </p:sp>
      <p:sp>
        <p:nvSpPr>
          <p:cNvPr id="16"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200" dirty="0">
                <a:solidFill>
                  <a:srgbClr val="6B7A88"/>
                </a:solidFill>
              </a:rPr>
              <a:t>근거: 휠 기준 페이지 · Norton 카탈로그</a:t>
            </a:r>
            <a:endParaRPr lang="en-US" sz="1200" dirty="0"/>
          </a:p>
        </p:txBody>
      </p:sp>
      <p:sp>
        <p:nvSpPr>
          <p:cNvPr id="17"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18"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조건은 참고값 — ANCA 공구 설계 프로그램(iGrind) 입력 전 계산·검산까지만 쓰고, 확정은 현장 테스트로 합니다</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실제 질의 화면 캡처로 교체 예정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04  업무 적용 전후 비교  |  필수 ③</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적용 전후 비교</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반복 집계는 자동으로 바뀌었고, 판단 근거가 기록으로 남기 시작했습니다</a:t>
            </a:r>
            <a:endParaRPr lang="en-US" sz="2000" dirty="0"/>
          </a:p>
        </p:txBody>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약 15분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 월 약 5시간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decisions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 사진 ·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 + 올해 5)</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투입 목록 효과는 도입 2주·추석·장비 수리가 섞여 판단 보류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운영하며 확인한 한계와 대응</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자동화는 만드는 것보다 유지가 더 들었고, 그래서 성적표로 효과를 재고 정리했습니다</a:t>
            </a:r>
            <a:endParaRPr lang="en-US" sz="2000" dirty="0"/>
          </a:p>
        </p:txBody>
      </p:sp>
      <p:graphicFrame>
        <p:nvGraphicFramePr>
          <p:cNvPr id="12" name="lim-table"/>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2103120"/>
                <a:gridCol w="4572000"/>
                <a:gridCol w="43891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없는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알림 메일 48통 전부 미열람 등 효과 없는 4건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10-07 중단 — 만든 것도 쓰이지 않으면 끈다</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조용한 실패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「정상 완료」로 기록됐으나 산출물이 없던 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종료 코드 대신 산출물 존재로 정상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수치 신뢰성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AI 계산·인용이 실제와 다를 수 있음 (표준 인용 정정 19문서)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출처·신뢰도 4단계 표기, 현장 검증 후 적용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21792">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1인 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만들고 고치는 사람이 1명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0E7C86"/>
                          </a:solidFill>
                          <a:latin typeface="맑은 고딕" pitchFamily="34" charset="0"/>
                          <a:ea typeface="맑은 고딕" pitchFamily="34" charset="-122"/>
                          <a:cs typeface="맑은 고딕" pitchFamily="34" charset="-120"/>
                        </a:rPr>
                        <a:t>작업 기록·결정 근거를 문서로 남겨 인수 가능하게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cost-pct"/>
          <p:cNvSpPr txBox="1"/>
          <p:nvPr/>
        </p:nvSpPr>
        <p:spPr>
          <a:xfrm>
            <a:off x="548640" y="192024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7" name="cost-h"/>
          <p:cNvSpPr txBox="1"/>
          <p:nvPr/>
        </p:nvSpPr>
        <p:spPr>
          <a:xfrm>
            <a:off x="2286000" y="1920240"/>
            <a:ext cx="5943600" cy="365760"/>
          </a:xfrm>
          <a:prstGeom prst="rect">
            <a:avLst/>
          </a:prstGeom>
          <a:noFill/>
          <a:ln/>
        </p:spPr>
        <p:txBody>
          <a:bodyPr wrap="square" lIns="0" tIns="0" rIns="0" bIns="0" rtlCol="0" anchor="ctr"/>
          <a:lstStyle/>
          <a:p>
            <a:pPr indent="0" marL="0">
              <a:buNone/>
            </a:pPr>
            <a:r>
              <a:rPr lang="en-US" sz="1600" b="1" dirty="0">
                <a:solidFill>
                  <a:srgbClr val="1F2A36"/>
                </a:solidFill>
              </a:rPr>
              <a:t>유지 비용 — 4주간 결정 84건 중 30건이 자동화 수리·운영</a:t>
            </a:r>
            <a:endParaRPr lang="en-US" sz="1600" dirty="0"/>
          </a:p>
        </p:txBody>
      </p:sp>
      <p:graphicFrame>
        <p:nvGraphicFramePr>
          <p:cNvPr id="8" name="cost-chart" descr=""/>
          <p:cNvGraphicFramePr/>
          <p:nvPr/>
        </p:nvGraphicFramePr>
        <p:xfrm>
          <a:off x="2194560" y="224028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자동화 효과 지표 1차 판정(10-07) · 중간보고(09-14)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400" b="1" dirty="0">
                <a:solidFill>
                  <a:schemeClr val="accent1"/>
                </a:solidFill>
              </a:rPr>
              <a:t>05  한계와 향후 과제</a:t>
            </a:r>
            <a:endParaRPr lang="en-US" sz="1400" dirty="0"/>
          </a:p>
        </p:txBody>
      </p:sp>
      <p:sp>
        <p:nvSpPr>
          <p:cNvPr id="3" name="Text 0"/>
          <p:cNvSpPr/>
          <p:nvPr>
            <p:ph idx="101" type="title" hasCustomPrompt="1"/>
          </p:nvPr>
        </p:nvSpPr>
        <p:spPr>
          <a:xfrm>
            <a:off x="548640" y="640080"/>
            <a:ext cx="11064240" cy="640080"/>
          </a:xfrm>
          <a:prstGeom prst="rect">
            <a:avLst/>
          </a:prstGeom>
          <a:noFill/>
          <a:ln/>
        </p:spPr>
        <p:txBody>
          <a:bodyPr wrap="square" lIns="0" tIns="0" rIns="0" bIns="0" rtlCol="0" anchor="ctr"/>
          <a:lstStyle/>
          <a:p>
            <a:pPr algn="l" indent="0" marL="0">
              <a:buNone/>
            </a:pPr>
            <a:r>
              <a:rPr lang="en-US" sz="3600" b="1" dirty="0">
                <a:solidFill>
                  <a:schemeClr val="tx1"/>
                </a:solidFill>
              </a:rPr>
              <a:t>향후 과제</a:t>
            </a: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dirty="0">
                <a:solidFill>
                  <a:schemeClr val="tx2"/>
                </a:solidFill>
              </a:rPr>
              <a:t>새 기능을 늘리기보다, 지금 돌아가는 것의 효과를 확인하고 넓힙니다</a:t>
            </a:r>
            <a:endParaRPr lang="en-US" sz="2000" dirty="0"/>
          </a:p>
        </p:txBody>
      </p:sp>
      <p:graphicFrame>
        <p:nvGraphicFramePr>
          <p:cNvPr id="13" name="plan-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377440"/>
                <a:gridCol w="6400800"/>
                <a:gridCol w="228600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과제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시기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효과 재판정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자동화 성적표 2차 판정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11-04</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투입 목록 효과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운영 데이터 누적 후 셋업당 개수 재측정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데이터 누적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ERP 실적 연동</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상태코드 해석 → 생산 실적 지표로 전환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명칭표 확보 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40080">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도면 작성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무료 2D CAD 연결 — 말로 도면 초안 (시험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0E7C86"/>
                          </a:solidFill>
                          <a:latin typeface="맑은 고딕" pitchFamily="34" charset="0"/>
                          <a:ea typeface="맑은 고딕" pitchFamily="34" charset="-122"/>
                          <a:cs typeface="맑은 고딕" pitchFamily="34" charset="-120"/>
                        </a:rPr>
                        <a:t>시험 단계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6" name="close"/>
          <p:cNvSpPr/>
          <p:nvPr/>
        </p:nvSpPr>
        <p:spPr>
          <a:xfrm>
            <a:off x="548640" y="5166360"/>
            <a:ext cx="11064240" cy="914400"/>
          </a:xfrm>
          <a:prstGeom prst="rect">
            <a:avLst/>
          </a:prstGeom>
          <a:solidFill>
            <a:srgbClr val="1F2A36"/>
          </a:solidFill>
          <a:ln w="9525">
            <a:solidFill>
              <a:srgbClr val="1F2A36"/>
            </a:solidFill>
            <a:prstDash val="solid"/>
          </a:ln>
        </p:spPr>
      </p:sp>
      <p:sp>
        <p:nvSpPr>
          <p:cNvPr id="7" name="close-t"/>
          <p:cNvSpPr txBox="1"/>
          <p:nvPr/>
        </p:nvSpPr>
        <p:spPr>
          <a:xfrm>
            <a:off x="822960" y="5166360"/>
            <a:ext cx="10515600" cy="914400"/>
          </a:xfrm>
          <a:prstGeom prst="rect">
            <a:avLst/>
          </a:prstGeom>
          <a:noFill/>
          <a:ln/>
        </p:spPr>
        <p:txBody>
          <a:bodyPr wrap="square" lIns="0" tIns="0" rIns="0" bIns="0" rtlCol="0" anchor="ctr"/>
          <a:lstStyle/>
          <a:p>
            <a:pPr indent="0" marL="0">
              <a:buNone/>
            </a:pPr>
            <a:r>
              <a:rPr lang="en-US" sz="2000" b="1" dirty="0">
                <a:solidFill>
                  <a:srgbClr val="FFFFFF"/>
                </a:solidFill>
              </a:rPr>
              <a:t>AI 는 답을 대신 주는 도구가 아니라, 현장 기록을 쌓고 검증하는 협업자입니다</a:t>
            </a:r>
            <a:endParaRPr lang="en-US" sz="2000" dirty="0"/>
          </a:p>
        </p:txBody>
      </p:sp>
      <p:sp>
        <p:nvSpPr>
          <p:cNvPr id="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100" dirty="0">
                <a:solidFill>
                  <a:srgbClr val="6B7A88"/>
                </a:solidFill>
              </a:rPr>
              <a:t>다른 팀 적용 가능: 엑셀 보고 집계 · 자료 정리 · 문서 조사  |  자료 기준일 2026-10-16</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2026-10-16T07:25:35Z</dcterms:created>
  <dcterms:modified xsi:type="dcterms:W3CDTF">2026-10-16T07:25:35Z</dcterms:modified>
</cp:coreProperties>
</file>