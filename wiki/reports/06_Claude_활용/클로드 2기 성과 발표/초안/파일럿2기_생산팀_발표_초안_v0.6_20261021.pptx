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64a6d1c6-767f-e4b0-2529-fd5addfc1ee7}">
          <p14:sldIdLst>
            <p14:sldId id="256"/>
            <p14:sldId id="257"/>
          </p14:sldIdLst>
        </p14:section>
        <p14:section name="01 추진 배경" id="{f789eb26-c10a-8403-2fb5-c682f4bd6c0a}">
          <p14:sldIdLst>
            <p14:sldId id="258"/>
          </p14:sldIdLst>
        </p14:section>
        <p14:section name="02 활용 현황" id="{bf737200-cf15-562d-4f35-8feca7d4e2b8}">
          <p14:sldIdLst>
            <p14:sldId id="259"/>
            <p14:sldId id="260"/>
            <p14:sldId id="261"/>
            <p14:sldId id="262"/>
          </p14:sldIdLst>
        </p14:section>
        <p14:section name="03 자동화 시스템" id="{0ec33aa6-64de-c538-94b1-282afbc47cb4}">
          <p14:sldIdLst>
            <p14:sldId id="263"/>
            <p14:sldId id="264"/>
            <p14:sldId id="265"/>
          </p14:sldIdLst>
        </p14:section>
        <p14:section name="04 전후 비교" id="{4aa34558-037b-8643-b5e4-d3cc04dba4db}">
          <p14:sldIdLst>
            <p14:sldId id="266"/>
          </p14:sldIdLst>
        </p14:section>
        <p14:section name="05 한계와 과제" id="{87b0ba6a-67db-1bdf-6a92-35c283192fb8}">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먼저 제조사 롱넥 제품 31종의 치수에서 넥 지름 기준을 거꾸로 구했고, 계산기와 기록표를 만든 뒤 장비 PC와 사무 PC를 하나의 프로젝트로 묶어 시험했습니다.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CAD 도면 보조는 시험 중이고, 넥 원통연삭은 세 번째 시험 뒤 다른 품목에 넓히겠습니다.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3항목(①②③)은 02 ~ 04장</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활용 영역, 활용 사례,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실행 화면,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대응,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도입 전에는 자료가 다섯 곳에 흩어져 있었고, 집계와 판단은 매일 손으로 했음</a:t>
            </a:r>
            <a:endParaRPr lang="en-US" sz="3600" dirty="0"/>
          </a:p>
        </p:txBody>
      </p:sp>
      <p:sp>
        <p:nvSpPr>
          <p:cNvPr id="4"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손으로 입력)</a:t>
            </a:r>
            <a:endParaRPr lang="en-US" sz="1300" dirty="0"/>
          </a:p>
        </p:txBody>
      </p:sp>
      <p:pic>
        <p:nvPicPr>
          <p:cNvPr id="5"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6" name="src0-frame"/>
          <p:cNvSpPr/>
          <p:nvPr/>
        </p:nvSpPr>
        <p:spPr>
          <a:xfrm>
            <a:off x="548640" y="2286000"/>
            <a:ext cx="4572000" cy="1569386"/>
          </a:xfrm>
          <a:prstGeom prst="rect">
            <a:avLst/>
          </a:prstGeom>
          <a:ln w="9525">
            <a:solidFill>
              <a:srgbClr val="D9E2EC"/>
            </a:solidFill>
            <a:prstDash val="solid"/>
          </a:ln>
        </p:spPr>
      </p:sp>
      <p:sp>
        <p:nvSpPr>
          <p:cNvPr id="7"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 이력이 문서마다 따로)</a:t>
            </a:r>
            <a:endParaRPr lang="en-US" sz="1300" dirty="0"/>
          </a:p>
        </p:txBody>
      </p:sp>
      <p:pic>
        <p:nvPicPr>
          <p:cNvPr id="8"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9" name="src1-frame"/>
          <p:cNvSpPr/>
          <p:nvPr/>
        </p:nvSpPr>
        <p:spPr>
          <a:xfrm>
            <a:off x="548640" y="4361688"/>
            <a:ext cx="3474720" cy="1737360"/>
          </a:xfrm>
          <a:prstGeom prst="rect">
            <a:avLst/>
          </a:prstGeom>
          <a:ln w="9525">
            <a:solidFill>
              <a:srgbClr val="D9E2EC"/>
            </a:solidFill>
            <a:prstDash val="solid"/>
          </a:ln>
        </p:spPr>
      </p:sp>
      <p:sp>
        <p:nvSpPr>
          <p:cNvPr id="10"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1"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2"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(ERP, 엑셀 2종, PDF, 개인 노하우)</a:t>
            </a:r>
            <a:endParaRPr lang="en-US" sz="1700" dirty="0"/>
          </a:p>
          <a:p>
            <a:pPr marL="342900" indent="-342900">
              <a:spcAft>
                <a:spcPts val="600"/>
              </a:spcAft>
              <a:buSzPct val="100000"/>
              <a:buChar char="•"/>
            </a:pPr>
            <a:r>
              <a:rPr lang="en-US" sz="1700" dirty="0">
                <a:solidFill>
                  <a:srgbClr val="2C3E50"/>
                </a:solidFill>
              </a:rPr>
              <a:t>일일보고 집계와 투입 판단을 매일 수작업</a:t>
            </a:r>
            <a:endParaRPr lang="en-US" sz="1700" dirty="0"/>
          </a:p>
          <a:p>
            <a:pPr marL="342900" indent="-342900">
              <a:spcAft>
                <a:spcPts val="600"/>
              </a:spcAft>
              <a:buSzPct val="100000"/>
              <a:buChar char="•"/>
            </a:pPr>
            <a:r>
              <a:rPr lang="en-US" sz="1700" dirty="0">
                <a:solidFill>
                  <a:srgbClr val="2C3E50"/>
                </a:solidFill>
              </a:rPr>
              <a:t>조건과 고장 처리의 근거가 기록으로 남지 않음</a:t>
            </a:r>
            <a:endParaRPr lang="en-US" sz="1700" dirty="0"/>
          </a:p>
        </p:txBody>
      </p:sp>
      <p:sp>
        <p:nvSpPr>
          <p:cNvPr id="13"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4"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5"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6"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 한곳에 기록</a:t>
            </a:r>
            <a:endParaRPr lang="en-US" sz="1700" dirty="0"/>
          </a:p>
          <a:p>
            <a:pPr marL="342900" indent="-342900">
              <a:spcAft>
                <a:spcPts val="400"/>
              </a:spcAft>
              <a:buSzPct val="100000"/>
              <a:buChar char="•"/>
            </a:pPr>
            <a:r>
              <a:rPr lang="en-US" sz="1700" dirty="0">
                <a:solidFill>
                  <a:srgbClr val="2C3E50"/>
                </a:solidFill>
              </a:rPr>
              <a:t>반복 업무는 업무 PC 예약 실행으로 자동화</a:t>
            </a:r>
            <a:endParaRPr lang="en-US" sz="1700" dirty="0"/>
          </a:p>
          <a:p>
            <a:pPr marL="342900" indent="-342900">
              <a:spcAft>
                <a:spcPts val="400"/>
              </a:spcAft>
              <a:buSzPct val="100000"/>
              <a:buChar char="•"/>
            </a:pPr>
            <a:r>
              <a:rPr lang="en-US" sz="1700" dirty="0">
                <a:solidFill>
                  <a:srgbClr val="2C3E50"/>
                </a:solidFill>
              </a:rPr>
              <a:t>판단 근거 보존 (기존 값은 지우지 않고 이력으로)</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2대(ANCA FastGrind, ANCA GX7)  |  자료 기준일 2026-10-19</a:t>
            </a:r>
            <a:endParaRPr lang="en-US" sz="12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생산팀 계정 1개로 위키 138쪽과 결정 기록 약 300건을 쌓았음</a:t>
            </a:r>
            <a:endParaRPr lang="en-US" sz="3600" dirty="0"/>
          </a:p>
        </p:txBody>
      </p:sp>
      <p:sp>
        <p:nvSpPr>
          <p:cNvPr id="4" name="kpi0"/>
          <p:cNvSpPr/>
          <p:nvPr/>
        </p:nvSpPr>
        <p:spPr>
          <a:xfrm>
            <a:off x="548640" y="2011680"/>
            <a:ext cx="5440680" cy="1828800"/>
          </a:xfrm>
          <a:prstGeom prst="rect">
            <a:avLst/>
          </a:prstGeom>
          <a:solidFill>
            <a:srgbClr val="F4F6F8"/>
          </a:solidFill>
          <a:ln w="9525">
            <a:solidFill>
              <a:srgbClr val="D9E2EC"/>
            </a:solidFill>
            <a:prstDash val="solid"/>
          </a:ln>
        </p:spPr>
      </p:sp>
      <p:sp>
        <p:nvSpPr>
          <p:cNvPr id="5" name="kpi0-n"/>
          <p:cNvSpPr txBox="1"/>
          <p:nvPr/>
        </p:nvSpPr>
        <p:spPr>
          <a:xfrm>
            <a:off x="82296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138</a:t>
            </a:r>
            <a:pPr indent="0" marL="0">
              <a:buNone/>
            </a:pPr>
            <a:r>
              <a:rPr lang="en-US" sz="2200" b="1" dirty="0">
                <a:solidFill>
                  <a:srgbClr val="1F2A36"/>
                </a:solidFill>
              </a:rPr>
              <a:t> 쪽</a:t>
            </a:r>
            <a:endParaRPr lang="en-US" sz="5000" dirty="0"/>
          </a:p>
        </p:txBody>
      </p:sp>
      <p:sp>
        <p:nvSpPr>
          <p:cNvPr id="6" name="kpi0-l"/>
          <p:cNvSpPr txBox="1"/>
          <p:nvPr/>
        </p:nvSpPr>
        <p:spPr>
          <a:xfrm>
            <a:off x="384048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지식 위키</a:t>
            </a:r>
            <a:endParaRPr lang="en-US" sz="2200" dirty="0"/>
          </a:p>
          <a:p>
            <a:pPr indent="0" marL="0">
              <a:buNone/>
            </a:pPr>
            <a:r>
              <a:rPr lang="en-US" sz="1700" dirty="0">
                <a:solidFill>
                  <a:srgbClr val="6B7A88"/>
                </a:solidFill>
              </a:rPr>
              <a:t>장비, 휠, 연삭 조건, 수리 이력</a:t>
            </a:r>
            <a:endParaRPr lang="en-US" sz="2200" dirty="0"/>
          </a:p>
        </p:txBody>
      </p:sp>
      <p:sp>
        <p:nvSpPr>
          <p:cNvPr id="7" name="kpi1"/>
          <p:cNvSpPr/>
          <p:nvPr/>
        </p:nvSpPr>
        <p:spPr>
          <a:xfrm>
            <a:off x="6172200" y="2011680"/>
            <a:ext cx="5440680" cy="1828800"/>
          </a:xfrm>
          <a:prstGeom prst="rect">
            <a:avLst/>
          </a:prstGeom>
          <a:solidFill>
            <a:srgbClr val="F4F6F8"/>
          </a:solidFill>
          <a:ln w="9525">
            <a:solidFill>
              <a:srgbClr val="D9E2EC"/>
            </a:solidFill>
            <a:prstDash val="solid"/>
          </a:ln>
        </p:spPr>
      </p:sp>
      <p:sp>
        <p:nvSpPr>
          <p:cNvPr id="8" name="kpi1-n"/>
          <p:cNvSpPr txBox="1"/>
          <p:nvPr/>
        </p:nvSpPr>
        <p:spPr>
          <a:xfrm>
            <a:off x="644652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약 300</a:t>
            </a:r>
            <a:pPr indent="0" marL="0">
              <a:buNone/>
            </a:pPr>
            <a:r>
              <a:rPr lang="en-US" sz="2200" b="1" dirty="0">
                <a:solidFill>
                  <a:srgbClr val="1F2A36"/>
                </a:solidFill>
              </a:rPr>
              <a:t> 건</a:t>
            </a:r>
            <a:endParaRPr lang="en-US" sz="5000" dirty="0"/>
          </a:p>
        </p:txBody>
      </p:sp>
      <p:sp>
        <p:nvSpPr>
          <p:cNvPr id="9" name="kpi1-l"/>
          <p:cNvSpPr txBox="1"/>
          <p:nvPr/>
        </p:nvSpPr>
        <p:spPr>
          <a:xfrm>
            <a:off x="946404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결정 기록</a:t>
            </a:r>
            <a:endParaRPr lang="en-US" sz="2200" dirty="0"/>
          </a:p>
          <a:p>
            <a:pPr indent="0" marL="0">
              <a:buNone/>
            </a:pPr>
            <a:r>
              <a:rPr lang="en-US" sz="1700" dirty="0">
                <a:solidFill>
                  <a:srgbClr val="6B7A88"/>
                </a:solidFill>
              </a:rPr>
              <a:t>결정마다 근거, 검토한 대안, 영향</a:t>
            </a:r>
            <a:endParaRPr lang="en-US" sz="2200" dirty="0"/>
          </a:p>
        </p:txBody>
      </p:sp>
      <p:sp>
        <p:nvSpPr>
          <p:cNvPr id="10" name="kpi-etc"/>
          <p:cNvSpPr txBox="1"/>
          <p:nvPr/>
        </p:nvSpPr>
        <p:spPr>
          <a:xfrm>
            <a:off x="548640" y="4023360"/>
            <a:ext cx="11064240" cy="411480"/>
          </a:xfrm>
          <a:prstGeom prst="rect">
            <a:avLst/>
          </a:prstGeom>
          <a:noFill/>
          <a:ln/>
        </p:spPr>
        <p:txBody>
          <a:bodyPr wrap="square" lIns="0" tIns="0" rIns="0" bIns="0" rtlCol="0" anchor="ctr"/>
          <a:lstStyle/>
          <a:p>
            <a:pPr indent="0" marL="0">
              <a:buNone/>
            </a:pPr>
            <a:r>
              <a:rPr lang="en-US" sz="1700" dirty="0">
                <a:solidFill>
                  <a:srgbClr val="3A506B"/>
                </a:solidFill>
              </a:rPr>
              <a:t>그 밖에 일일보고 133건, 단가표 대조 10,744건, 자동화 스크립트 55개 (다음 장과 전후 비교 장)</a:t>
            </a:r>
            <a:endParaRPr lang="en-US" sz="1700" dirty="0"/>
          </a:p>
        </p:txBody>
      </p:sp>
      <p:sp>
        <p:nvSpPr>
          <p:cNvPr id="11" name="rule-box"/>
          <p:cNvSpPr/>
          <p:nvPr/>
        </p:nvSpPr>
        <p:spPr>
          <a:xfrm>
            <a:off x="548640" y="4617720"/>
            <a:ext cx="11064240" cy="1554480"/>
          </a:xfrm>
          <a:prstGeom prst="rect">
            <a:avLst/>
          </a:prstGeom>
          <a:solidFill>
            <a:srgbClr val="FFFFFF"/>
          </a:solidFill>
          <a:ln w="9525">
            <a:solidFill>
              <a:srgbClr val="D9E2EC"/>
            </a:solidFill>
            <a:prstDash val="solid"/>
          </a:ln>
        </p:spPr>
      </p:sp>
      <p:sp>
        <p:nvSpPr>
          <p:cNvPr id="12" name="rule-h"/>
          <p:cNvSpPr txBox="1"/>
          <p:nvPr/>
        </p:nvSpPr>
        <p:spPr>
          <a:xfrm>
            <a:off x="777240" y="470916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13" name="rule-t"/>
          <p:cNvSpPr txBox="1"/>
          <p:nvPr/>
        </p:nvSpPr>
        <p:spPr>
          <a:xfrm>
            <a:off x="777240" y="5120640"/>
            <a:ext cx="10607040" cy="10058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AI가 낸 수치와 조건은 참고값, 현장 검증 후 적용</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근거: 위키 자동 집계, 결정 기록, 중간보고(09-14)  |  자료 기준일 2026-10-19</a:t>
            </a:r>
            <a:endParaRPr lang="en-US" sz="1200" dirty="0"/>
          </a:p>
        </p:txBody>
      </p:sp>
      <p:sp>
        <p:nvSpPr>
          <p:cNvPr id="16"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2기에는 현장 판단 보조와 데이터 검수까지 활용 영역을 넓혔음</a:t>
            </a:r>
            <a:endParaRPr lang="en-US" sz="36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정리와 결정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138쪽,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 (6월 중순부터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수주에서 가공 완료분을 빼고 장비별 투입 목록 생성 (납기순,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규칙 보강 8회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진단 후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현장 판단 보조와 데이터 검수는 2기에 새로 시작  |  자료 기준일 2026-10-19</a:t>
            </a:r>
            <a:endParaRPr lang="en-US" sz="1200" dirty="0"/>
          </a:p>
        </p:txBody>
      </p:sp>
      <p:sp>
        <p:nvSpPr>
          <p:cNvPr id="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제조사 자료로 기준을 잡고, 두 번째 시험에서 넥 시작부 자국을 없앴음</a:t>
            </a:r>
            <a:endParaRPr lang="en-US" sz="3600" dirty="0"/>
          </a:p>
        </p:txBody>
      </p:sp>
      <p:sp>
        <p:nvSpPr>
          <p:cNvPr id="3"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4" name="step0-n"/>
          <p:cNvSpPr txBox="1"/>
          <p:nvPr/>
        </p:nvSpPr>
        <p:spPr>
          <a:xfrm>
            <a:off x="685800" y="196596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1</a:t>
            </a:r>
            <a:endParaRPr lang="en-US" sz="2600" dirty="0"/>
          </a:p>
        </p:txBody>
      </p:sp>
      <p:sp>
        <p:nvSpPr>
          <p:cNvPr id="5" name="step0-t"/>
          <p:cNvSpPr txBox="1"/>
          <p:nvPr/>
        </p:nvSpPr>
        <p:spPr>
          <a:xfrm>
            <a:off x="1234440" y="203911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외부 근거로 기준 설정</a:t>
            </a:r>
            <a:endParaRPr lang="en-US" sz="1900" dirty="0"/>
          </a:p>
          <a:p>
            <a:pPr indent="0" marL="0">
              <a:spcAft>
                <a:spcPts val="200"/>
              </a:spcAft>
              <a:buNone/>
            </a:pPr>
            <a:r>
              <a:rPr lang="en-US" sz="1600" dirty="0">
                <a:solidFill>
                  <a:srgbClr val="2C3E50"/>
                </a:solidFill>
              </a:rPr>
              <a:t>제조사 롱넥 31품목 치수에서 dn = 0.96 × D 산출</a:t>
            </a:r>
            <a:endParaRPr lang="en-US" sz="1900" dirty="0"/>
          </a:p>
        </p:txBody>
      </p:sp>
      <p:sp>
        <p:nvSpPr>
          <p:cNvPr id="6"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7" name="step1-n"/>
          <p:cNvSpPr txBox="1"/>
          <p:nvPr/>
        </p:nvSpPr>
        <p:spPr>
          <a:xfrm>
            <a:off x="685800" y="301752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2</a:t>
            </a:r>
            <a:endParaRPr lang="en-US" sz="2600" dirty="0"/>
          </a:p>
        </p:txBody>
      </p:sp>
      <p:sp>
        <p:nvSpPr>
          <p:cNvPr id="8" name="step1-t"/>
          <p:cNvSpPr txBox="1"/>
          <p:nvPr/>
        </p:nvSpPr>
        <p:spPr>
          <a:xfrm>
            <a:off x="1234440" y="309067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시험 설계</a:t>
            </a:r>
            <a:endParaRPr lang="en-US" sz="1900" dirty="0"/>
          </a:p>
          <a:p>
            <a:pPr indent="0" marL="0">
              <a:spcAft>
                <a:spcPts val="200"/>
              </a:spcAft>
              <a:buNone/>
            </a:pPr>
            <a:r>
              <a:rPr lang="en-US" sz="1600" dirty="0">
                <a:solidFill>
                  <a:srgbClr val="2C3E50"/>
                </a:solidFill>
              </a:rPr>
              <a:t>입력값 계산기와 시험 기록표 작성</a:t>
            </a:r>
            <a:endParaRPr lang="en-US" sz="1900" dirty="0"/>
          </a:p>
        </p:txBody>
      </p:sp>
      <p:sp>
        <p:nvSpPr>
          <p:cNvPr id="9"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0" name="step2-n"/>
          <p:cNvSpPr txBox="1"/>
          <p:nvPr/>
        </p:nvSpPr>
        <p:spPr>
          <a:xfrm>
            <a:off x="685800" y="406908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3</a:t>
            </a:r>
            <a:endParaRPr lang="en-US" sz="2600" dirty="0"/>
          </a:p>
        </p:txBody>
      </p:sp>
      <p:sp>
        <p:nvSpPr>
          <p:cNvPr id="11" name="step2-t"/>
          <p:cNvSpPr txBox="1"/>
          <p:nvPr/>
        </p:nvSpPr>
        <p:spPr>
          <a:xfrm>
            <a:off x="1234440" y="414223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현장 시험</a:t>
            </a:r>
            <a:endParaRPr lang="en-US" sz="1900" dirty="0"/>
          </a:p>
          <a:p>
            <a:pPr indent="0" marL="0">
              <a:spcAft>
                <a:spcPts val="200"/>
              </a:spcAft>
              <a:buNone/>
            </a:pPr>
            <a:r>
              <a:rPr lang="en-US" sz="1600" dirty="0">
                <a:solidFill>
                  <a:srgbClr val="2C3E50"/>
                </a:solidFill>
              </a:rPr>
              <a:t>장비 PC와 사무 PC를 한 프로젝트로 연결, 공구 2개 5회</a:t>
            </a:r>
            <a:endParaRPr lang="en-US" sz="1900" dirty="0"/>
          </a:p>
        </p:txBody>
      </p:sp>
      <p:sp>
        <p:nvSpPr>
          <p:cNvPr id="12"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3" name="step3-n"/>
          <p:cNvSpPr txBox="1"/>
          <p:nvPr/>
        </p:nvSpPr>
        <p:spPr>
          <a:xfrm>
            <a:off x="685800" y="5120640"/>
            <a:ext cx="502920" cy="914400"/>
          </a:xfrm>
          <a:prstGeom prst="rect">
            <a:avLst/>
          </a:prstGeom>
          <a:noFill/>
          <a:ln/>
        </p:spPr>
        <p:txBody>
          <a:bodyPr wrap="square" lIns="0" tIns="0" rIns="0" bIns="0" rtlCol="0" anchor="ctr"/>
          <a:lstStyle/>
          <a:p>
            <a:pPr indent="0" marL="0">
              <a:buNone/>
            </a:pPr>
            <a:r>
              <a:rPr lang="en-US" sz="2600" b="1" dirty="0">
                <a:solidFill>
                  <a:srgbClr val="0E7C86"/>
                </a:solidFill>
              </a:rPr>
              <a:t>4</a:t>
            </a:r>
            <a:endParaRPr lang="en-US" sz="2600" dirty="0"/>
          </a:p>
        </p:txBody>
      </p:sp>
      <p:sp>
        <p:nvSpPr>
          <p:cNvPr id="14" name="step3-t"/>
          <p:cNvSpPr txBox="1"/>
          <p:nvPr/>
        </p:nvSpPr>
        <p:spPr>
          <a:xfrm>
            <a:off x="1234440" y="5193792"/>
            <a:ext cx="4343400" cy="786384"/>
          </a:xfrm>
          <a:prstGeom prst="rect">
            <a:avLst/>
          </a:prstGeom>
          <a:noFill/>
          <a:ln/>
        </p:spPr>
        <p:txBody>
          <a:bodyPr wrap="square" lIns="0" tIns="0" rIns="0" bIns="0" rtlCol="0" anchor="ctr"/>
          <a:lstStyle/>
          <a:p>
            <a:pPr indent="0" marL="0">
              <a:spcAft>
                <a:spcPts val="200"/>
              </a:spcAft>
              <a:buNone/>
            </a:pPr>
            <a:r>
              <a:rPr lang="en-US" sz="1900" b="1" dirty="0">
                <a:solidFill>
                  <a:srgbClr val="1F2A36"/>
                </a:solidFill>
              </a:rPr>
              <a:t>원인 확인과 보고</a:t>
            </a:r>
            <a:endParaRPr lang="en-US" sz="1900" dirty="0"/>
          </a:p>
          <a:p>
            <a:pPr indent="0" marL="0">
              <a:spcAft>
                <a:spcPts val="200"/>
              </a:spcAft>
              <a:buNone/>
            </a:pPr>
            <a:r>
              <a:rPr lang="en-US" sz="1600" dirty="0">
                <a:solidFill>
                  <a:srgbClr val="2C3E50"/>
                </a:solidFill>
              </a:rPr>
              <a:t>매뉴얼 원문으로 원인 확인, 결과 보고서 12쪽</a:t>
            </a:r>
            <a:endParaRPr lang="en-US" sz="1900" dirty="0"/>
          </a:p>
        </p:txBody>
      </p:sp>
      <p:sp>
        <p:nvSpPr>
          <p:cNvPr id="15"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16"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17" name="case-fig-frame"/>
          <p:cNvSpPr/>
          <p:nvPr/>
        </p:nvSpPr>
        <p:spPr>
          <a:xfrm>
            <a:off x="5943600" y="2286000"/>
            <a:ext cx="5669280" cy="2834640"/>
          </a:xfrm>
          <a:prstGeom prst="rect">
            <a:avLst/>
          </a:prstGeom>
          <a:ln w="9525">
            <a:solidFill>
              <a:srgbClr val="D9E2EC"/>
            </a:solidFill>
            <a:prstDash val="solid"/>
          </a:ln>
        </p:spPr>
      </p:sp>
      <p:graphicFrame>
        <p:nvGraphicFramePr>
          <p:cNvPr id="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2"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6월 18일부터 일일보고가 영업일마다 빠짐없이 자동 생성되고 있음</a:t>
            </a:r>
            <a:endParaRPr lang="en-US" sz="3600" dirty="0"/>
          </a:p>
        </p:txBody>
      </p:sp>
      <p:graphicFrame>
        <p:nvGraphicFramePr>
          <p:cNvPr id="3"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4"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5"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6"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(4 ~ 6월)</a:t>
            </a:r>
            <a:endParaRPr lang="en-US" sz="1400" dirty="0"/>
          </a:p>
        </p:txBody>
      </p:sp>
      <p:sp>
        <p:nvSpPr>
          <p:cNvPr id="7"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일일보고 자동화</a:t>
            </a:r>
            <a:endParaRPr lang="en-US" sz="1500" dirty="0"/>
          </a:p>
        </p:txBody>
      </p:sp>
      <p:sp>
        <p:nvSpPr>
          <p:cNvPr id="8"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9"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보고서 양식</a:t>
            </a:r>
            <a:endParaRPr lang="en-US" sz="1500" dirty="0"/>
          </a:p>
        </p:txBody>
      </p:sp>
      <p:sp>
        <p:nvSpPr>
          <p:cNvPr id="10"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1"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GX7 로더 고장 대응</a:t>
            </a:r>
            <a:endParaRPr lang="en-US" sz="1500" dirty="0"/>
          </a:p>
        </p:txBody>
      </p:sp>
      <p:sp>
        <p:nvSpPr>
          <p:cNvPr id="12"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3"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투입 목록 가동</a:t>
            </a:r>
            <a:endParaRPr lang="en-US" sz="1500" dirty="0"/>
          </a:p>
        </p:txBody>
      </p:sp>
      <p:sp>
        <p:nvSpPr>
          <p:cNvPr id="14"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5"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넥 원통연삭 시험</a:t>
            </a:r>
            <a:endParaRPr lang="en-US" sz="15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소개와 시연  |  필수 ②</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기존 엑셀과 ERP를 그대로 읽어 업무 PC가 정해진 시각에 결과물을 만듦</a:t>
            </a:r>
            <a:endParaRPr lang="en-US" sz="3600" dirty="0"/>
          </a:p>
        </p:txBody>
      </p:sp>
      <p:sp>
        <p:nvSpPr>
          <p:cNvPr id="4"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5"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(기존 자료)</a:t>
            </a:r>
            <a:endParaRPr lang="en-US" sz="1700" dirty="0"/>
          </a:p>
        </p:txBody>
      </p:sp>
      <p:sp>
        <p:nvSpPr>
          <p:cNvPr id="6"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7"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8"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9"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0"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1"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2"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3"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(업무 PC)</a:t>
            </a:r>
            <a:endParaRPr lang="en-US" sz="1700" dirty="0"/>
          </a:p>
        </p:txBody>
      </p:sp>
      <p:sp>
        <p:nvSpPr>
          <p:cNvPr id="14"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5"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16"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7"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(집계, 대조, 배정)</a:t>
            </a:r>
            <a:endParaRPr lang="en-US" sz="1700" dirty="0"/>
          </a:p>
        </p:txBody>
      </p:sp>
      <p:sp>
        <p:nvSpPr>
          <p:cNvPr id="18"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19"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(스크립트 작성, 점검, 기록)</a:t>
            </a:r>
            <a:endParaRPr lang="en-US" sz="1700" dirty="0"/>
          </a:p>
        </p:txBody>
      </p:sp>
      <p:sp>
        <p:nvSpPr>
          <p:cNvPr id="20"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1"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(결과물)</a:t>
            </a:r>
            <a:endParaRPr lang="en-US" sz="1700" dirty="0"/>
          </a:p>
        </p:txBody>
      </p:sp>
      <p:sp>
        <p:nvSpPr>
          <p:cNvPr id="22"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3"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4"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5"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6"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7"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8"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29"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결정 기록</a:t>
            </a:r>
            <a:endParaRPr lang="en-US" sz="1700" dirty="0"/>
          </a:p>
        </p:txBody>
      </p:sp>
      <p:sp>
        <p:nvSpPr>
          <p:cNvPr id="30"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1"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새 시스템 없이 기존 엑셀과 ERP를 그대로 읽는 방식  |  자료 기준일 2026-10-19</a:t>
            </a:r>
            <a:endParaRPr lang="en-US" sz="1200" dirty="0"/>
          </a:p>
        </p:txBody>
      </p:sp>
      <p:sp>
        <p:nvSpPr>
          <p:cNvPr id="3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출근하면 일일보고, 현황판, 투입 목록이 이미 만들어져 있음</a:t>
            </a:r>
            <a:endParaRPr lang="en-US" sz="3600" dirty="0"/>
          </a:p>
        </p:txBody>
      </p:sp>
      <p:sp>
        <p:nvSpPr>
          <p:cNvPr id="3"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4"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5"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6"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7"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8"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9"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0"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1"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FG, GX7 배정, 납기순, 형상 묶음</a:t>
            </a:r>
            <a:endParaRPr lang="en-US" sz="1700" dirty="0"/>
          </a:p>
        </p:txBody>
      </p:sp>
      <p:sp>
        <p:nvSpPr>
          <p:cNvPr id="1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14"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5"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쌓아 둔 기록에서 근거와 함께 답하고, 기록에 없는 것은 「확인 필요」로 답함</a:t>
            </a:r>
            <a:endParaRPr lang="en-US" sz="3600" dirty="0"/>
          </a:p>
        </p:txBody>
      </p:sp>
      <p:sp>
        <p:nvSpPr>
          <p:cNvPr id="3"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4" name="qa0-q"/>
          <p:cNvSpPr/>
          <p:nvPr/>
        </p:nvSpPr>
        <p:spPr>
          <a:xfrm>
            <a:off x="548640" y="2377440"/>
            <a:ext cx="5440680" cy="777240"/>
          </a:xfrm>
          <a:prstGeom prst="rect">
            <a:avLst/>
          </a:prstGeom>
          <a:solidFill>
            <a:srgbClr val="1F2A36"/>
          </a:solidFill>
          <a:ln w="9525">
            <a:solidFill>
              <a:srgbClr val="1F2A36"/>
            </a:solidFill>
            <a:prstDash val="solid"/>
          </a:ln>
        </p:spPr>
      </p:sp>
      <p:sp>
        <p:nvSpPr>
          <p:cNvPr id="5"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6"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7"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8"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9"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0"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1"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m/s면 rpm은?</a:t>
            </a:r>
            <a:endParaRPr lang="en-US" sz="1800" dirty="0"/>
          </a:p>
        </p:txBody>
      </p:sp>
      <p:sp>
        <p:nvSpPr>
          <p:cNvPr id="12"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3"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4"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15"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6"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참고값으로만 사용 (iGrind 입력 전 계산과 검산까지, 확정은 현장 테스트)</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 Cowork 실제 질의 답변 요약  |  자료 기준일 2026-10-19</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반복 집계는 자동으로 바뀌었고, 판단 근거가 기록으로 남기 시작했음</a:t>
            </a:r>
            <a:endParaRPr lang="en-US" sz="3600" dirty="0"/>
          </a:p>
        </p:txBody>
      </p:sp>
      <p:graphicFrame>
        <p:nvGraphicFramePr>
          <p:cNvPr id="12"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함,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 효과는 도입 2주, 추석, 장비 수리가 섞여 판단 보류  |  자료 기준일 2026-10-19</a:t>
            </a:r>
            <a:endParaRPr lang="en-US" sz="12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결정의 36%가 자동화 수리에 쓰여, 성적표로 효과를 재고 4건을 껐음</a:t>
            </a:r>
            <a:endParaRPr lang="en-US" sz="3600" dirty="0"/>
          </a:p>
        </p:txBody>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(쓰이지 않으면 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계산과 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출처와 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기록과 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cost-pct"/>
          <p:cNvSpPr txBox="1"/>
          <p:nvPr/>
        </p:nvSpPr>
        <p:spPr>
          <a:xfrm>
            <a:off x="548640" y="192024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6" name="cost-h"/>
          <p:cNvSpPr txBox="1"/>
          <p:nvPr/>
        </p:nvSpPr>
        <p:spPr>
          <a:xfrm>
            <a:off x="2286000" y="1920240"/>
            <a:ext cx="59436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(4주간 결정 84건 중 30건이 자동화 수리와 운영)</a:t>
            </a:r>
            <a:endParaRPr lang="en-US" sz="1600" dirty="0"/>
          </a:p>
        </p:txBody>
      </p:sp>
      <p:graphicFrame>
        <p:nvGraphicFramePr>
          <p:cNvPr id="7" name="cost-chart" descr=""/>
          <p:cNvGraphicFramePr/>
          <p:nvPr/>
        </p:nvGraphicFramePr>
        <p:xfrm>
          <a:off x="2194560" y="224028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자동화 효과 지표 1차 판정(10-07), 중간보고(09-14)  |  자료 기준일 2026-10-19</a:t>
            </a:r>
            <a:endParaRPr lang="en-US" sz="1200" dirty="0"/>
          </a:p>
        </p:txBody>
      </p:sp>
      <p:sp>
        <p:nvSpPr>
          <p:cNvPr id="1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새 기능 추가보다 지금 돌아가는 자동화의 효과 확인이 먼저</a:t>
            </a:r>
            <a:endParaRPr lang="en-US" sz="3600" dirty="0"/>
          </a:p>
        </p:txBody>
      </p:sp>
      <p:graphicFrame>
        <p:nvGraphicFramePr>
          <p:cNvPr id="14"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상태코드를 해석해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CAD를 연결해 말로 도면 초안 작성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가공 조건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넥 원통연삭 테스트 3 후 같은 방식을 다른 품목에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close"/>
          <p:cNvSpPr/>
          <p:nvPr/>
        </p:nvSpPr>
        <p:spPr>
          <a:xfrm>
            <a:off x="548640" y="5440680"/>
            <a:ext cx="11064240" cy="777240"/>
          </a:xfrm>
          <a:prstGeom prst="rect">
            <a:avLst/>
          </a:prstGeom>
          <a:solidFill>
            <a:srgbClr val="1F2A36"/>
          </a:solidFill>
          <a:ln w="9525">
            <a:solidFill>
              <a:srgbClr val="1F2A36"/>
            </a:solidFill>
            <a:prstDash val="solid"/>
          </a:ln>
        </p:spPr>
      </p:sp>
      <p:sp>
        <p:nvSpPr>
          <p:cNvPr id="5" name="close-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000" b="1" dirty="0">
                <a:solidFill>
                  <a:srgbClr val="FFFFFF"/>
                </a:solidFill>
              </a:rPr>
              <a:t>다음 확인: 11월 4일 자동화 성적표 2차 판정, 결과는 사내 위키에 기록</a:t>
            </a:r>
            <a:endParaRPr lang="en-US" sz="2000" dirty="0"/>
          </a:p>
        </p:txBody>
      </p:sp>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 적용 가능: 엑셀 보고 집계, 자료 정리, 문서 조사  |  자료 기준일 2026-10-19</a:t>
            </a:r>
            <a:endParaRPr lang="en-US" sz="1200" dirty="0"/>
          </a:p>
        </p:txBody>
      </p:sp>
      <p:sp>
        <p:nvSpPr>
          <p:cNvPr id="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2026-10-21T07:06:28Z</dcterms:created>
  <dcterms:modified xsi:type="dcterms:W3CDTF">2026-10-21T07:06:28Z</dcterms:modified>
</cp:coreProperties>
</file>