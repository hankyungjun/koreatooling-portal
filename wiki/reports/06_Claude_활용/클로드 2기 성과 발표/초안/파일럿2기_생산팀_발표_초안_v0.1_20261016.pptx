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9ebfe15-15ad-8eb4-0e06-5c28665f0c2d}">
          <p14:sldIdLst>
            <p14:sldId id="256"/>
            <p14:sldId id="257"/>
          </p14:sldIdLst>
        </p14:section>
        <p14:section name="① 활용 현황" id="{2a827389-a74f-588c-ed68-2b3714709870}">
          <p14:sldIdLst>
            <p14:sldId id="258"/>
          </p14:sldIdLst>
        </p14:section>
        <p14:section name="② 자동화·시연" id="{145c2500-6e94-bef1-0c86-687f2b537ba5}">
          <p14:sldIdLst>
            <p14:sldId id="259"/>
            <p14:sldId id="260"/>
          </p14:sldIdLst>
        </p14:section>
        <p14:section name="③ 전후 비교" id="{2fa513ed-12eb-6d99-aa74-21c115cf9da7}">
          <p14:sldIdLst>
            <p14:sldId id="261"/>
            <p14:sldId id="262"/>
          </p14:sldIdLst>
        </p14:section>
        <p14:section name="마무리" id="{5dfc735d-fd30-4487-f6b5-fd15a44a5c0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[0:15] 생산팀 발표입니다. 재연마 현장 일에 Claude 를 붙여 본 지 반년 정도 됐고, 대단한 걸 만든 건 아니지만 매일 쓸 만하다는 걸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생산팀은 재연마를 합니다. 장비는 ANCA 두 대. 수주는 ERP, 생산일지와 출하는 엑셀, 장비 자료는 PDF·사진, 노하우는 사람 머릿속에 흩어져 있었고, 매일 일일보고 집계와 투입 순서 판단을 손으로 했습니다. 하루 15분 이하 정도 — 정식으로 잰 값은 아니고 경험값입니다.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4월부터 쓴 결과입니다. 위키 138페이지, 결정 기록 약 300건 — 이게 제일 쓸모 있습니다. 나중에 '왜 이렇게 했지?'를 찾을 수 있습니다. 자동화 스크립트 55개, 장비 수리 이력 17건 정리. 쓰는 방식은 업무 PC 폴더를 연결해 놓고 대화로 시키는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[2:00] 자동화 세 가지. 일일보고는 매일 아침 출근 로그온과 오후 4시에 PC 가 알아서 만듭니다 — 4월부터 131개. 현황판은 오늘 실적과 출하를 공유폴더에 올립니다. 투입 목록은 ERP 수주에서 이미 깎은 걸 빼고 장비별로 납기순 정리합니다. (화면 캡처로 설명)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질문 두 개 예시 (실제 화면 캡처로 교체 예정). 장비 고장 경위를 날짜까지 기록에서 꺼내 답하고, 원인처럼 모르는 건 모른다고 답합니다. 연삭 조건은 계산 과정이 보여서 검산할 수 있고, 사내 기준과 같이 나옵니다. 단 조건은 참고값이고 ANCA 공구 설계 프로그램 입력 전 검산까지만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전후 비교. 일일보고는 손 집계에서 자동으로 바뀌었고 4주 동안 하루도 안 빠졌습니다. 아낀 시간은 하루 15분 정도 — 경험값입니다. 투입 목록 효과는 셋업당 개수를 재는 도구까지 만들었는데, 도입 2주에 추석·장비 수리가 섞여 아직 효과라고 말하지 않겠습니다. (질문 대비: FG 7.5→6.7, GX7 3.6→4.9 합산 / 하루 평균은 6.5→6.1 — 소재 페이지 §6)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써 보니 정리·반복 작업에는 확실히 강합니다. 한계도 있습니다. 4주 동안 결정의 36%가 자동화를 고치고 돌보는 일이었습니다. 효과 없는 자동화는 성적표로 재서 4개를 껐습니다 — 예로 알림 메일 48통을 아무도 안 읽었습니다. 그리고 수치·조건은 AI 가 틀릴 수 있어서 출처를 붙이고 현장에서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앞으로는 CAD 도면 초안을 말로 그리는 걸 시험 중입니다 — 아직 '이런 것도 된다' 수준입니다. 엑셀 보고 자동화나 자료 정리는 다른 팀도 바로 쓸 수 있습니다. 대단한 건 아니어도 매일 쓸 만합니다.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8412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생산팀 · Claude AI 파일럿 2기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Claude AI 파일럿 2기 · 2차 발표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재연마 현장에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Claude를 붙여 보니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흩어진 자료 정리 · 매일 반복 작업 자동화 · 물어보면 답하는 기록</a:t>
            </a:r>
            <a:endParaRPr lang="en-US" sz="2000" dirty="0"/>
          </a:p>
        </p:txBody>
      </p:sp>
      <p:sp>
        <p:nvSpPr>
          <p:cNvPr id="5" name="cover-team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생산팀  |  2026-11-10</a:t>
            </a:r>
            <a:endParaRPr lang="en-US" sz="1800" dirty="0"/>
          </a:p>
        </p:txBody>
      </p:sp>
      <p:sp>
        <p:nvSpPr>
          <p:cNvPr id="6" name="cover-dot"/>
          <p:cNvSpPr/>
          <p:nvPr/>
        </p:nvSpPr>
        <p:spPr>
          <a:xfrm>
            <a:off x="9052560" y="1554480"/>
            <a:ext cx="2468880" cy="2468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v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1031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우리 업무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자료는 흩어져 있고, 정리는 매일 사람이 했다</a:t>
            </a:r>
            <a:endParaRPr lang="en-US" sz="3600" dirty="0"/>
          </a:p>
        </p:txBody>
      </p:sp>
      <p:sp>
        <p:nvSpPr>
          <p:cNvPr id="4" name="work-card"/>
          <p:cNvSpPr/>
          <p:nvPr/>
        </p:nvSpPr>
        <p:spPr>
          <a:xfrm>
            <a:off x="548640" y="16916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1E252D"/>
          </a:solidFill>
          <a:ln w="12700">
            <a:solidFill>
              <a:srgbClr val="1E252D"/>
            </a:solidFill>
            <a:prstDash val="solid"/>
          </a:ln>
        </p:spPr>
      </p:sp>
      <p:sp>
        <p:nvSpPr>
          <p:cNvPr id="5" name="work-text"/>
          <p:cNvSpPr txBox="1"/>
          <p:nvPr/>
        </p:nvSpPr>
        <p:spPr>
          <a:xfrm>
            <a:off x="868680" y="192024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31A"/>
                </a:solidFill>
              </a:rPr>
              <a:t>재연마</a:t>
            </a:r>
            <a:endParaRPr lang="en-US" sz="2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쓰던 엔드밀·드릴을 다시 연삭해 수명을 늘리는 일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E8EE"/>
                </a:solidFill>
              </a:rPr>
              <a:t>장비 2대</a:t>
            </a:r>
            <a:endParaRPr lang="en-US" sz="2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FG — ANCA FastGrind</a:t>
            </a:r>
            <a:endParaRPr lang="en-US" sz="2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GX7 — ANCA GX7</a:t>
            </a:r>
            <a:endParaRPr lang="en-US" sz="2800" dirty="0"/>
          </a:p>
        </p:txBody>
      </p:sp>
      <p:sp>
        <p:nvSpPr>
          <p:cNvPr id="6" name="src0-dot"/>
          <p:cNvSpPr/>
          <p:nvPr/>
        </p:nvSpPr>
        <p:spPr>
          <a:xfrm>
            <a:off x="5212080" y="1737360"/>
            <a:ext cx="548640" cy="54864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pic>
        <p:nvPicPr>
          <p:cNvPr id="7" name="src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781" y="1858061"/>
            <a:ext cx="307238" cy="307238"/>
          </a:xfrm>
          <a:prstGeom prst="rect">
            <a:avLst/>
          </a:prstGeom>
        </p:spPr>
      </p:pic>
      <p:sp>
        <p:nvSpPr>
          <p:cNvPr id="8" name="src0-text"/>
          <p:cNvSpPr txBox="1"/>
          <p:nvPr/>
        </p:nvSpPr>
        <p:spPr>
          <a:xfrm>
            <a:off x="5943600" y="1737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수주</a:t>
            </a:r>
            <a:pPr indent="0" marL="0">
              <a:buNone/>
            </a:pPr>
            <a:r>
              <a:rPr lang="en-US" sz="2000" dirty="0">
                <a:solidFill>
                  <a:srgbClr val="4A5561"/>
                </a:solidFill>
              </a:rPr>
              <a:t>   ERP</a:t>
            </a:r>
            <a:endParaRPr lang="en-US" sz="2000" dirty="0"/>
          </a:p>
        </p:txBody>
      </p:sp>
      <p:sp>
        <p:nvSpPr>
          <p:cNvPr id="9" name="src1-dot"/>
          <p:cNvSpPr/>
          <p:nvPr/>
        </p:nvSpPr>
        <p:spPr>
          <a:xfrm>
            <a:off x="5212080" y="2468880"/>
            <a:ext cx="548640" cy="54864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pic>
        <p:nvPicPr>
          <p:cNvPr id="10" name="src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781" y="2589581"/>
            <a:ext cx="307238" cy="307238"/>
          </a:xfrm>
          <a:prstGeom prst="rect">
            <a:avLst/>
          </a:prstGeom>
        </p:spPr>
      </p:pic>
      <p:sp>
        <p:nvSpPr>
          <p:cNvPr id="11" name="src1-text"/>
          <p:cNvSpPr txBox="1"/>
          <p:nvPr/>
        </p:nvSpPr>
        <p:spPr>
          <a:xfrm>
            <a:off x="5943600" y="2468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재연마 월간생산일지</a:t>
            </a:r>
            <a:pPr indent="0" marL="0">
              <a:buNone/>
            </a:pPr>
            <a:r>
              <a:rPr lang="en-US" sz="2000" dirty="0">
                <a:solidFill>
                  <a:srgbClr val="4A5561"/>
                </a:solidFill>
              </a:rPr>
              <a:t>   엑셀</a:t>
            </a:r>
            <a:endParaRPr lang="en-US" sz="2000" dirty="0"/>
          </a:p>
        </p:txBody>
      </p:sp>
      <p:sp>
        <p:nvSpPr>
          <p:cNvPr id="12" name="src2-dot"/>
          <p:cNvSpPr/>
          <p:nvPr/>
        </p:nvSpPr>
        <p:spPr>
          <a:xfrm>
            <a:off x="5212080" y="3200400"/>
            <a:ext cx="548640" cy="54864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pic>
        <p:nvPicPr>
          <p:cNvPr id="13" name="src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1" y="3321101"/>
            <a:ext cx="307238" cy="307238"/>
          </a:xfrm>
          <a:prstGeom prst="rect">
            <a:avLst/>
          </a:prstGeom>
        </p:spPr>
      </p:pic>
      <p:sp>
        <p:nvSpPr>
          <p:cNvPr id="14" name="src2-text"/>
          <p:cNvSpPr txBox="1"/>
          <p:nvPr/>
        </p:nvSpPr>
        <p:spPr>
          <a:xfrm>
            <a:off x="5943600" y="3200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출하현황</a:t>
            </a:r>
            <a:pPr indent="0" marL="0">
              <a:buNone/>
            </a:pPr>
            <a:r>
              <a:rPr lang="en-US" sz="2000" dirty="0">
                <a:solidFill>
                  <a:srgbClr val="4A5561"/>
                </a:solidFill>
              </a:rPr>
              <a:t>   엑셀</a:t>
            </a:r>
            <a:endParaRPr lang="en-US" sz="2000" dirty="0"/>
          </a:p>
        </p:txBody>
      </p:sp>
      <p:sp>
        <p:nvSpPr>
          <p:cNvPr id="15" name="src3-dot"/>
          <p:cNvSpPr/>
          <p:nvPr/>
        </p:nvSpPr>
        <p:spPr>
          <a:xfrm>
            <a:off x="5212080" y="3931920"/>
            <a:ext cx="548640" cy="54864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pic>
        <p:nvPicPr>
          <p:cNvPr id="16" name="src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1" y="4052621"/>
            <a:ext cx="307238" cy="307238"/>
          </a:xfrm>
          <a:prstGeom prst="rect">
            <a:avLst/>
          </a:prstGeom>
        </p:spPr>
      </p:pic>
      <p:sp>
        <p:nvSpPr>
          <p:cNvPr id="17" name="src3-text"/>
          <p:cNvSpPr txBox="1"/>
          <p:nvPr/>
        </p:nvSpPr>
        <p:spPr>
          <a:xfrm>
            <a:off x="5943600" y="3931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장비 매뉴얼·수리 기록</a:t>
            </a:r>
            <a:pPr indent="0" marL="0">
              <a:buNone/>
            </a:pPr>
            <a:r>
              <a:rPr lang="en-US" sz="2000" dirty="0">
                <a:solidFill>
                  <a:srgbClr val="4A5561"/>
                </a:solidFill>
              </a:rPr>
              <a:t>   PDF·사진</a:t>
            </a:r>
            <a:endParaRPr lang="en-US" sz="2000" dirty="0"/>
          </a:p>
        </p:txBody>
      </p:sp>
      <p:sp>
        <p:nvSpPr>
          <p:cNvPr id="18" name="src4-dot"/>
          <p:cNvSpPr/>
          <p:nvPr/>
        </p:nvSpPr>
        <p:spPr>
          <a:xfrm>
            <a:off x="5212080" y="4663440"/>
            <a:ext cx="548640" cy="54864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pic>
        <p:nvPicPr>
          <p:cNvPr id="19" name="src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1" y="4784141"/>
            <a:ext cx="307238" cy="307238"/>
          </a:xfrm>
          <a:prstGeom prst="rect">
            <a:avLst/>
          </a:prstGeom>
        </p:spPr>
      </p:pic>
      <p:sp>
        <p:nvSpPr>
          <p:cNvPr id="20" name="src4-text"/>
          <p:cNvSpPr txBox="1"/>
          <p:nvPr/>
        </p:nvSpPr>
        <p:spPr>
          <a:xfrm>
            <a:off x="5943600" y="4663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현장 노하우</a:t>
            </a:r>
            <a:pPr indent="0" marL="0">
              <a:buNone/>
            </a:pPr>
            <a:r>
              <a:rPr lang="en-US" sz="2000" dirty="0">
                <a:solidFill>
                  <a:srgbClr val="4A5561"/>
                </a:solidFill>
              </a:rPr>
              <a:t>   사람 머릿속</a:t>
            </a:r>
            <a:endParaRPr lang="en-US" sz="2000" dirty="0"/>
          </a:p>
        </p:txBody>
      </p:sp>
      <p:sp>
        <p:nvSpPr>
          <p:cNvPr id="21" name="daily-card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BE3CF"/>
          </a:solidFill>
          <a:ln w="12700">
            <a:solidFill>
              <a:srgbClr val="FBE3CF"/>
            </a:solidFill>
            <a:prstDash val="solid"/>
          </a:ln>
        </p:spPr>
      </p:sp>
      <p:sp>
        <p:nvSpPr>
          <p:cNvPr id="22" name="daily-text"/>
          <p:cNvSpPr txBox="1"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52D"/>
                </a:solidFill>
              </a:rPr>
              <a:t>매일 손으로: </a:t>
            </a:r>
            <a:pPr indent="0" marL="0">
              <a:buNone/>
            </a:pPr>
            <a:r>
              <a:rPr lang="en-US" sz="1800" dirty="0">
                <a:solidFill>
                  <a:srgbClr val="1E252D"/>
                </a:solidFill>
              </a:rPr>
              <a:t>일일보고 집계 + 「오늘 어느 장비에 뭘 먼저」 — 하루 15분 이하 (사내 경험값)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필수 ① 팀 내 Claude 활용 현황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반년 동안 쌓인 것</a:t>
            </a:r>
            <a:endParaRPr lang="en-US" sz="3600" dirty="0"/>
          </a:p>
        </p:txBody>
      </p:sp>
      <p:sp>
        <p:nvSpPr>
          <p:cNvPr id="4" name="stat0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stat0-num"/>
          <p:cNvSpPr txBox="1"/>
          <p:nvPr/>
        </p:nvSpPr>
        <p:spPr>
          <a:xfrm>
            <a:off x="77724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8731A"/>
                </a:solidFill>
              </a:rPr>
              <a:t>138</a:t>
            </a:r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 페이지</a:t>
            </a:r>
            <a:endParaRPr lang="en-US" sz="5400" dirty="0"/>
          </a:p>
        </p:txBody>
      </p:sp>
      <p:sp>
        <p:nvSpPr>
          <p:cNvPr id="6" name="stat0-label"/>
          <p:cNvSpPr txBox="1"/>
          <p:nvPr/>
        </p:nvSpPr>
        <p:spPr>
          <a:xfrm>
            <a:off x="77724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생산팀 지식 위키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A5561"/>
                </a:solidFill>
              </a:rPr>
              <a:t>장비·휠·연삭 조건·수리 이력</a:t>
            </a:r>
            <a:endParaRPr lang="en-US" sz="2000" dirty="0"/>
          </a:p>
        </p:txBody>
      </p:sp>
      <p:sp>
        <p:nvSpPr>
          <p:cNvPr id="7" name="stat1"/>
          <p:cNvSpPr/>
          <p:nvPr/>
        </p:nvSpPr>
        <p:spPr>
          <a:xfrm>
            <a:off x="33832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stat1-num"/>
          <p:cNvSpPr txBox="1"/>
          <p:nvPr/>
        </p:nvSpPr>
        <p:spPr>
          <a:xfrm>
            <a:off x="361188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약 </a:t>
            </a:r>
            <a:pPr indent="0" marL="0">
              <a:buNone/>
            </a:pPr>
            <a:r>
              <a:rPr lang="en-US" sz="5400" b="1" dirty="0">
                <a:solidFill>
                  <a:srgbClr val="E8731A"/>
                </a:solidFill>
              </a:rPr>
              <a:t>300</a:t>
            </a:r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 건</a:t>
            </a:r>
            <a:endParaRPr lang="en-US" sz="2000" dirty="0"/>
          </a:p>
        </p:txBody>
      </p:sp>
      <p:sp>
        <p:nvSpPr>
          <p:cNvPr id="9" name="stat1-label"/>
          <p:cNvSpPr txBox="1"/>
          <p:nvPr/>
        </p:nvSpPr>
        <p:spPr>
          <a:xfrm>
            <a:off x="361188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결정 기록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A5561"/>
                </a:solidFill>
              </a:rPr>
              <a:t>왜 그렇게 했는지 남김</a:t>
            </a:r>
            <a:endParaRPr lang="en-US" sz="2000" dirty="0"/>
          </a:p>
        </p:txBody>
      </p:sp>
      <p:sp>
        <p:nvSpPr>
          <p:cNvPr id="10" name="stat2"/>
          <p:cNvSpPr/>
          <p:nvPr/>
        </p:nvSpPr>
        <p:spPr>
          <a:xfrm>
            <a:off x="62179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stat2-num"/>
          <p:cNvSpPr txBox="1"/>
          <p:nvPr/>
        </p:nvSpPr>
        <p:spPr>
          <a:xfrm>
            <a:off x="644652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8731A"/>
                </a:solidFill>
              </a:rPr>
              <a:t>55</a:t>
            </a:r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 개</a:t>
            </a:r>
            <a:endParaRPr lang="en-US" sz="5400" dirty="0"/>
          </a:p>
        </p:txBody>
      </p:sp>
      <p:sp>
        <p:nvSpPr>
          <p:cNvPr id="12" name="stat2-label"/>
          <p:cNvSpPr txBox="1"/>
          <p:nvPr/>
        </p:nvSpPr>
        <p:spPr>
          <a:xfrm>
            <a:off x="644652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자동화 스크립트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A5561"/>
                </a:solidFill>
              </a:rPr>
              <a:t>Python — 보고·집계·정리</a:t>
            </a:r>
            <a:endParaRPr lang="en-US" sz="2000" dirty="0"/>
          </a:p>
        </p:txBody>
      </p:sp>
      <p:sp>
        <p:nvSpPr>
          <p:cNvPr id="13" name="stat3"/>
          <p:cNvSpPr/>
          <p:nvPr/>
        </p:nvSpPr>
        <p:spPr>
          <a:xfrm>
            <a:off x="90525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4" name="stat3-num"/>
          <p:cNvSpPr txBox="1"/>
          <p:nvPr/>
        </p:nvSpPr>
        <p:spPr>
          <a:xfrm>
            <a:off x="928116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8731A"/>
                </a:solidFill>
              </a:rPr>
              <a:t>17</a:t>
            </a:r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 건</a:t>
            </a:r>
            <a:endParaRPr lang="en-US" sz="5400" dirty="0"/>
          </a:p>
        </p:txBody>
      </p:sp>
      <p:sp>
        <p:nvSpPr>
          <p:cNvPr id="15" name="stat3-label"/>
          <p:cNvSpPr txBox="1"/>
          <p:nvPr/>
        </p:nvSpPr>
        <p:spPr>
          <a:xfrm>
            <a:off x="928116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52D"/>
                </a:solidFill>
              </a:rPr>
              <a:t>장비 수리 이력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A5561"/>
                </a:solidFill>
              </a:rPr>
              <a:t>과거 12건 + 올해 5건</a:t>
            </a:r>
            <a:endParaRPr lang="en-US" sz="2000" dirty="0"/>
          </a:p>
        </p:txBody>
      </p:sp>
      <p:sp>
        <p:nvSpPr>
          <p:cNvPr id="16" name="how-dot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pic>
        <p:nvPicPr>
          <p:cNvPr id="17" name="ho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5042916"/>
            <a:ext cx="384048" cy="384048"/>
          </a:xfrm>
          <a:prstGeom prst="rect">
            <a:avLst/>
          </a:prstGeom>
        </p:spPr>
      </p:pic>
      <p:sp>
        <p:nvSpPr>
          <p:cNvPr id="18" name="how-text"/>
          <p:cNvSpPr txBox="1"/>
          <p:nvPr/>
        </p:nvSpPr>
        <p:spPr>
          <a:xfrm>
            <a:off x="1463040" y="48920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8F"/>
                </a:solidFill>
              </a:rPr>
              <a:t>쓰는 방식  </a:t>
            </a:r>
            <a:pPr indent="0" marL="0">
              <a:buNone/>
            </a:pPr>
            <a:r>
              <a:rPr lang="en-US" sz="2000" dirty="0">
                <a:solidFill>
                  <a:srgbClr val="1E252D"/>
                </a:solidFill>
              </a:rPr>
              <a:t>업무 PC 폴더를 Claude 에 연결 → 파일 읽기·정리·스크립트 실행을 대화로 시킨다</a:t>
            </a:r>
            <a:endParaRPr lang="en-US" sz="2000" dirty="0"/>
          </a:p>
        </p:txBody>
      </p:sp>
      <p:sp>
        <p:nvSpPr>
          <p:cNvPr id="19" name="stat-asof"/>
          <p:cNvSpPr txBox="1"/>
          <p:nvPr/>
        </p:nvSpPr>
        <p:spPr>
          <a:xfrm>
            <a:off x="54864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A3"/>
                </a:solidFill>
              </a:rPr>
              <a:t>숫자는 2026-10-16 기준 — 제출 전 다시 잰다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필수 ② 자동화 프로그램 소개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출근하면 이미 만들어져 있다</a:t>
            </a:r>
            <a:endParaRPr lang="en-US" sz="3600" dirty="0"/>
          </a:p>
        </p:txBody>
      </p:sp>
      <p:sp>
        <p:nvSpPr>
          <p:cNvPr id="4" name="auto0-dot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5" name="auto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832458"/>
            <a:ext cx="358445" cy="358445"/>
          </a:xfrm>
          <a:prstGeom prst="rect">
            <a:avLst/>
          </a:prstGeom>
        </p:spPr>
      </p:pic>
      <p:sp>
        <p:nvSpPr>
          <p:cNvPr id="6" name="auto0-title"/>
          <p:cNvSpPr txBox="1"/>
          <p:nvPr/>
        </p:nvSpPr>
        <p:spPr>
          <a:xfrm>
            <a:off x="132588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2D"/>
                </a:solidFill>
              </a:rPr>
              <a:t>일일보고 자동 생성</a:t>
            </a:r>
            <a:endParaRPr lang="en-US" sz="2200" dirty="0"/>
          </a:p>
        </p:txBody>
      </p:sp>
      <p:sp>
        <p:nvSpPr>
          <p:cNvPr id="7" name="auto0-desc"/>
          <p:cNvSpPr txBox="1"/>
          <p:nvPr/>
        </p:nvSpPr>
        <p:spPr>
          <a:xfrm>
            <a:off x="548640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매일 07:50 · 16:00 자동 실행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누적 131개 (10-15)</a:t>
            </a:r>
            <a:endParaRPr lang="en-US" sz="1700" dirty="0"/>
          </a:p>
        </p:txBody>
      </p:sp>
      <p:sp>
        <p:nvSpPr>
          <p:cNvPr id="8" name="auto0-cap"/>
          <p:cNvSpPr/>
          <p:nvPr/>
        </p:nvSpPr>
        <p:spPr>
          <a:xfrm>
            <a:off x="548640" y="35204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8A96A3"/>
            </a:solidFill>
            <a:prstDash val="dash"/>
          </a:ln>
        </p:spPr>
      </p:sp>
      <p:sp>
        <p:nvSpPr>
          <p:cNvPr id="9" name="auto0-cap-label"/>
          <p:cNvSpPr txBox="1"/>
          <p:nvPr/>
        </p:nvSpPr>
        <p:spPr>
          <a:xfrm>
            <a:off x="548640" y="35204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캡처 자리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일일보고 엑셀 1장</a:t>
            </a:r>
            <a:endParaRPr lang="en-US" sz="1400" dirty="0"/>
          </a:p>
        </p:txBody>
      </p:sp>
      <p:sp>
        <p:nvSpPr>
          <p:cNvPr id="10" name="auto1-dot"/>
          <p:cNvSpPr/>
          <p:nvPr/>
        </p:nvSpPr>
        <p:spPr>
          <a:xfrm>
            <a:off x="4297680" y="1691640"/>
            <a:ext cx="640080" cy="6400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11" name="auto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98" y="1832458"/>
            <a:ext cx="358445" cy="358445"/>
          </a:xfrm>
          <a:prstGeom prst="rect">
            <a:avLst/>
          </a:prstGeom>
        </p:spPr>
      </p:pic>
      <p:sp>
        <p:nvSpPr>
          <p:cNvPr id="12" name="auto1-title"/>
          <p:cNvSpPr txBox="1"/>
          <p:nvPr/>
        </p:nvSpPr>
        <p:spPr>
          <a:xfrm>
            <a:off x="507492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2D"/>
                </a:solidFill>
              </a:rPr>
              <a:t>사내 현황판</a:t>
            </a:r>
            <a:endParaRPr lang="en-US" sz="2200" dirty="0"/>
          </a:p>
        </p:txBody>
      </p:sp>
      <p:sp>
        <p:nvSpPr>
          <p:cNvPr id="13" name="auto1-desc"/>
          <p:cNvSpPr txBox="1"/>
          <p:nvPr/>
        </p:nvSpPr>
        <p:spPr>
          <a:xfrm>
            <a:off x="4297680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오늘 실적 · 업체별 출하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· 접수현황 → 공유폴더</a:t>
            </a:r>
            <a:endParaRPr lang="en-US" sz="1700" dirty="0"/>
          </a:p>
        </p:txBody>
      </p:sp>
      <p:sp>
        <p:nvSpPr>
          <p:cNvPr id="14" name="auto1-cap"/>
          <p:cNvSpPr/>
          <p:nvPr/>
        </p:nvSpPr>
        <p:spPr>
          <a:xfrm>
            <a:off x="4297680" y="35204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8A96A3"/>
            </a:solidFill>
            <a:prstDash val="dash"/>
          </a:ln>
        </p:spPr>
      </p:sp>
      <p:sp>
        <p:nvSpPr>
          <p:cNvPr id="15" name="auto1-cap-label"/>
          <p:cNvSpPr txBox="1"/>
          <p:nvPr/>
        </p:nvSpPr>
        <p:spPr>
          <a:xfrm>
            <a:off x="4297680" y="35204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캡처 자리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현황판 첫 화면</a:t>
            </a:r>
            <a:endParaRPr lang="en-US" sz="1400" dirty="0"/>
          </a:p>
        </p:txBody>
      </p:sp>
      <p:sp>
        <p:nvSpPr>
          <p:cNvPr id="16" name="auto2-dot"/>
          <p:cNvSpPr/>
          <p:nvPr/>
        </p:nvSpPr>
        <p:spPr>
          <a:xfrm>
            <a:off x="8046720" y="1691640"/>
            <a:ext cx="640080" cy="64008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17" name="auto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38" y="1832458"/>
            <a:ext cx="358445" cy="358445"/>
          </a:xfrm>
          <a:prstGeom prst="rect">
            <a:avLst/>
          </a:prstGeom>
        </p:spPr>
      </p:pic>
      <p:sp>
        <p:nvSpPr>
          <p:cNvPr id="18" name="auto2-title"/>
          <p:cNvSpPr txBox="1"/>
          <p:nvPr/>
        </p:nvSpPr>
        <p:spPr>
          <a:xfrm>
            <a:off x="882396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52D"/>
                </a:solidFill>
              </a:rPr>
              <a:t>장비별 투입 목록</a:t>
            </a:r>
            <a:endParaRPr lang="en-US" sz="2200" dirty="0"/>
          </a:p>
        </p:txBody>
      </p:sp>
      <p:sp>
        <p:nvSpPr>
          <p:cNvPr id="19" name="auto2-desc"/>
          <p:cNvSpPr txBox="1"/>
          <p:nvPr/>
        </p:nvSpPr>
        <p:spPr>
          <a:xfrm>
            <a:off x="8046720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수주 − 이미 깎은 것 →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FG/GX7 배정 · 납기순</a:t>
            </a:r>
            <a:endParaRPr lang="en-US" sz="1700" dirty="0"/>
          </a:p>
        </p:txBody>
      </p:sp>
      <p:sp>
        <p:nvSpPr>
          <p:cNvPr id="20" name="auto2-cap"/>
          <p:cNvSpPr/>
          <p:nvPr/>
        </p:nvSpPr>
        <p:spPr>
          <a:xfrm>
            <a:off x="8046720" y="35204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8A96A3"/>
            </a:solidFill>
            <a:prstDash val="dash"/>
          </a:ln>
        </p:spPr>
      </p:sp>
      <p:sp>
        <p:nvSpPr>
          <p:cNvPr id="21" name="auto2-cap-label"/>
          <p:cNvSpPr txBox="1"/>
          <p:nvPr/>
        </p:nvSpPr>
        <p:spPr>
          <a:xfrm>
            <a:off x="8046720" y="35204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캡처 자리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투입 목록 FG/GX7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필수 ② 시연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물어보면 기록에서 꺼내 답한다</a:t>
            </a:r>
            <a:endParaRPr lang="en-US" sz="3600" dirty="0"/>
          </a:p>
        </p:txBody>
      </p:sp>
      <p:sp>
        <p:nvSpPr>
          <p:cNvPr id="4" name="qa0-tag"/>
          <p:cNvSpPr txBox="1"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8F"/>
                </a:solidFill>
              </a:rPr>
              <a:t>장비 문제</a:t>
            </a:r>
            <a:endParaRPr lang="en-US" sz="1600" dirty="0"/>
          </a:p>
        </p:txBody>
      </p:sp>
      <p:sp>
        <p:nvSpPr>
          <p:cNvPr id="5" name="qa0-q"/>
          <p:cNvSpPr/>
          <p:nvPr/>
        </p:nvSpPr>
        <p:spPr>
          <a:xfrm>
            <a:off x="548640" y="20574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E252D"/>
          </a:solidFill>
          <a:ln w="12700">
            <a:solidFill>
              <a:srgbClr val="1E252D"/>
            </a:solidFill>
            <a:prstDash val="solid"/>
          </a:ln>
        </p:spPr>
      </p:sp>
      <p:sp>
        <p:nvSpPr>
          <p:cNvPr id="6" name="qa0-qi-dot"/>
          <p:cNvSpPr/>
          <p:nvPr/>
        </p:nvSpPr>
        <p:spPr>
          <a:xfrm>
            <a:off x="777240" y="2286000"/>
            <a:ext cx="685800" cy="68580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7" name="qa0-qi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436876"/>
            <a:ext cx="384048" cy="384048"/>
          </a:xfrm>
          <a:prstGeom prst="rect">
            <a:avLst/>
          </a:prstGeom>
        </p:spPr>
      </p:pic>
      <p:sp>
        <p:nvSpPr>
          <p:cNvPr id="8" name="qa0-qtext"/>
          <p:cNvSpPr txBox="1"/>
          <p:nvPr/>
        </p:nvSpPr>
        <p:spPr>
          <a:xfrm>
            <a:off x="1645920" y="205740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GX7 로더 사용 금지는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왜였고 언제 풀렸어?</a:t>
            </a:r>
            <a:endParaRPr lang="en-US" sz="2000" dirty="0"/>
          </a:p>
        </p:txBody>
      </p:sp>
      <p:sp>
        <p:nvSpPr>
          <p:cNvPr id="9" name="qa0-a"/>
          <p:cNvSpPr/>
          <p:nvPr/>
        </p:nvSpPr>
        <p:spPr>
          <a:xfrm>
            <a:off x="548640" y="33375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qa0-atext"/>
          <p:cNvSpPr txBox="1"/>
          <p:nvPr/>
        </p:nvSpPr>
        <p:spPr>
          <a:xfrm>
            <a:off x="777240" y="352044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52D"/>
                </a:solidFill>
              </a:rPr>
              <a:t>08-13 점검: 실린더 이상 → 사용 금지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52D"/>
                </a:solidFill>
              </a:rPr>
              <a:t>10-12 교체 → 10-13 해제 (약 2개월)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52D"/>
                </a:solidFill>
              </a:rPr>
              <a:t>고장 원인은 「확인 필요」로 남겨 둠</a:t>
            </a:r>
            <a:endParaRPr lang="en-US" sz="1900" dirty="0"/>
          </a:p>
        </p:txBody>
      </p:sp>
      <p:sp>
        <p:nvSpPr>
          <p:cNvPr id="11" name="qa1-tag"/>
          <p:cNvSpPr txBox="1"/>
          <p:nvPr/>
        </p:nvSpPr>
        <p:spPr>
          <a:xfrm>
            <a:off x="621792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8F"/>
                </a:solidFill>
              </a:rPr>
              <a:t>연삭 조건</a:t>
            </a:r>
            <a:endParaRPr lang="en-US" sz="1600" dirty="0"/>
          </a:p>
        </p:txBody>
      </p:sp>
      <p:sp>
        <p:nvSpPr>
          <p:cNvPr id="12" name="qa1-q"/>
          <p:cNvSpPr/>
          <p:nvPr/>
        </p:nvSpPr>
        <p:spPr>
          <a:xfrm>
            <a:off x="6217920" y="20574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E252D"/>
          </a:solidFill>
          <a:ln w="12700">
            <a:solidFill>
              <a:srgbClr val="1E252D"/>
            </a:solidFill>
            <a:prstDash val="solid"/>
          </a:ln>
        </p:spPr>
      </p:sp>
      <p:sp>
        <p:nvSpPr>
          <p:cNvPr id="13" name="qa1-qi-dot"/>
          <p:cNvSpPr/>
          <p:nvPr/>
        </p:nvSpPr>
        <p:spPr>
          <a:xfrm>
            <a:off x="6446520" y="2286000"/>
            <a:ext cx="685800" cy="685800"/>
          </a:xfrm>
          <a:prstGeom prst="ellipse">
            <a:avLst/>
          </a:prstGeom>
          <a:solidFill>
            <a:srgbClr val="E8731A"/>
          </a:solidFill>
          <a:ln w="12700">
            <a:solidFill>
              <a:srgbClr val="E8731A"/>
            </a:solidFill>
            <a:prstDash val="solid"/>
          </a:ln>
        </p:spPr>
      </p:sp>
      <p:pic>
        <p:nvPicPr>
          <p:cNvPr id="14" name="qa1-qi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436876"/>
            <a:ext cx="384048" cy="384048"/>
          </a:xfrm>
          <a:prstGeom prst="rect">
            <a:avLst/>
          </a:prstGeom>
        </p:spPr>
      </p:pic>
      <p:sp>
        <p:nvSpPr>
          <p:cNvPr id="15" name="qa1-qtext"/>
          <p:cNvSpPr txBox="1"/>
          <p:nvPr/>
        </p:nvSpPr>
        <p:spPr>
          <a:xfrm>
            <a:off x="7315200" y="205740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Ø125 휠을 19 m/s 로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쓰려면 RPM 은?</a:t>
            </a:r>
            <a:endParaRPr lang="en-US" sz="2000" dirty="0"/>
          </a:p>
        </p:txBody>
      </p:sp>
      <p:sp>
        <p:nvSpPr>
          <p:cNvPr id="16" name="qa1-a"/>
          <p:cNvSpPr/>
          <p:nvPr/>
        </p:nvSpPr>
        <p:spPr>
          <a:xfrm>
            <a:off x="6217920" y="33375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7" name="qa1-atext"/>
          <p:cNvSpPr txBox="1"/>
          <p:nvPr/>
        </p:nvSpPr>
        <p:spPr>
          <a:xfrm>
            <a:off x="6446520" y="352044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52D"/>
                </a:solidFill>
              </a:rPr>
              <a:t>60,000 × 19 ÷ (π × 125) ≈ 2,903 rpm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52D"/>
                </a:solidFill>
              </a:rPr>
              <a:t>사내 실사용 2,600~3,000 rpm 안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52D"/>
                </a:solidFill>
              </a:rPr>
              <a:t>사내 상한 25 m/s = 3,820 rpm</a:t>
            </a:r>
            <a:endParaRPr lang="en-US" sz="1900" dirty="0"/>
          </a:p>
        </p:txBody>
      </p:sp>
      <p:sp>
        <p:nvSpPr>
          <p:cNvPr id="18" name="qa-rule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BE3CF"/>
          </a:solidFill>
          <a:ln w="12700">
            <a:solidFill>
              <a:srgbClr val="FBE3CF"/>
            </a:solidFill>
            <a:prstDash val="solid"/>
          </a:ln>
        </p:spPr>
      </p:sp>
      <p:sp>
        <p:nvSpPr>
          <p:cNvPr id="19" name="qa-rule-text"/>
          <p:cNvSpPr txBox="1"/>
          <p:nvPr/>
        </p:nvSpPr>
        <p:spPr>
          <a:xfrm>
            <a:off x="777240" y="5623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52D"/>
                </a:solidFill>
              </a:rPr>
              <a:t>모르는 건 모른다고 · </a:t>
            </a:r>
            <a:pPr indent="0" marL="0">
              <a:buNone/>
            </a:pPr>
            <a:r>
              <a:rPr lang="en-US" sz="1800" dirty="0">
                <a:solidFill>
                  <a:srgbClr val="1E252D"/>
                </a:solidFill>
              </a:rPr>
              <a:t>조건은 참고값, 검증은 사람 (ANCA iGrind 입력 전 계산·검산까지)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필수 ③ 업무 적용 전후 비교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써 보기 전 · 써 본 후</a:t>
            </a:r>
            <a:endParaRPr lang="en-US" sz="3600" dirty="0"/>
          </a:p>
        </p:txBody>
      </p:sp>
      <p:sp>
        <p:nvSpPr>
          <p:cNvPr id="4" name="ba0"/>
          <p:cNvSpPr/>
          <p:nvPr/>
        </p:nvSpPr>
        <p:spPr>
          <a:xfrm>
            <a:off x="548640" y="173736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ba0-label"/>
          <p:cNvSpPr txBox="1"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561"/>
                </a:solidFill>
              </a:rPr>
              <a:t>일일보고 집계</a:t>
            </a:r>
            <a:endParaRPr lang="en-US" sz="2000" dirty="0"/>
          </a:p>
        </p:txBody>
      </p:sp>
      <p:sp>
        <p:nvSpPr>
          <p:cNvPr id="6" name="ba0-before"/>
          <p:cNvSpPr txBox="1"/>
          <p:nvPr/>
        </p:nvSpPr>
        <p:spPr>
          <a:xfrm>
            <a:off x="86868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A96A3"/>
                </a:solidFill>
              </a:rPr>
              <a:t>매일 손으로</a:t>
            </a:r>
            <a:endParaRPr lang="en-US" sz="2400" dirty="0"/>
          </a:p>
        </p:txBody>
      </p:sp>
      <p:pic>
        <p:nvPicPr>
          <p:cNvPr id="7" name="ba0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697480"/>
            <a:ext cx="640080" cy="640080"/>
          </a:xfrm>
          <a:prstGeom prst="rect">
            <a:avLst/>
          </a:prstGeom>
        </p:spPr>
      </p:pic>
      <p:sp>
        <p:nvSpPr>
          <p:cNvPr id="8" name="ba0-after"/>
          <p:cNvSpPr txBox="1"/>
          <p:nvPr/>
        </p:nvSpPr>
        <p:spPr>
          <a:xfrm>
            <a:off x="374904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731A"/>
                </a:solidFill>
              </a:rPr>
              <a:t>자동</a:t>
            </a:r>
            <a:endParaRPr lang="en-US" sz="5400" dirty="0"/>
          </a:p>
        </p:txBody>
      </p:sp>
      <p:sp>
        <p:nvSpPr>
          <p:cNvPr id="9" name="ba0-note"/>
          <p:cNvSpPr txBox="1"/>
          <p:nvPr/>
        </p:nvSpPr>
        <p:spPr>
          <a:xfrm>
            <a:off x="868680" y="3840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18 / 18 영업일 빠짐없이 생성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(10-07 기준 4주)</a:t>
            </a:r>
            <a:endParaRPr lang="en-US" sz="1700" dirty="0"/>
          </a:p>
        </p:txBody>
      </p:sp>
      <p:sp>
        <p:nvSpPr>
          <p:cNvPr id="10" name="ba1"/>
          <p:cNvSpPr/>
          <p:nvPr/>
        </p:nvSpPr>
        <p:spPr>
          <a:xfrm>
            <a:off x="6217920" y="173736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ba1-label"/>
          <p:cNvSpPr txBox="1"/>
          <p:nvPr/>
        </p:nvSpPr>
        <p:spPr>
          <a:xfrm>
            <a:off x="653796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5561"/>
                </a:solidFill>
              </a:rPr>
              <a:t>아낀 시간</a:t>
            </a:r>
            <a:endParaRPr lang="en-US" sz="2000" dirty="0"/>
          </a:p>
        </p:txBody>
      </p:sp>
      <p:sp>
        <p:nvSpPr>
          <p:cNvPr id="12" name="ba1-num"/>
          <p:cNvSpPr txBox="1"/>
          <p:nvPr/>
        </p:nvSpPr>
        <p:spPr>
          <a:xfrm>
            <a:off x="653796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52D"/>
                </a:solidFill>
              </a:rPr>
              <a:t>하루 약 </a:t>
            </a:r>
            <a:pPr indent="0" marL="0">
              <a:buNone/>
            </a:pPr>
            <a:r>
              <a:rPr lang="en-US" sz="5400" b="1" dirty="0">
                <a:solidFill>
                  <a:srgbClr val="E8731A"/>
                </a:solidFill>
              </a:rPr>
              <a:t>15</a:t>
            </a:r>
            <a:pPr indent="0" marL="0">
              <a:buNone/>
            </a:pPr>
            <a:r>
              <a:rPr lang="en-US" sz="2400" dirty="0">
                <a:solidFill>
                  <a:srgbClr val="1E252D"/>
                </a:solidFill>
              </a:rPr>
              <a:t> 분</a:t>
            </a:r>
            <a:endParaRPr lang="en-US" sz="2400" dirty="0"/>
          </a:p>
        </p:txBody>
      </p:sp>
      <p:sp>
        <p:nvSpPr>
          <p:cNvPr id="13" name="ba1-note"/>
          <p:cNvSpPr txBox="1"/>
          <p:nvPr/>
        </p:nvSpPr>
        <p:spPr>
          <a:xfrm>
            <a:off x="6537960" y="3840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월 5시간 안팎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561"/>
                </a:solidFill>
              </a:rPr>
              <a:t>사내 경험값 — 정식 측정 아님</a:t>
            </a:r>
            <a:endParaRPr lang="en-US" sz="1700" dirty="0"/>
          </a:p>
        </p:txBody>
      </p:sp>
      <p:sp>
        <p:nvSpPr>
          <p:cNvPr id="14" name="ba-meter-dot"/>
          <p:cNvSpPr/>
          <p:nvPr/>
        </p:nvSpPr>
        <p:spPr>
          <a:xfrm>
            <a:off x="548640" y="5440680"/>
            <a:ext cx="640080" cy="640080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pic>
        <p:nvPicPr>
          <p:cNvPr id="15" name="ba-meter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5581498"/>
            <a:ext cx="358445" cy="358445"/>
          </a:xfrm>
          <a:prstGeom prst="rect">
            <a:avLst/>
          </a:prstGeom>
        </p:spPr>
      </p:pic>
      <p:sp>
        <p:nvSpPr>
          <p:cNvPr id="16" name="ba-meter-text"/>
          <p:cNvSpPr txBox="1"/>
          <p:nvPr/>
        </p:nvSpPr>
        <p:spPr>
          <a:xfrm>
            <a:off x="1417320" y="5349240"/>
            <a:ext cx="10195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52D"/>
                </a:solidFill>
              </a:rPr>
              <a:t>장비별 투입 목록 효과는 작업일지로 「셋업당 개수」를 재는 도구까지 만들었고, 아직 2주라 효과는 단정하지 않는다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필수 ③ 써 보니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쓸 만한 점과 한계</a:t>
            </a:r>
            <a:endParaRPr lang="en-US" sz="3600" dirty="0"/>
          </a:p>
        </p:txBody>
      </p:sp>
      <p:sp>
        <p:nvSpPr>
          <p:cNvPr id="4" name="good-head"/>
          <p:cNvSpPr txBox="1"/>
          <p:nvPr/>
        </p:nvSpPr>
        <p:spPr>
          <a:xfrm>
            <a:off x="54864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8D5A"/>
                </a:solidFill>
              </a:rPr>
              <a:t>쓸 만한 점</a:t>
            </a:r>
            <a:endParaRPr lang="en-US" sz="2200" dirty="0"/>
          </a:p>
        </p:txBody>
      </p:sp>
      <p:sp>
        <p:nvSpPr>
          <p:cNvPr id="5" name="good0-dot"/>
          <p:cNvSpPr/>
          <p:nvPr/>
        </p:nvSpPr>
        <p:spPr>
          <a:xfrm>
            <a:off x="548640" y="2286000"/>
            <a:ext cx="594360" cy="594360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pic>
        <p:nvPicPr>
          <p:cNvPr id="6" name="good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416759"/>
            <a:ext cx="332842" cy="332842"/>
          </a:xfrm>
          <a:prstGeom prst="rect">
            <a:avLst/>
          </a:prstGeom>
        </p:spPr>
      </p:pic>
      <p:sp>
        <p:nvSpPr>
          <p:cNvPr id="7" name="good0-text"/>
          <p:cNvSpPr txBox="1"/>
          <p:nvPr/>
        </p:nvSpPr>
        <p:spPr>
          <a:xfrm>
            <a:off x="1325880" y="22860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52D"/>
                </a:solidFill>
              </a:rPr>
              <a:t>흩어진 자료를 한곳에 정리</a:t>
            </a:r>
            <a:endParaRPr lang="en-US" sz="2000" dirty="0"/>
          </a:p>
        </p:txBody>
      </p:sp>
      <p:sp>
        <p:nvSpPr>
          <p:cNvPr id="8" name="good1-dot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pic>
        <p:nvPicPr>
          <p:cNvPr id="9" name="good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468319"/>
            <a:ext cx="332842" cy="332842"/>
          </a:xfrm>
          <a:prstGeom prst="rect">
            <a:avLst/>
          </a:prstGeom>
        </p:spPr>
      </p:pic>
      <p:sp>
        <p:nvSpPr>
          <p:cNvPr id="10" name="good1-text"/>
          <p:cNvSpPr txBox="1"/>
          <p:nvPr/>
        </p:nvSpPr>
        <p:spPr>
          <a:xfrm>
            <a:off x="1325880" y="3337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52D"/>
                </a:solidFill>
              </a:rPr>
              <a:t>매일 반복하는 집계·보고</a:t>
            </a:r>
            <a:endParaRPr lang="en-US" sz="2000" dirty="0"/>
          </a:p>
        </p:txBody>
      </p:sp>
      <p:sp>
        <p:nvSpPr>
          <p:cNvPr id="11" name="good2-dot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pic>
        <p:nvPicPr>
          <p:cNvPr id="12" name="good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519879"/>
            <a:ext cx="332842" cy="332842"/>
          </a:xfrm>
          <a:prstGeom prst="rect">
            <a:avLst/>
          </a:prstGeom>
        </p:spPr>
      </p:pic>
      <p:sp>
        <p:nvSpPr>
          <p:cNvPr id="13" name="good2-text"/>
          <p:cNvSpPr txBox="1"/>
          <p:nvPr/>
        </p:nvSpPr>
        <p:spPr>
          <a:xfrm>
            <a:off x="1325880" y="4389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52D"/>
                </a:solidFill>
              </a:rPr>
              <a:t>「왜 그렇게 했는지」 기록이 남는다</a:t>
            </a:r>
            <a:endParaRPr lang="en-US" sz="2000" dirty="0"/>
          </a:p>
        </p:txBody>
      </p:sp>
      <p:sp>
        <p:nvSpPr>
          <p:cNvPr id="14" name="limit-head"/>
          <p:cNvSpPr txBox="1"/>
          <p:nvPr/>
        </p:nvSpPr>
        <p:spPr>
          <a:xfrm>
            <a:off x="576072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1A"/>
                </a:solidFill>
              </a:rPr>
              <a:t>한계</a:t>
            </a:r>
            <a:endParaRPr lang="en-US" sz="2200" dirty="0"/>
          </a:p>
        </p:txBody>
      </p:sp>
      <p:sp>
        <p:nvSpPr>
          <p:cNvPr id="15" name="limit0"/>
          <p:cNvSpPr/>
          <p:nvPr/>
        </p:nvSpPr>
        <p:spPr>
          <a:xfrm>
            <a:off x="5760720" y="2194560"/>
            <a:ext cx="5852160" cy="1143000"/>
          </a:xfrm>
          <a:prstGeom prst="roundRect">
            <a:avLst>
              <a:gd name="adj" fmla="val 96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6" name="limit0-num"/>
          <p:cNvSpPr txBox="1"/>
          <p:nvPr/>
        </p:nvSpPr>
        <p:spPr>
          <a:xfrm>
            <a:off x="5943600" y="219456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31A"/>
                </a:solidFill>
              </a:rPr>
              <a:t>36%</a:t>
            </a:r>
            <a:endParaRPr lang="en-US" sz="3200" dirty="0"/>
          </a:p>
        </p:txBody>
      </p:sp>
      <p:sp>
        <p:nvSpPr>
          <p:cNvPr id="17" name="limit0-text"/>
          <p:cNvSpPr txBox="1"/>
          <p:nvPr/>
        </p:nvSpPr>
        <p:spPr>
          <a:xfrm>
            <a:off x="7452360" y="21945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52D"/>
                </a:solidFill>
              </a:rPr>
              <a:t>손이 간다 — 4주간 결정 84건 중 30건이 자동화 고치기·운영</a:t>
            </a:r>
            <a:endParaRPr lang="en-US" sz="1600" dirty="0"/>
          </a:p>
        </p:txBody>
      </p:sp>
      <p:sp>
        <p:nvSpPr>
          <p:cNvPr id="18" name="limit1"/>
          <p:cNvSpPr/>
          <p:nvPr/>
        </p:nvSpPr>
        <p:spPr>
          <a:xfrm>
            <a:off x="5760720" y="3520440"/>
            <a:ext cx="5852160" cy="1143000"/>
          </a:xfrm>
          <a:prstGeom prst="roundRect">
            <a:avLst>
              <a:gd name="adj" fmla="val 96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9" name="limit1-num"/>
          <p:cNvSpPr txBox="1"/>
          <p:nvPr/>
        </p:nvSpPr>
        <p:spPr>
          <a:xfrm>
            <a:off x="5943600" y="352044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31A"/>
                </a:solidFill>
              </a:rPr>
              <a:t>4개</a:t>
            </a:r>
            <a:endParaRPr lang="en-US" sz="3200" dirty="0"/>
          </a:p>
        </p:txBody>
      </p:sp>
      <p:sp>
        <p:nvSpPr>
          <p:cNvPr id="20" name="limit1-text"/>
          <p:cNvSpPr txBox="1"/>
          <p:nvPr/>
        </p:nvSpPr>
        <p:spPr>
          <a:xfrm>
            <a:off x="7452360" y="352044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52D"/>
                </a:solidFill>
              </a:rPr>
              <a:t>효과 없는 자동화는 껐다 — 예: 알림 메일 48통 아무도 안 읽음</a:t>
            </a:r>
            <a:endParaRPr lang="en-US" sz="1600" dirty="0"/>
          </a:p>
        </p:txBody>
      </p:sp>
      <p:sp>
        <p:nvSpPr>
          <p:cNvPr id="21" name="limit2"/>
          <p:cNvSpPr/>
          <p:nvPr/>
        </p:nvSpPr>
        <p:spPr>
          <a:xfrm>
            <a:off x="5760720" y="4846320"/>
            <a:ext cx="5852160" cy="1143000"/>
          </a:xfrm>
          <a:prstGeom prst="roundRect">
            <a:avLst>
              <a:gd name="adj" fmla="val 96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2" name="limit2-num"/>
          <p:cNvSpPr txBox="1"/>
          <p:nvPr/>
        </p:nvSpPr>
        <p:spPr>
          <a:xfrm>
            <a:off x="5943600" y="484632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31A"/>
                </a:solidFill>
              </a:rPr>
              <a:t>사람</a:t>
            </a:r>
            <a:endParaRPr lang="en-US" sz="3200" dirty="0"/>
          </a:p>
        </p:txBody>
      </p:sp>
      <p:sp>
        <p:nvSpPr>
          <p:cNvPr id="23" name="limit2-text"/>
          <p:cNvSpPr txBox="1"/>
          <p:nvPr/>
        </p:nvSpPr>
        <p:spPr>
          <a:xfrm>
            <a:off x="7452360" y="48463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52D"/>
                </a:solidFill>
              </a:rPr>
              <a:t>수치·조건은 AI 가 틀릴 수 있다 — 출처를 붙이고 현장 검증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앞으로의 가능성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대단한 건 아니어도,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매일 쓸 만하다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CAD — 무료 2D CAD 에 연결해 말로 도면 초안 (시험 중)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다른 팀도 바로 — 엑셀 보고 자동화 · 흩어진 자료 정리 · 문서 조사</a:t>
            </a:r>
            <a:endParaRPr lang="en-US" sz="2000" dirty="0"/>
          </a:p>
        </p:txBody>
      </p:sp>
      <p:sp>
        <p:nvSpPr>
          <p:cNvPr id="5" name="end-team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감사합니다  |  생산팀</a:t>
            </a:r>
            <a:endParaRPr lang="en-US" sz="1800" dirty="0"/>
          </a:p>
        </p:txBody>
      </p:sp>
      <p:sp>
        <p:nvSpPr>
          <p:cNvPr id="6" name="end-dot"/>
          <p:cNvSpPr/>
          <p:nvPr/>
        </p:nvSpPr>
        <p:spPr>
          <a:xfrm>
            <a:off x="9052560" y="1554480"/>
            <a:ext cx="2468880" cy="2468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end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1031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생산팀 파일럿">
  <a:themeElements>
    <a:clrScheme name="생산팀 파일럿">
      <a:dk1>
        <a:srgbClr val="1E252D"/>
      </a:dk1>
      <a:lt1>
        <a:srgbClr val="FFFFFF"/>
      </a:lt1>
      <a:dk2>
        <a:srgbClr val="4A5561"/>
      </a:dk2>
      <a:lt2>
        <a:srgbClr val="EEF1F4"/>
      </a:lt2>
      <a:accent1>
        <a:srgbClr val="E8731A"/>
      </a:accent1>
      <a:accent2>
        <a:srgbClr val="2F6F8F"/>
      </a:accent2>
      <a:accent3>
        <a:srgbClr val="8A96A3"/>
      </a:accent3>
      <a:accent4>
        <a:srgbClr val="FBE3CF"/>
      </a:accent4>
      <a:accent5>
        <a:srgbClr val="DCE8EE"/>
      </a:accent5>
      <a:accent6>
        <a:srgbClr val="3C8D5A"/>
      </a:accent6>
      <a:hlink>
        <a:srgbClr val="2F6F8F"/>
      </a:hlink>
      <a:folHlink>
        <a:srgbClr val="4A5561"/>
      </a:folHlink>
    </a:clrScheme>
    <a:fontScheme name="생산팀 파일럿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재연마 현장에 Claude를 붙여 보니 — 생산팀</dc:title>
  <dc:subject>PptxGenJS Presentation</dc:subject>
  <dc:creator>생산팀</dc:creator>
  <cp:lastModifiedBy>생산팀</cp:lastModifiedBy>
  <cp:revision>1</cp:revision>
  <dcterms:created xsi:type="dcterms:W3CDTF">2026-10-16T06:29:19Z</dcterms:created>
  <dcterms:modified xsi:type="dcterms:W3CDTF">2026-10-16T06:29:19Z</dcterms:modified>
</cp:coreProperties>
</file>