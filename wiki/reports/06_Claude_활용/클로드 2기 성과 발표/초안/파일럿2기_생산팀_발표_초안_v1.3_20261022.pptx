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70223bdf-2060-18c2-cbc7-3820ac4265c5}">
          <p14:sldIdLst>
            <p14:sldId id="256"/>
            <p14:sldId id="257"/>
          </p14:sldIdLst>
        </p14:section>
        <p14:section name="01 추진 배경" id="{98c736d6-14dc-2390-d9c5-d042321d8d98}">
          <p14:sldIdLst>
            <p14:sldId id="258"/>
          </p14:sldIdLst>
        </p14:section>
        <p14:section name="① 활용 현황" id="{939fd8ef-0702-6a27-4d10-cdda099b72d5}">
          <p14:sldIdLst>
            <p14:sldId id="259"/>
            <p14:sldId id="260"/>
          </p14:sldIdLst>
        </p14:section>
        <p14:section name="② 자동화 시스템" id="{6ef85a29-37df-b8c9-d5bf-e7ec9f35fb22}">
          <p14:sldIdLst>
            <p14:sldId id="261"/>
            <p14:sldId id="262"/>
            <p14:sldId id="263"/>
          </p14:sldIdLst>
        </p14:section>
        <p14:section name="③ 전후 비교" id="{32225704-1c83-c155-97e9-307d914c4ce1}">
          <p14:sldIdLst>
            <p14:sldId id="264"/>
            <p14:sldId id="265"/>
          </p14:sldIdLst>
        </p14:section>
        <p14:section name="한계와 과제" id="{6340572f-d733-7808-803e-b3c2b2879f78}">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일일보고 월별 생성 건수 (단위: 건)</a:t>
            </a:r>
          </a:p>
        </c:rich>
      </c:tx>
      <c:layout/>
      <c:overlay val="0"/>
    </c:title>
    <c:autoTitleDeleted val="0"/>
    <c:plotArea>
      <c:layout/>
      <c:barChart>
        <c:barDir val="col"/>
        <c:grouping val="stacked"/>
        <c:varyColors val="0"/>
        <c:ser>
          <c:idx val="0"/>
          <c:order val="0"/>
          <c:tx>
            <c:strRef>
              <c:f>Sheet1!$B$1</c:f>
              <c:strCache>
                <c:ptCount val="1"/>
                <c:pt idx="0">
                  <c:v>소급 또는 수동 생성 (6월 9일 일괄 등)</c:v>
                </c:pt>
              </c:strCache>
            </c:strRef>
          </c:tx>
          <c:spPr>
            <a:solidFill>
              <a:srgbClr val="6B7A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(6월 18일부터)</c:v>
                </c:pt>
              </c:strCache>
            </c:strRef>
          </c:tx>
          <c:spPr>
            <a:solidFill>
              <a:srgbClr val="0E7C86"/>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Sheet1!$C$2:$C$8</c:f>
              <c:numCache>
                <c:formatCode>General</c:formatCode>
                <c:ptCount val="7"/>
                <c:pt idx="0">
                  <c:v>0</c:v>
                </c:pt>
                <c:pt idx="1">
                  <c:v>0</c:v>
                </c:pt>
                <c:pt idx="2">
                  <c:v>9</c:v>
                </c:pt>
                <c:pt idx="3">
                  <c:v>22</c:v>
                </c:pt>
                <c:pt idx="4">
                  <c:v>19</c:v>
                </c:pt>
                <c:pt idx="5">
                  <c:v>20</c:v>
                </c:pt>
                <c:pt idx="6">
                  <c:v>14</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자동화 수리와 운영</c:v>
                </c:pt>
              </c:strCache>
            </c:strRef>
          </c:tx>
          <c:spPr>
            <a:solidFill>
              <a:srgbClr val="E8930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Sheet1!$C$2:$C$2</c:f>
              <c:numCache>
                <c:formatCode>General</c:formatCode>
                <c:ptCount val="1"/>
                <c:pt idx="0">
                  <c:v>54</c:v>
                </c:pt>
              </c:numCache>
            </c:numRef>
          </c:val>
        </c:ser>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순서입니다. 공지된 필수 항목 세 가지는 2, 3, 4번에 담았고, 화면 오른쪽 위에 지금 어디인지 표시됩니다.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사람 머릿속에 흩어져 있었고, 일일보고 집계와 투입 판단을 매일 손으로 했습니다. 그래서 세 방향으로 추진했습니다 — 한곳에 기록, 반복은 자동 실행, 판단 근거는 남긴다.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첫 번째 필수 항목, 팀 내 활용 현황입니다. 6개월 동안 재연마 기록 문서 147개와, 무엇을 왜 바꿨는지 남긴 판단 근거 320여 건이 쌓였습니다. 표는 Claude를 쓰는 다섯 가지 일이고, 2기에 새로 맡긴 건 장비 투입 목록과 단가표 검수입니다. 수치에는 출처를 붙여서, 휠 원주속도는 제조사 기준 18에서 22 m/s, 사내 실사용은 실측 2,600에서 3,000 rpm으로 나눠 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이번 달에 새로 쓴 사례입니다. 엔드밀 목 부분을 가늘게 깎는 원통연삭 조건을 잡는 시험인데, 사내 기준이 없었습니다. 장비 PC와 사무 PC를 하나의 프로젝트로 묶어 시험하면서, 제조사 롱넥 제품 31종의 치수로 넥 지름 기준을 잡았습니다. 첫 시험은 넥 시작부에 매번 같은 자리 자국이 남았는데, 제조사 매뉴얼에서 정삭은 항상 시작 쪽 한 곳에서 들어간다는 것을 확인하고 황삭 방식을 바꿔 두 번째 시험에서 자국을 없앴습니다. 아직 공구 두 개 결과라 양산에는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시스템을 들인 게 아니라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(화면을 짚으며) 왼쪽이 매일 자동으로 만들어지는 일일보고 — 16:00 시점 속보값이라 이후 입력분은 다음 날 「전일」 칸과 월 합계에서 확정됩니다 —, 가운데가 사내 현황판, 오른쪽이 장비별 투입 목록입니다. 투입 목록은 현장 의견을 받아 규칙을 여덟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세 번째 필수 항목, 전후 비교입니다. 먼저 일일보고입니다. 전에는 매일 엑셀로 손으로 집계했고, 지금은 아침 7시 50분과 오후 4시에 자동으로 만들어집니다. 회색은 6월 9일에 지난 분을 한꺼번에 만들거나 손으로 만든 것이고, 청록이 그날그날 자동으로 만든 것입니다. 10월 22일 기준 최근 20영업일은 20건 모두 생성됐습니다. 아낀 시간은 하루 15분 이하인데, 정식으로 잰 값이 아니라 경험값입니다.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나머지 항목입니다. 결정 기록 320여 건, 수리 이력 17건, 단가표 1만여 건 대조는 실측으로 확인했습니다. 시간 절약은 경험값으로 따로 표시했습니다. 장비별 투입 목록은 효과를 재는 중인데, 도입 2주와 추석, 장비 수리가 섞여 아직 판단하지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마지막으로 한계입니다. 4주 동안 결정 84건 중 30건이 자동화를 고치는 일이었습니다. 그래서 자동화마다 성적표를 매겨, 알림 메일 48통을 아무도 안 읽은 것처럼 효과 없는 4건은 껐습니다. 정상으로 찍혔는데 결과물이 없던 경우가 있어 판정 기준을 바꿨고, AI 계산은 출처와 신뢰도를 붙여 현장에서 확인합니다. 다음은 11월 4일 자동화 2차 판정과 넥 원통연삭 세 번째 시험입니다.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21792"/>
            <a:ext cx="11064240" cy="658368"/>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b="1" dirty="0">
                <a:solidFill>
                  <a:schemeClr val="accent1"/>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r>
              <a:rPr lang="en-US" sz="1600" b="1" spc="200" kern="0" dirty="0">
                <a:solidFill>
                  <a:schemeClr val="accent5"/>
                </a:solidFill>
              </a:rPr>
              <a:t>TOOLKOREA 생산팀    Claude AI 파일럿 2기 성과 발표</a:t>
            </a: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재연마 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2기(2026. 7 ~ 10) 생산팀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자동화 실행 로그  |  자료 기준일 2026-10-22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목차</a:t>
            </a:r>
            <a:endParaRPr lang="en-US" sz="3600" dirty="0"/>
          </a:p>
        </p:txBody>
      </p:sp>
      <p:sp>
        <p:nvSpPr>
          <p:cNvPr id="3" name="title-rule"/>
          <p:cNvSpPr/>
          <p:nvPr/>
        </p:nvSpPr>
        <p:spPr>
          <a:xfrm>
            <a:off x="548640" y="1810512"/>
            <a:ext cx="11064240" cy="0"/>
          </a:xfrm>
          <a:prstGeom prst="line">
            <a:avLst/>
          </a:prstGeom>
          <a:noFill/>
          <a:ln w="12700">
            <a:solidFill>
              <a:srgbClr val="D9E2EC"/>
            </a:solidFill>
            <a:prstDash val="solid"/>
          </a:ln>
        </p:spPr>
      </p:sp>
      <p:sp>
        <p:nvSpPr>
          <p:cNvPr id="4"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5" name="toc0-n"/>
          <p:cNvSpPr txBox="1"/>
          <p:nvPr/>
        </p:nvSpPr>
        <p:spPr>
          <a:xfrm>
            <a:off x="777240" y="2011680"/>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1</a:t>
            </a:r>
            <a:endParaRPr lang="en-US" sz="2400" dirty="0"/>
          </a:p>
        </p:txBody>
      </p:sp>
      <p:sp>
        <p:nvSpPr>
          <p:cNvPr id="6" name="toc0-t"/>
          <p:cNvSpPr txBox="1"/>
          <p:nvPr/>
        </p:nvSpPr>
        <p:spPr>
          <a:xfrm>
            <a:off x="1645920" y="2011680"/>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추진 배경</a:t>
            </a:r>
            <a:endParaRPr lang="en-US" sz="2000" dirty="0"/>
          </a:p>
        </p:txBody>
      </p:sp>
      <p:sp>
        <p:nvSpPr>
          <p:cNvPr id="7" name="toc0-d"/>
          <p:cNvSpPr txBox="1"/>
          <p:nvPr/>
        </p:nvSpPr>
        <p:spPr>
          <a:xfrm>
            <a:off x="6217920" y="2011680"/>
            <a:ext cx="4023360" cy="676656"/>
          </a:xfrm>
          <a:prstGeom prst="rect">
            <a:avLst/>
          </a:prstGeom>
          <a:noFill/>
          <a:ln/>
        </p:spPr>
        <p:txBody>
          <a:bodyPr wrap="square" lIns="0" tIns="0" rIns="0" bIns="0" rtlCol="0" anchor="ctr"/>
          <a:lstStyle/>
          <a:p>
            <a:pPr indent="0" marL="0">
              <a:buNone/>
            </a:pPr>
            <a:r>
              <a:rPr lang="en-US" sz="1600" dirty="0">
                <a:solidFill>
                  <a:srgbClr val="6B7A88"/>
                </a:solidFill>
              </a:rPr>
              <a:t>도입 전 업무와 추진 방향</a:t>
            </a:r>
            <a:endParaRPr lang="en-US" sz="1600" dirty="0"/>
          </a:p>
        </p:txBody>
      </p:sp>
      <p:sp>
        <p:nvSpPr>
          <p:cNvPr id="8"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9" name="toc1-n"/>
          <p:cNvSpPr txBox="1"/>
          <p:nvPr/>
        </p:nvSpPr>
        <p:spPr>
          <a:xfrm>
            <a:off x="777240" y="2816352"/>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2</a:t>
            </a:r>
            <a:endParaRPr lang="en-US" sz="2400" dirty="0"/>
          </a:p>
        </p:txBody>
      </p:sp>
      <p:sp>
        <p:nvSpPr>
          <p:cNvPr id="10" name="toc1-t"/>
          <p:cNvSpPr txBox="1"/>
          <p:nvPr/>
        </p:nvSpPr>
        <p:spPr>
          <a:xfrm>
            <a:off x="1645920" y="2816352"/>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팀 내 Claude 활용 현황</a:t>
            </a:r>
            <a:endParaRPr lang="en-US" sz="2000" dirty="0"/>
          </a:p>
        </p:txBody>
      </p:sp>
      <p:sp>
        <p:nvSpPr>
          <p:cNvPr id="11" name="toc1-d"/>
          <p:cNvSpPr txBox="1"/>
          <p:nvPr/>
        </p:nvSpPr>
        <p:spPr>
          <a:xfrm>
            <a:off x="6217920" y="2816352"/>
            <a:ext cx="4023360" cy="676656"/>
          </a:xfrm>
          <a:prstGeom prst="rect">
            <a:avLst/>
          </a:prstGeom>
          <a:noFill/>
          <a:ln/>
        </p:spPr>
        <p:txBody>
          <a:bodyPr wrap="square" lIns="0" tIns="0" rIns="0" bIns="0" rtlCol="0" anchor="ctr"/>
          <a:lstStyle/>
          <a:p>
            <a:pPr indent="0" marL="0">
              <a:buNone/>
            </a:pPr>
            <a:r>
              <a:rPr lang="en-US" sz="1600" dirty="0">
                <a:solidFill>
                  <a:srgbClr val="6B7A88"/>
                </a:solidFill>
              </a:rPr>
              <a:t>활용 영역과 현장 사례</a:t>
            </a:r>
            <a:endParaRPr lang="en-US" sz="1600" dirty="0"/>
          </a:p>
        </p:txBody>
      </p:sp>
      <p:sp>
        <p:nvSpPr>
          <p:cNvPr id="12"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①</a:t>
            </a:r>
            <a:endParaRPr lang="en-US" sz="1400" dirty="0"/>
          </a:p>
        </p:txBody>
      </p:sp>
      <p:sp>
        <p:nvSpPr>
          <p:cNvPr id="13"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4" name="toc2-n"/>
          <p:cNvSpPr txBox="1"/>
          <p:nvPr/>
        </p:nvSpPr>
        <p:spPr>
          <a:xfrm>
            <a:off x="777240" y="3621024"/>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3</a:t>
            </a:r>
            <a:endParaRPr lang="en-US" sz="2400" dirty="0"/>
          </a:p>
        </p:txBody>
      </p:sp>
      <p:sp>
        <p:nvSpPr>
          <p:cNvPr id="15" name="toc2-t"/>
          <p:cNvSpPr txBox="1"/>
          <p:nvPr/>
        </p:nvSpPr>
        <p:spPr>
          <a:xfrm>
            <a:off x="1645920" y="3621024"/>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자동화 시스템 소개 및 시연</a:t>
            </a:r>
            <a:endParaRPr lang="en-US" sz="2000" dirty="0"/>
          </a:p>
        </p:txBody>
      </p:sp>
      <p:sp>
        <p:nvSpPr>
          <p:cNvPr id="16" name="toc2-d"/>
          <p:cNvSpPr txBox="1"/>
          <p:nvPr/>
        </p:nvSpPr>
        <p:spPr>
          <a:xfrm>
            <a:off x="6217920" y="3621024"/>
            <a:ext cx="4023360" cy="676656"/>
          </a:xfrm>
          <a:prstGeom prst="rect">
            <a:avLst/>
          </a:prstGeom>
          <a:noFill/>
          <a:ln/>
        </p:spPr>
        <p:txBody>
          <a:bodyPr wrap="square" lIns="0" tIns="0" rIns="0" bIns="0" rtlCol="0" anchor="ctr"/>
          <a:lstStyle/>
          <a:p>
            <a:pPr indent="0" marL="0">
              <a:buNone/>
            </a:pPr>
            <a:r>
              <a:rPr lang="en-US" sz="1600" dirty="0">
                <a:solidFill>
                  <a:srgbClr val="6B7A88"/>
                </a:solidFill>
              </a:rPr>
              <a:t>구성, 실행 화면, 질의응답</a:t>
            </a:r>
            <a:endParaRPr lang="en-US" sz="1600" dirty="0"/>
          </a:p>
        </p:txBody>
      </p:sp>
      <p:sp>
        <p:nvSpPr>
          <p:cNvPr id="17"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②</a:t>
            </a:r>
            <a:endParaRPr lang="en-US" sz="1400" dirty="0"/>
          </a:p>
        </p:txBody>
      </p:sp>
      <p:sp>
        <p:nvSpPr>
          <p:cNvPr id="18"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19" name="toc3-n"/>
          <p:cNvSpPr txBox="1"/>
          <p:nvPr/>
        </p:nvSpPr>
        <p:spPr>
          <a:xfrm>
            <a:off x="777240" y="4425696"/>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4</a:t>
            </a:r>
            <a:endParaRPr lang="en-US" sz="2400" dirty="0"/>
          </a:p>
        </p:txBody>
      </p:sp>
      <p:sp>
        <p:nvSpPr>
          <p:cNvPr id="20" name="toc3-t"/>
          <p:cNvSpPr txBox="1"/>
          <p:nvPr/>
        </p:nvSpPr>
        <p:spPr>
          <a:xfrm>
            <a:off x="1645920" y="4425696"/>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업무 적용 전후 비교</a:t>
            </a:r>
            <a:endParaRPr lang="en-US" sz="2000" dirty="0"/>
          </a:p>
        </p:txBody>
      </p:sp>
      <p:sp>
        <p:nvSpPr>
          <p:cNvPr id="21" name="toc3-d"/>
          <p:cNvSpPr txBox="1"/>
          <p:nvPr/>
        </p:nvSpPr>
        <p:spPr>
          <a:xfrm>
            <a:off x="6217920" y="4425696"/>
            <a:ext cx="4023360" cy="676656"/>
          </a:xfrm>
          <a:prstGeom prst="rect">
            <a:avLst/>
          </a:prstGeom>
          <a:noFill/>
          <a:ln/>
        </p:spPr>
        <p:txBody>
          <a:bodyPr wrap="square" lIns="0" tIns="0" rIns="0" bIns="0" rtlCol="0" anchor="ctr"/>
          <a:lstStyle/>
          <a:p>
            <a:pPr indent="0" marL="0">
              <a:buNone/>
            </a:pPr>
            <a:r>
              <a:rPr lang="en-US" sz="1600" dirty="0">
                <a:solidFill>
                  <a:srgbClr val="6B7A88"/>
                </a:solidFill>
              </a:rPr>
              <a:t>일일보고와 항목별 전후 비교</a:t>
            </a:r>
            <a:endParaRPr lang="en-US" sz="1600" dirty="0"/>
          </a:p>
        </p:txBody>
      </p:sp>
      <p:sp>
        <p:nvSpPr>
          <p:cNvPr id="22"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③</a:t>
            </a:r>
            <a:endParaRPr lang="en-US" sz="1400" dirty="0"/>
          </a:p>
        </p:txBody>
      </p:sp>
      <p:sp>
        <p:nvSpPr>
          <p:cNvPr id="23"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4" name="toc4-n"/>
          <p:cNvSpPr txBox="1"/>
          <p:nvPr/>
        </p:nvSpPr>
        <p:spPr>
          <a:xfrm>
            <a:off x="777240" y="5230368"/>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5</a:t>
            </a:r>
            <a:endParaRPr lang="en-US" sz="2400" dirty="0"/>
          </a:p>
        </p:txBody>
      </p:sp>
      <p:sp>
        <p:nvSpPr>
          <p:cNvPr id="25" name="toc4-t"/>
          <p:cNvSpPr txBox="1"/>
          <p:nvPr/>
        </p:nvSpPr>
        <p:spPr>
          <a:xfrm>
            <a:off x="1645920" y="5230368"/>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한계와 향후 과제</a:t>
            </a:r>
            <a:endParaRPr lang="en-US" sz="2000" dirty="0"/>
          </a:p>
        </p:txBody>
      </p:sp>
      <p:sp>
        <p:nvSpPr>
          <p:cNvPr id="26" name="toc4-d"/>
          <p:cNvSpPr txBox="1"/>
          <p:nvPr/>
        </p:nvSpPr>
        <p:spPr>
          <a:xfrm>
            <a:off x="6217920" y="5230368"/>
            <a:ext cx="4023360" cy="676656"/>
          </a:xfrm>
          <a:prstGeom prst="rect">
            <a:avLst/>
          </a:prstGeom>
          <a:noFill/>
          <a:ln/>
        </p:spPr>
        <p:txBody>
          <a:bodyPr wrap="square" lIns="0" tIns="0" rIns="0" bIns="0" rtlCol="0" anchor="ctr"/>
          <a:lstStyle/>
          <a:p>
            <a:pPr indent="0" marL="0">
              <a:buNone/>
            </a:pPr>
            <a:r>
              <a:rPr lang="en-US" sz="1600" dirty="0">
                <a:solidFill>
                  <a:srgbClr val="6B7A88"/>
                </a:solidFill>
              </a:rPr>
              <a:t>운영하며 확인한 한계와 다음 과제</a:t>
            </a:r>
            <a:endParaRPr lang="en-US" sz="1600" dirty="0"/>
          </a:p>
        </p:txBody>
      </p:sp>
      <p:sp>
        <p:nvSpPr>
          <p:cNvPr id="2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추진 배경</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일일보고 집계와 장비 투입 판단을 매일 손으로 처리</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src0-cap"/>
          <p:cNvSpPr txBox="1"/>
          <p:nvPr/>
        </p:nvSpPr>
        <p:spPr>
          <a:xfrm>
            <a:off x="548640" y="1965960"/>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하루 1시트씩 손으로 입력하던 월간생산일지 엑셀</a:t>
            </a:r>
            <a:endParaRPr lang="en-US" sz="1300" dirty="0"/>
          </a:p>
        </p:txBody>
      </p:sp>
      <p:pic>
        <p:nvPicPr>
          <p:cNvPr id="11" name="src0-img" descr="재연마 월간생산일지 엑셀 화면 (10-16 시트, 금액 열 숨김)">    </p:cNvPr>
          <p:cNvPicPr>
            <a:picLocks noChangeAspect="1"/>
          </p:cNvPicPr>
          <p:nvPr/>
        </p:nvPicPr>
        <p:blipFill>
          <a:blip r:embed="rId1"/>
          <a:stretch>
            <a:fillRect/>
          </a:stretch>
        </p:blipFill>
        <p:spPr>
          <a:xfrm>
            <a:off x="548640" y="2286000"/>
            <a:ext cx="4572000" cy="1569386"/>
          </a:xfrm>
          <a:prstGeom prst="rect">
            <a:avLst/>
          </a:prstGeom>
        </p:spPr>
      </p:pic>
      <p:sp>
        <p:nvSpPr>
          <p:cNvPr id="12" name="src0-frame"/>
          <p:cNvSpPr/>
          <p:nvPr/>
        </p:nvSpPr>
        <p:spPr>
          <a:xfrm>
            <a:off x="548640" y="2286000"/>
            <a:ext cx="4572000" cy="1569386"/>
          </a:xfrm>
          <a:prstGeom prst="rect">
            <a:avLst/>
          </a:prstGeom>
          <a:ln w="9525">
            <a:solidFill>
              <a:srgbClr val="D9E2EC"/>
            </a:solidFill>
            <a:prstDash val="solid"/>
          </a:ln>
        </p:spPr>
      </p:sp>
      <p:sp>
        <p:nvSpPr>
          <p:cNvPr id="13" name="src1-cap"/>
          <p:cNvSpPr txBox="1"/>
          <p:nvPr/>
        </p:nvSpPr>
        <p:spPr>
          <a:xfrm>
            <a:off x="548640" y="4041648"/>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장비마다 따로 보관하던 수리 발주서 PDF</a:t>
            </a:r>
            <a:endParaRPr lang="en-US" sz="1300" dirty="0"/>
          </a:p>
        </p:txBody>
      </p:sp>
      <p:pic>
        <p:nvPicPr>
          <p:cNvPr id="14" name="src1-img" descr="장비 수리 발주서 PDF (연락처·주소 흐림 처리)">    </p:cNvPr>
          <p:cNvPicPr>
            <a:picLocks noChangeAspect="1"/>
          </p:cNvPicPr>
          <p:nvPr/>
        </p:nvPicPr>
        <p:blipFill>
          <a:blip r:embed="rId2"/>
          <a:stretch>
            <a:fillRect/>
          </a:stretch>
        </p:blipFill>
        <p:spPr>
          <a:xfrm>
            <a:off x="548640" y="4361688"/>
            <a:ext cx="3474720" cy="1737360"/>
          </a:xfrm>
          <a:prstGeom prst="rect">
            <a:avLst/>
          </a:prstGeom>
        </p:spPr>
      </p:pic>
      <p:sp>
        <p:nvSpPr>
          <p:cNvPr id="15" name="src1-frame"/>
          <p:cNvSpPr/>
          <p:nvPr/>
        </p:nvSpPr>
        <p:spPr>
          <a:xfrm>
            <a:off x="548640" y="4361688"/>
            <a:ext cx="3474720" cy="1737360"/>
          </a:xfrm>
          <a:prstGeom prst="rect">
            <a:avLst/>
          </a:prstGeom>
          <a:ln w="9525">
            <a:solidFill>
              <a:srgbClr val="D9E2EC"/>
            </a:solidFill>
            <a:prstDash val="solid"/>
          </a:ln>
        </p:spPr>
      </p:sp>
      <p:sp>
        <p:nvSpPr>
          <p:cNvPr id="16"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7" name="asis-h"/>
          <p:cNvSpPr txBox="1"/>
          <p:nvPr/>
        </p:nvSpPr>
        <p:spPr>
          <a:xfrm>
            <a:off x="5623560" y="2057400"/>
            <a:ext cx="5760720" cy="365760"/>
          </a:xfrm>
          <a:prstGeom prst="rect">
            <a:avLst/>
          </a:prstGeom>
          <a:noFill/>
          <a:ln/>
        </p:spPr>
        <p:txBody>
          <a:bodyPr wrap="square" lIns="0" tIns="0" rIns="0" bIns="0" rtlCol="0" anchor="ctr"/>
          <a:lstStyle/>
          <a:p>
            <a:pPr indent="0" marL="0">
              <a:buNone/>
            </a:pPr>
            <a:r>
              <a:rPr lang="en-US" sz="1700" b="1" dirty="0">
                <a:solidFill>
                  <a:srgbClr val="3A506B"/>
                </a:solidFill>
              </a:rPr>
              <a:t>도입 전</a:t>
            </a:r>
            <a:endParaRPr lang="en-US" sz="1700" dirty="0"/>
          </a:p>
        </p:txBody>
      </p:sp>
      <p:sp>
        <p:nvSpPr>
          <p:cNvPr id="18"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일일보고는 매일 엑셀로 손집계</a:t>
            </a:r>
            <a:endParaRPr lang="en-US" sz="1700" dirty="0"/>
          </a:p>
          <a:p>
            <a:pPr marL="342900" indent="-342900">
              <a:spcAft>
                <a:spcPts val="600"/>
              </a:spcAft>
              <a:buSzPct val="100000"/>
              <a:buChar char="•"/>
            </a:pPr>
            <a:r>
              <a:rPr lang="en-US" sz="1700" dirty="0">
                <a:solidFill>
                  <a:srgbClr val="2C3E50"/>
                </a:solidFill>
              </a:rPr>
              <a:t>장비 투입 순서는 담당자 경험으로 결정</a:t>
            </a:r>
            <a:endParaRPr lang="en-US" sz="1700" dirty="0"/>
          </a:p>
          <a:p>
            <a:pPr marL="342900" indent="-342900">
              <a:spcAft>
                <a:spcPts val="600"/>
              </a:spcAft>
              <a:buSzPct val="100000"/>
              <a:buChar char="•"/>
            </a:pPr>
            <a:r>
              <a:rPr lang="en-US" sz="1700" dirty="0">
                <a:solidFill>
                  <a:srgbClr val="2C3E50"/>
                </a:solidFill>
              </a:rPr>
              <a:t>조건을 바꾼 이유와 고장 처리 경위는 기록 없음</a:t>
            </a:r>
            <a:endParaRPr lang="en-US" sz="1700" dirty="0"/>
          </a:p>
        </p:txBody>
      </p:sp>
      <p:sp>
        <p:nvSpPr>
          <p:cNvPr id="19"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20"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21" name="tobe-h"/>
          <p:cNvSpPr txBox="1"/>
          <p:nvPr/>
        </p:nvSpPr>
        <p:spPr>
          <a:xfrm>
            <a:off x="5623560" y="4480560"/>
            <a:ext cx="5760720" cy="365760"/>
          </a:xfrm>
          <a:prstGeom prst="rect">
            <a:avLst/>
          </a:prstGeom>
          <a:noFill/>
          <a:ln/>
        </p:spPr>
        <p:txBody>
          <a:bodyPr wrap="square" lIns="0" tIns="0" rIns="0" bIns="0" rtlCol="0" anchor="ctr"/>
          <a:lstStyle/>
          <a:p>
            <a:pPr indent="0" marL="0">
              <a:buNone/>
            </a:pPr>
            <a:r>
              <a:rPr lang="en-US" sz="1700" b="1" dirty="0">
                <a:solidFill>
                  <a:srgbClr val="0E7C86"/>
                </a:solidFill>
              </a:rPr>
              <a:t>추진 방향</a:t>
            </a:r>
            <a:endParaRPr lang="en-US" sz="1700" dirty="0"/>
          </a:p>
        </p:txBody>
      </p:sp>
      <p:sp>
        <p:nvSpPr>
          <p:cNvPr id="22"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출처와 신뢰도를 붙여 사내 위키에 기록</a:t>
            </a:r>
            <a:endParaRPr lang="en-US" sz="1700" dirty="0"/>
          </a:p>
          <a:p>
            <a:pPr marL="342900" indent="-342900">
              <a:spcAft>
                <a:spcPts val="400"/>
              </a:spcAft>
              <a:buSzPct val="100000"/>
              <a:buChar char="•"/>
            </a:pPr>
            <a:r>
              <a:rPr lang="en-US" sz="1700" dirty="0">
                <a:solidFill>
                  <a:srgbClr val="2C3E50"/>
                </a:solidFill>
              </a:rPr>
              <a:t>반복 집계는 업무 PC 예약 실행으로</a:t>
            </a:r>
            <a:endParaRPr lang="en-US" sz="1700" dirty="0"/>
          </a:p>
          <a:p>
            <a:pPr marL="342900" indent="-342900">
              <a:spcAft>
                <a:spcPts val="400"/>
              </a:spcAft>
              <a:buSzPct val="100000"/>
              <a:buChar char="•"/>
            </a:pPr>
            <a:r>
              <a:rPr lang="en-US" sz="1700" dirty="0">
                <a:solidFill>
                  <a:srgbClr val="2C3E50"/>
                </a:solidFill>
              </a:rPr>
              <a:t>기존 값은 지우지 않고 이력으로 보존</a:t>
            </a:r>
            <a:endParaRPr lang="en-US" sz="1700" dirty="0"/>
          </a:p>
        </p:txBody>
      </p:sp>
      <p:sp>
        <p:nvSpPr>
          <p:cNvPr id="2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재연마 장비는 ANCA FastGrind와 GX7 2대</a:t>
            </a:r>
            <a:endParaRPr lang="en-US" sz="1200" dirty="0"/>
          </a:p>
        </p:txBody>
      </p:sp>
      <p:sp>
        <p:nvSpPr>
          <p:cNvPr id="25"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팀 내 활용 현황 (1/2)</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6개월 동안 재연마 기록 문서 147개 작성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5" name="are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1920240"/>
                <a:gridCol w="5394960"/>
                <a:gridCol w="3749040"/>
              </a:tblGrid>
              <a:tr h="420624">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지식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 휠, 연삭 조건, 수리 이력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문서 147개와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매일 07:50과 16:00에 일일보고와 현황판 생성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136건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 기준으로 장비별 투입 순서 작성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09-28부터 쓰며 규칙 8번 수정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읽기, ERP 조회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수리 검토보고,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F와 GX7 로더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1" name="area-etc"/>
          <p:cNvSpPr txBox="1"/>
          <p:nvPr/>
        </p:nvSpPr>
        <p:spPr>
          <a:xfrm>
            <a:off x="548640" y="5349240"/>
            <a:ext cx="11064240" cy="329184"/>
          </a:xfrm>
          <a:prstGeom prst="rect">
            <a:avLst/>
          </a:prstGeom>
          <a:noFill/>
          <a:ln/>
        </p:spPr>
        <p:txBody>
          <a:bodyPr wrap="square" lIns="0" tIns="0" rIns="0" bIns="0" rtlCol="0" anchor="ctr"/>
          <a:lstStyle/>
          <a:p>
            <a:pPr indent="0" marL="0">
              <a:buNone/>
            </a:pPr>
            <a:r>
              <a:rPr lang="en-US" sz="1700" b="1" dirty="0">
                <a:solidFill>
                  <a:srgbClr val="1F2A36"/>
                </a:solidFill>
              </a:rPr>
              <a:t>판단 근거 기록 320여 건과 Python 자동화 스크립트 59개</a:t>
            </a:r>
            <a:endParaRPr lang="en-US" sz="1700" dirty="0"/>
          </a:p>
        </p:txBody>
      </p:sp>
      <p:sp>
        <p:nvSpPr>
          <p:cNvPr id="12" name="area-src"/>
          <p:cNvSpPr txBox="1"/>
          <p:nvPr/>
        </p:nvSpPr>
        <p:spPr>
          <a:xfrm>
            <a:off x="548640" y="5715000"/>
            <a:ext cx="11064240" cy="329184"/>
          </a:xfrm>
          <a:prstGeom prst="rect">
            <a:avLst/>
          </a:prstGeom>
          <a:noFill/>
          <a:ln/>
        </p:spPr>
        <p:txBody>
          <a:bodyPr wrap="square" lIns="0" tIns="0" rIns="0" bIns="0" rtlCol="0" anchor="ctr"/>
          <a:lstStyle/>
          <a:p>
            <a:pPr indent="0" marL="0">
              <a:buNone/>
            </a:pPr>
            <a:r>
              <a:rPr lang="en-US" sz="1500" dirty="0">
                <a:solidFill>
                  <a:srgbClr val="3A506B"/>
                </a:solidFill>
              </a:rPr>
              <a:t>수치마다 출처 표기. 예: 휠 원주속도 18 ~ 22 m/s [제조사 기준] / 사내 실사용 2,600 ~ 3,000 rpm [실측]</a:t>
            </a:r>
            <a:endParaRPr lang="en-US" sz="1500" dirty="0"/>
          </a:p>
        </p:txBody>
      </p:sp>
      <p:sp>
        <p:nvSpPr>
          <p:cNvPr id="1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투입 목록과 단가표 검수는 2기에 새로 시작  |  자료 기준일 2026-10-22</a:t>
            </a:r>
            <a:endParaRPr lang="en-US" sz="1200" dirty="0"/>
          </a:p>
        </p:txBody>
      </p:sp>
      <p:sp>
        <p:nvSpPr>
          <p:cNvPr id="15"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팀 내 활용 현황 (2/2) 현장 사례</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넥 원통연삭 두 번째 시험에서 넥 시작부 자국 해결</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step0"/>
          <p:cNvSpPr/>
          <p:nvPr/>
        </p:nvSpPr>
        <p:spPr>
          <a:xfrm>
            <a:off x="548640" y="1965960"/>
            <a:ext cx="5120640" cy="914400"/>
          </a:xfrm>
          <a:prstGeom prst="rect">
            <a:avLst/>
          </a:prstGeom>
          <a:solidFill>
            <a:srgbClr val="F4F6F8"/>
          </a:solidFill>
          <a:ln w="9525">
            <a:solidFill>
              <a:srgbClr val="D9E2EC"/>
            </a:solidFill>
            <a:prstDash val="solid"/>
          </a:ln>
        </p:spPr>
      </p:sp>
      <p:sp>
        <p:nvSpPr>
          <p:cNvPr id="11" name="step0-n"/>
          <p:cNvSpPr txBox="1"/>
          <p:nvPr/>
        </p:nvSpPr>
        <p:spPr>
          <a:xfrm>
            <a:off x="685800" y="196596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10-19 ~ 20</a:t>
            </a:r>
            <a:endParaRPr lang="en-US" sz="1600" dirty="0"/>
          </a:p>
        </p:txBody>
      </p:sp>
      <p:sp>
        <p:nvSpPr>
          <p:cNvPr id="12" name="step0-t"/>
          <p:cNvSpPr txBox="1"/>
          <p:nvPr/>
        </p:nvSpPr>
        <p:spPr>
          <a:xfrm>
            <a:off x="1965960" y="2011680"/>
            <a:ext cx="3611880" cy="822960"/>
          </a:xfrm>
          <a:prstGeom prst="rect">
            <a:avLst/>
          </a:prstGeom>
          <a:noFill/>
          <a:ln/>
        </p:spPr>
        <p:txBody>
          <a:bodyPr wrap="square" lIns="0" tIns="0" rIns="0" bIns="0" rtlCol="0" anchor="ctr"/>
          <a:lstStyle/>
          <a:p>
            <a:pPr indent="0" marL="0">
              <a:buNone/>
            </a:pPr>
            <a:r>
              <a:rPr lang="en-US" sz="1700" dirty="0">
                <a:solidFill>
                  <a:srgbClr val="2C3E50"/>
                </a:solidFill>
              </a:rPr>
              <a:t>테스트 1 정삭만 4회 가공에서 넥 시작부 같은 자리 자국 반복</a:t>
            </a:r>
            <a:endParaRPr lang="en-US" sz="1700" dirty="0"/>
          </a:p>
        </p:txBody>
      </p:sp>
      <p:sp>
        <p:nvSpPr>
          <p:cNvPr id="13" name="step1"/>
          <p:cNvSpPr/>
          <p:nvPr/>
        </p:nvSpPr>
        <p:spPr>
          <a:xfrm>
            <a:off x="548640" y="3017520"/>
            <a:ext cx="5120640" cy="914400"/>
          </a:xfrm>
          <a:prstGeom prst="rect">
            <a:avLst/>
          </a:prstGeom>
          <a:solidFill>
            <a:srgbClr val="FFFFFF"/>
          </a:solidFill>
          <a:ln w="9525">
            <a:solidFill>
              <a:srgbClr val="D9E2EC"/>
            </a:solidFill>
            <a:prstDash val="solid"/>
          </a:ln>
        </p:spPr>
      </p:sp>
      <p:sp>
        <p:nvSpPr>
          <p:cNvPr id="14" name="step1-n"/>
          <p:cNvSpPr txBox="1"/>
          <p:nvPr/>
        </p:nvSpPr>
        <p:spPr>
          <a:xfrm>
            <a:off x="685800" y="301752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10-20</a:t>
            </a:r>
            <a:endParaRPr lang="en-US" sz="1600" dirty="0"/>
          </a:p>
        </p:txBody>
      </p:sp>
      <p:sp>
        <p:nvSpPr>
          <p:cNvPr id="15" name="step1-t"/>
          <p:cNvSpPr txBox="1"/>
          <p:nvPr/>
        </p:nvSpPr>
        <p:spPr>
          <a:xfrm>
            <a:off x="1965960" y="3063240"/>
            <a:ext cx="3611880" cy="822960"/>
          </a:xfrm>
          <a:prstGeom prst="rect">
            <a:avLst/>
          </a:prstGeom>
          <a:noFill/>
          <a:ln/>
        </p:spPr>
        <p:txBody>
          <a:bodyPr wrap="square" lIns="0" tIns="0" rIns="0" bIns="0" rtlCol="0" anchor="ctr"/>
          <a:lstStyle/>
          <a:p>
            <a:pPr indent="0" marL="0">
              <a:buNone/>
            </a:pPr>
            <a:r>
              <a:rPr lang="en-US" sz="1700" dirty="0">
                <a:solidFill>
                  <a:srgbClr val="2C3E50"/>
                </a:solidFill>
              </a:rPr>
              <a:t>제조사 롱넥 31품목 치수로 넥 기준 dn = 0.96 × D 설정</a:t>
            </a:r>
            <a:endParaRPr lang="en-US" sz="1700" dirty="0"/>
          </a:p>
        </p:txBody>
      </p:sp>
      <p:sp>
        <p:nvSpPr>
          <p:cNvPr id="16" name="step2"/>
          <p:cNvSpPr/>
          <p:nvPr/>
        </p:nvSpPr>
        <p:spPr>
          <a:xfrm>
            <a:off x="548640" y="4069080"/>
            <a:ext cx="5120640" cy="914400"/>
          </a:xfrm>
          <a:prstGeom prst="rect">
            <a:avLst/>
          </a:prstGeom>
          <a:solidFill>
            <a:srgbClr val="F4F6F8"/>
          </a:solidFill>
          <a:ln w="9525">
            <a:solidFill>
              <a:srgbClr val="D9E2EC"/>
            </a:solidFill>
            <a:prstDash val="solid"/>
          </a:ln>
        </p:spPr>
      </p:sp>
      <p:sp>
        <p:nvSpPr>
          <p:cNvPr id="17" name="step2-n"/>
          <p:cNvSpPr txBox="1"/>
          <p:nvPr/>
        </p:nvSpPr>
        <p:spPr>
          <a:xfrm>
            <a:off x="685800" y="406908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10-20 오후</a:t>
            </a:r>
            <a:endParaRPr lang="en-US" sz="1600" dirty="0"/>
          </a:p>
        </p:txBody>
      </p:sp>
      <p:sp>
        <p:nvSpPr>
          <p:cNvPr id="18" name="step2-t"/>
          <p:cNvSpPr txBox="1"/>
          <p:nvPr/>
        </p:nvSpPr>
        <p:spPr>
          <a:xfrm>
            <a:off x="1965960" y="4114800"/>
            <a:ext cx="3611880" cy="822960"/>
          </a:xfrm>
          <a:prstGeom prst="rect">
            <a:avLst/>
          </a:prstGeom>
          <a:noFill/>
          <a:ln/>
        </p:spPr>
        <p:txBody>
          <a:bodyPr wrap="square" lIns="0" tIns="0" rIns="0" bIns="0" rtlCol="0" anchor="ctr"/>
          <a:lstStyle/>
          <a:p>
            <a:pPr indent="0" marL="0">
              <a:buNone/>
            </a:pPr>
            <a:r>
              <a:rPr lang="en-US" sz="1700" dirty="0">
                <a:solidFill>
                  <a:srgbClr val="2C3E50"/>
                </a:solidFill>
              </a:rPr>
              <a:t>테스트 2 황삭을 대각선 진입으로 바꿔 자국 없앰</a:t>
            </a:r>
            <a:endParaRPr lang="en-US" sz="1700" dirty="0"/>
          </a:p>
        </p:txBody>
      </p:sp>
      <p:sp>
        <p:nvSpPr>
          <p:cNvPr id="19" name="step3"/>
          <p:cNvSpPr/>
          <p:nvPr/>
        </p:nvSpPr>
        <p:spPr>
          <a:xfrm>
            <a:off x="548640" y="5120640"/>
            <a:ext cx="5120640" cy="914400"/>
          </a:xfrm>
          <a:prstGeom prst="rect">
            <a:avLst/>
          </a:prstGeom>
          <a:solidFill>
            <a:srgbClr val="FFFFFF"/>
          </a:solidFill>
          <a:ln w="9525">
            <a:solidFill>
              <a:srgbClr val="D9E2EC"/>
            </a:solidFill>
            <a:prstDash val="solid"/>
          </a:ln>
        </p:spPr>
      </p:sp>
      <p:sp>
        <p:nvSpPr>
          <p:cNvPr id="20" name="step3-n"/>
          <p:cNvSpPr txBox="1"/>
          <p:nvPr/>
        </p:nvSpPr>
        <p:spPr>
          <a:xfrm>
            <a:off x="685800" y="512064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10-21</a:t>
            </a:r>
            <a:endParaRPr lang="en-US" sz="1600" dirty="0"/>
          </a:p>
        </p:txBody>
      </p:sp>
      <p:sp>
        <p:nvSpPr>
          <p:cNvPr id="21" name="step3-t"/>
          <p:cNvSpPr txBox="1"/>
          <p:nvPr/>
        </p:nvSpPr>
        <p:spPr>
          <a:xfrm>
            <a:off x="1965960" y="5166360"/>
            <a:ext cx="3611880" cy="822960"/>
          </a:xfrm>
          <a:prstGeom prst="rect">
            <a:avLst/>
          </a:prstGeom>
          <a:noFill/>
          <a:ln/>
        </p:spPr>
        <p:txBody>
          <a:bodyPr wrap="square" lIns="0" tIns="0" rIns="0" bIns="0" rtlCol="0" anchor="ctr"/>
          <a:lstStyle/>
          <a:p>
            <a:pPr indent="0" marL="0">
              <a:buNone/>
            </a:pPr>
            <a:r>
              <a:rPr lang="en-US" sz="1700" dirty="0">
                <a:solidFill>
                  <a:srgbClr val="2C3E50"/>
                </a:solidFill>
              </a:rPr>
              <a:t>제조사 매뉴얼 원문으로 원인 확인 후 결과 보고서 작성</a:t>
            </a:r>
            <a:endParaRPr lang="en-US" sz="1700" dirty="0"/>
          </a:p>
        </p:txBody>
      </p:sp>
      <p:sp>
        <p:nvSpPr>
          <p:cNvPr id="22" name="case-fig-cap"/>
          <p:cNvSpPr txBox="1"/>
          <p:nvPr/>
        </p:nvSpPr>
        <p:spPr>
          <a:xfrm>
            <a:off x="5943600" y="1965960"/>
            <a:ext cx="5669280" cy="292608"/>
          </a:xfrm>
          <a:prstGeom prst="rect">
            <a:avLst/>
          </a:prstGeom>
          <a:noFill/>
          <a:ln/>
        </p:spPr>
        <p:txBody>
          <a:bodyPr wrap="square" lIns="0" tIns="0" rIns="0" bIns="0" rtlCol="0" anchor="ctr"/>
          <a:lstStyle/>
          <a:p>
            <a:pPr indent="0" marL="0">
              <a:buNone/>
            </a:pPr>
            <a:r>
              <a:rPr lang="en-US" sz="1300" b="1" dirty="0">
                <a:solidFill>
                  <a:srgbClr val="3A506B"/>
                </a:solidFill>
              </a:rPr>
              <a:t>그림 1. 넥 지름 측정값과 허용 범위 (실측)</a:t>
            </a:r>
            <a:endParaRPr lang="en-US" sz="1300" dirty="0"/>
          </a:p>
        </p:txBody>
      </p:sp>
      <p:pic>
        <p:nvPicPr>
          <p:cNvPr id="23" name="case-fig" descr="테스트 1, 2 넥 지름 측정값과 허용 범위 그래프">    </p:cNvPr>
          <p:cNvPicPr>
            <a:picLocks noChangeAspect="1"/>
          </p:cNvPicPr>
          <p:nvPr/>
        </p:nvPicPr>
        <p:blipFill>
          <a:blip r:embed="rId1"/>
          <a:stretch>
            <a:fillRect/>
          </a:stretch>
        </p:blipFill>
        <p:spPr>
          <a:xfrm>
            <a:off x="5943600" y="2286000"/>
            <a:ext cx="5669280" cy="2834640"/>
          </a:xfrm>
          <a:prstGeom prst="rect">
            <a:avLst/>
          </a:prstGeom>
        </p:spPr>
      </p:pic>
      <p:sp>
        <p:nvSpPr>
          <p:cNvPr id="24" name="case-fig-frame"/>
          <p:cNvSpPr/>
          <p:nvPr/>
        </p:nvSpPr>
        <p:spPr>
          <a:xfrm>
            <a:off x="5943600" y="2286000"/>
            <a:ext cx="5669280" cy="2834640"/>
          </a:xfrm>
          <a:prstGeom prst="rect">
            <a:avLst/>
          </a:prstGeom>
          <a:ln w="9525">
            <a:solidFill>
              <a:srgbClr val="D9E2EC"/>
            </a:solidFill>
            <a:prstDash val="solid"/>
          </a:ln>
        </p:spPr>
      </p:sp>
      <p:graphicFrame>
        <p:nvGraphicFramePr>
          <p:cNvPr id="6" name="case-table"/>
          <p:cNvGraphicFramePr>
            <a:graphicFrameLocks noGrp="1"/>
          </p:cNvGraphicFramePr>
          <p:nvPr>
            <p:extLst>
              <p:ext uri="{D42A27DB-BD31-4B8C-83A1-F6EECF244321}">
                <p14:modId xmlns:p14="http://schemas.microsoft.com/office/powerpoint/2010/main" val="1579011935"/>
              </p:ext>
            </p:extLst>
          </p:nvPr>
        </p:nvGraphicFramePr>
        <p:xfrm>
          <a:off x="5943600" y="5257800"/>
          <a:ext cx="5669280" cy="914400"/>
        </p:xfrm>
        <a:graphic>
          <a:graphicData uri="http://schemas.openxmlformats.org/drawingml/2006/table">
            <a:tbl>
              <a:tblPr/>
              <a:tblGrid>
                <a:gridCol w="1463040"/>
                <a:gridCol w="1920240"/>
                <a:gridCol w="2286000"/>
              </a:tblGrid>
              <a:tr h="347472">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항목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1 정삭만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2 황삭 대각선</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넥 시작부 자국</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매번 같은 자리에 생김</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없음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치수 판정</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합격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보류 (0.01 mm 굵음)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2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공구 1 ~ 2개 시험값으로 양산 미적용  |  자료 기준일 2026-10-21</a:t>
            </a:r>
            <a:endParaRPr lang="en-US" sz="1200" dirty="0"/>
          </a:p>
        </p:txBody>
      </p:sp>
      <p:sp>
        <p:nvSpPr>
          <p:cNvPr id="2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(1/3) 구성</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기존 엑셀과 ERP를 그대로 읽어 업무 PC가 정해진 시각에 실행</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11"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읽는 자료</a:t>
            </a:r>
            <a:endParaRPr lang="en-US" sz="1700" dirty="0"/>
          </a:p>
        </p:txBody>
      </p:sp>
      <p:sp>
        <p:nvSpPr>
          <p:cNvPr id="12"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13"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수주와 A/S 조회</a:t>
            </a:r>
            <a:endParaRPr lang="en-US" sz="1700" dirty="0"/>
          </a:p>
        </p:txBody>
      </p:sp>
      <p:sp>
        <p:nvSpPr>
          <p:cNvPr id="14"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15"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월간생산일지 엑셀</a:t>
            </a:r>
            <a:endParaRPr lang="en-US" sz="1700" dirty="0"/>
          </a:p>
        </p:txBody>
      </p:sp>
      <p:sp>
        <p:nvSpPr>
          <p:cNvPr id="16"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7"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8"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9"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업무 PC</a:t>
            </a:r>
            <a:endParaRPr lang="en-US" sz="1700" dirty="0"/>
          </a:p>
        </p:txBody>
      </p:sp>
      <p:sp>
        <p:nvSpPr>
          <p:cNvPr id="20"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21"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07:50과 16:00</a:t>
            </a:r>
            <a:endParaRPr lang="en-US" sz="1700" dirty="0"/>
          </a:p>
        </p:txBody>
      </p:sp>
      <p:sp>
        <p:nvSpPr>
          <p:cNvPr id="22"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23"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스크립트로 집계, 대조, 배정</a:t>
            </a:r>
            <a:endParaRPr lang="en-US" sz="1700" dirty="0"/>
          </a:p>
        </p:txBody>
      </p:sp>
      <p:sp>
        <p:nvSpPr>
          <p:cNvPr id="24"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25"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Claude가 스크립트 작성과 점검</a:t>
            </a:r>
            <a:endParaRPr lang="en-US" sz="1700" dirty="0"/>
          </a:p>
        </p:txBody>
      </p:sp>
      <p:sp>
        <p:nvSpPr>
          <p:cNvPr id="26"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7"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만드는 것</a:t>
            </a:r>
            <a:endParaRPr lang="en-US" sz="1700" dirty="0"/>
          </a:p>
        </p:txBody>
      </p:sp>
      <p:sp>
        <p:nvSpPr>
          <p:cNvPr id="28"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9"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30"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31"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공유폴더 현황판</a:t>
            </a:r>
            <a:endParaRPr lang="en-US" sz="1700" dirty="0"/>
          </a:p>
        </p:txBody>
      </p:sp>
      <p:sp>
        <p:nvSpPr>
          <p:cNvPr id="32"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33"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34"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35"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위키 문서와 결정 기록</a:t>
            </a:r>
            <a:endParaRPr lang="en-US" sz="1700" dirty="0"/>
          </a:p>
        </p:txBody>
      </p:sp>
      <p:sp>
        <p:nvSpPr>
          <p:cNvPr id="36"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7"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업무 PC 1대에서 예약 작업 2개와 시작 프로그램 1개로 실행</a:t>
            </a:r>
            <a:endParaRPr lang="en-US" sz="1200" dirty="0"/>
          </a:p>
        </p:txBody>
      </p:sp>
      <p:sp>
        <p:nvSpPr>
          <p:cNvPr id="40"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(2/3) 실행 화면</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PC를 켜면 일일보고, 현황판, 투입 목록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11" name="cap0-img" descr="일일보고 엑셀 화면 (거래처명은 A·B·C로 바꿈)">    </p:cNvPr>
          <p:cNvPicPr>
            <a:picLocks noChangeAspect="1"/>
          </p:cNvPicPr>
          <p:nvPr/>
        </p:nvPicPr>
        <p:blipFill>
          <a:blip r:embed="rId1"/>
          <a:stretch>
            <a:fillRect/>
          </a:stretch>
        </p:blipFill>
        <p:spPr>
          <a:xfrm>
            <a:off x="640080" y="2976652"/>
            <a:ext cx="3383280" cy="1270456"/>
          </a:xfrm>
          <a:prstGeom prst="rect">
            <a:avLst/>
          </a:prstGeom>
        </p:spPr>
      </p:pic>
      <p:sp>
        <p:nvSpPr>
          <p:cNvPr id="12"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16:00 속보값이며 확정치는 다음 날 「전일」 칸</a:t>
            </a:r>
            <a:endParaRPr lang="en-US" sz="1700" dirty="0"/>
          </a:p>
        </p:txBody>
      </p:sp>
      <p:sp>
        <p:nvSpPr>
          <p:cNvPr id="13"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14" name="cap1-img" descr="사내 현황판 화면 (거래처명은 A·B·C로 바꿈)">    </p:cNvPr>
          <p:cNvPicPr>
            <a:picLocks noChangeAspect="1"/>
          </p:cNvPicPr>
          <p:nvPr/>
        </p:nvPicPr>
        <p:blipFill>
          <a:blip r:embed="rId2"/>
          <a:stretch>
            <a:fillRect/>
          </a:stretch>
        </p:blipFill>
        <p:spPr>
          <a:xfrm>
            <a:off x="4389120" y="2074025"/>
            <a:ext cx="3383280" cy="3075709"/>
          </a:xfrm>
          <a:prstGeom prst="rect">
            <a:avLst/>
          </a:prstGeom>
        </p:spPr>
      </p:pic>
      <p:sp>
        <p:nvSpPr>
          <p:cNvPr id="15"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납기 지연과 임박, 미출하 잔량</a:t>
            </a:r>
            <a:endParaRPr lang="en-US" sz="1700" dirty="0"/>
          </a:p>
        </p:txBody>
      </p:sp>
      <p:sp>
        <p:nvSpPr>
          <p:cNvPr id="16"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7" name="cap2-img" descr="FG 장비 투입 목록 화면 (거래처명은 A·B·C로 바꿈)">    </p:cNvPr>
          <p:cNvPicPr>
            <a:picLocks noChangeAspect="1"/>
          </p:cNvPicPr>
          <p:nvPr/>
        </p:nvPicPr>
        <p:blipFill>
          <a:blip r:embed="rId3"/>
          <a:stretch>
            <a:fillRect/>
          </a:stretch>
        </p:blipFill>
        <p:spPr>
          <a:xfrm>
            <a:off x="8381609" y="2057400"/>
            <a:ext cx="2896382" cy="3108960"/>
          </a:xfrm>
          <a:prstGeom prst="rect">
            <a:avLst/>
          </a:prstGeom>
        </p:spPr>
      </p:pic>
      <p:sp>
        <p:nvSpPr>
          <p:cNvPr id="18"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FG 장비 투입 목록</a:t>
            </a:r>
            <a:endParaRPr lang="en-US" sz="1700" dirty="0"/>
          </a:p>
          <a:p>
            <a:pPr indent="0" marL="0">
              <a:buNone/>
            </a:pPr>
            <a:r>
              <a:rPr lang="en-US" sz="1400" dirty="0">
                <a:solidFill>
                  <a:srgbClr val="6B7A88"/>
                </a:solidFill>
              </a:rPr>
              <a:t>납기순으로 같은 형상끼리 묶음</a:t>
            </a:r>
            <a:endParaRPr lang="en-US" sz="17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화면: 일일보고 10-16, 현황판 10-19, 거래처명 익명  |  자료 기준일 2026-10-22</a:t>
            </a:r>
            <a:endParaRPr lang="en-US" sz="1200" dirty="0"/>
          </a:p>
        </p:txBody>
      </p:sp>
      <p:sp>
        <p:nvSpPr>
          <p:cNvPr id="2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(3/3) 질의응답</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기록에 없는 내용은 「확인 필요」로 표시</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장비 이력</a:t>
            </a:r>
            <a:endParaRPr lang="en-US" sz="1400" dirty="0"/>
          </a:p>
        </p:txBody>
      </p:sp>
      <p:sp>
        <p:nvSpPr>
          <p:cNvPr id="11" name="qa0-q"/>
          <p:cNvSpPr/>
          <p:nvPr/>
        </p:nvSpPr>
        <p:spPr>
          <a:xfrm>
            <a:off x="548640" y="2377440"/>
            <a:ext cx="5440680" cy="777240"/>
          </a:xfrm>
          <a:prstGeom prst="rect">
            <a:avLst/>
          </a:prstGeom>
          <a:solidFill>
            <a:srgbClr val="1F2A36"/>
          </a:solidFill>
          <a:ln w="9525">
            <a:solidFill>
              <a:srgbClr val="1F2A36"/>
            </a:solidFill>
            <a:prstDash val="solid"/>
          </a:ln>
        </p:spPr>
      </p:sp>
      <p:sp>
        <p:nvSpPr>
          <p:cNvPr id="12"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「GX7 로더는 왜 못 썼고, 언제 다시 썼나?」</a:t>
            </a:r>
            <a:endParaRPr lang="en-US" sz="1800" dirty="0"/>
          </a:p>
        </p:txBody>
      </p:sp>
      <p:sp>
        <p:nvSpPr>
          <p:cNvPr id="13"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14"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점검에서 실린더 이상 발견해 로더 사용 금지</a:t>
            </a:r>
            <a:endParaRPr lang="en-US" sz="1700" dirty="0"/>
          </a:p>
          <a:p>
            <a:pPr marL="342900" indent="-342900">
              <a:spcAft>
                <a:spcPts val="800"/>
              </a:spcAft>
              <a:buSzPct val="100000"/>
              <a:buChar char="•"/>
            </a:pPr>
            <a:r>
              <a:rPr lang="en-US" sz="1700" dirty="0">
                <a:solidFill>
                  <a:srgbClr val="2C3E50"/>
                </a:solidFill>
              </a:rPr>
              <a:t>08-14 부품 발주 후 10-12 교체 수리 완료</a:t>
            </a:r>
            <a:endParaRPr lang="en-US" sz="1700" dirty="0"/>
          </a:p>
          <a:p>
            <a:pPr marL="342900" indent="-342900">
              <a:spcAft>
                <a:spcPts val="800"/>
              </a:spcAft>
              <a:buSzPct val="100000"/>
              <a:buChar char="•"/>
            </a:pPr>
            <a:r>
              <a:rPr lang="en-US" sz="1700" dirty="0">
                <a:solidFill>
                  <a:srgbClr val="2C3E50"/>
                </a:solidFill>
              </a:rPr>
              <a:t>10-13 생산 재개 (고장 원인은 「확인 필요」)</a:t>
            </a:r>
            <a:endParaRPr lang="en-US" sz="1700" dirty="0"/>
          </a:p>
        </p:txBody>
      </p:sp>
      <p:sp>
        <p:nvSpPr>
          <p:cNvPr id="15"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수리 이력 페이지, 10월 생산일지(10-12 「수리 중」)</a:t>
            </a:r>
            <a:endParaRPr lang="en-US" sz="1300" dirty="0"/>
          </a:p>
        </p:txBody>
      </p:sp>
      <p:sp>
        <p:nvSpPr>
          <p:cNvPr id="16"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연삭 조건</a:t>
            </a:r>
            <a:endParaRPr lang="en-US" sz="1400" dirty="0"/>
          </a:p>
        </p:txBody>
      </p:sp>
      <p:sp>
        <p:nvSpPr>
          <p:cNvPr id="17"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8"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「Ø125 휠로 19 m/s를 내려면 몇 rpm?」</a:t>
            </a:r>
            <a:endParaRPr lang="en-US" sz="1800" dirty="0"/>
          </a:p>
        </p:txBody>
      </p:sp>
      <p:sp>
        <p:nvSpPr>
          <p:cNvPr id="19"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20"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21"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휠 기준 페이지, 제조사 자료 3종, 사내 상한 25 m/s</a:t>
            </a:r>
            <a:endParaRPr lang="en-US" sz="1300" dirty="0"/>
          </a:p>
        </p:txBody>
      </p:sp>
      <p:sp>
        <p:nvSpPr>
          <p:cNvPr id="22"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23"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 답변은 iGrind 입력 전 검산용이며 확정은 현장 시험으로</a:t>
            </a:r>
            <a:endParaRPr lang="en-US" sz="1700" dirty="0"/>
          </a:p>
        </p:txBody>
      </p:sp>
      <p:sp>
        <p:nvSpPr>
          <p:cNvPr id="2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10-19에 실제로 물은 질문과 답을 줄여 옮김</a:t>
            </a:r>
            <a:endParaRPr lang="en-US" sz="1200" dirty="0"/>
          </a:p>
        </p:txBody>
      </p:sp>
      <p:sp>
        <p:nvSpPr>
          <p:cNvPr id="26"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업무 적용 전후 비교 (1/2) 일일보고</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최근 20영업일 동안 20건 모두 자동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0" name="daily-chart" descr=""/>
          <p:cNvGraphicFramePr/>
          <p:nvPr/>
        </p:nvGraphicFramePr>
        <p:xfrm>
          <a:off x="548640" y="19202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11" name="ba-panel"/>
          <p:cNvSpPr/>
          <p:nvPr/>
        </p:nvSpPr>
        <p:spPr>
          <a:xfrm>
            <a:off x="7680960" y="1920240"/>
            <a:ext cx="3931920" cy="4206240"/>
          </a:xfrm>
          <a:prstGeom prst="rect">
            <a:avLst/>
          </a:prstGeom>
          <a:solidFill>
            <a:srgbClr val="F4F6F8"/>
          </a:solidFill>
          <a:ln w="9525">
            <a:solidFill>
              <a:srgbClr val="D9E2EC"/>
            </a:solidFill>
            <a:prstDash val="solid"/>
          </a:ln>
        </p:spPr>
      </p:sp>
      <p:sp>
        <p:nvSpPr>
          <p:cNvPr id="12" name="ba0-h"/>
          <p:cNvSpPr txBox="1"/>
          <p:nvPr/>
        </p:nvSpPr>
        <p:spPr>
          <a:xfrm>
            <a:off x="7909560" y="2103120"/>
            <a:ext cx="3474720" cy="329184"/>
          </a:xfrm>
          <a:prstGeom prst="rect">
            <a:avLst/>
          </a:prstGeom>
          <a:noFill/>
          <a:ln/>
        </p:spPr>
        <p:txBody>
          <a:bodyPr wrap="square" lIns="0" tIns="0" rIns="0" bIns="0" rtlCol="0" anchor="ctr"/>
          <a:lstStyle/>
          <a:p>
            <a:pPr indent="0" marL="0">
              <a:buNone/>
            </a:pPr>
            <a:r>
              <a:rPr lang="en-US" sz="1500" b="1" dirty="0">
                <a:solidFill>
                  <a:srgbClr val="6B7A88"/>
                </a:solidFill>
              </a:rPr>
              <a:t>적용 전</a:t>
            </a:r>
            <a:endParaRPr lang="en-US" sz="1500" dirty="0"/>
          </a:p>
        </p:txBody>
      </p:sp>
      <p:sp>
        <p:nvSpPr>
          <p:cNvPr id="13" name="ba0-t"/>
          <p:cNvSpPr txBox="1"/>
          <p:nvPr/>
        </p:nvSpPr>
        <p:spPr>
          <a:xfrm>
            <a:off x="7909560" y="2468880"/>
            <a:ext cx="3474720" cy="777240"/>
          </a:xfrm>
          <a:prstGeom prst="rect">
            <a:avLst/>
          </a:prstGeom>
          <a:noFill/>
          <a:ln/>
        </p:spPr>
        <p:txBody>
          <a:bodyPr wrap="square" lIns="0" tIns="0" rIns="0" bIns="0" rtlCol="0" anchor="t"/>
          <a:lstStyle/>
          <a:p>
            <a:pPr indent="0" marL="0">
              <a:buNone/>
            </a:pPr>
            <a:r>
              <a:rPr lang="en-US" sz="1800" dirty="0">
                <a:solidFill>
                  <a:srgbClr val="2C3E50"/>
                </a:solidFill>
              </a:rPr>
              <a:t>담당자가 매일 엑셀로 손집계</a:t>
            </a:r>
            <a:endParaRPr lang="en-US" sz="1800" dirty="0"/>
          </a:p>
        </p:txBody>
      </p:sp>
      <p:sp>
        <p:nvSpPr>
          <p:cNvPr id="14" name="ba1-h"/>
          <p:cNvSpPr txBox="1"/>
          <p:nvPr/>
        </p:nvSpPr>
        <p:spPr>
          <a:xfrm>
            <a:off x="7909560" y="3429000"/>
            <a:ext cx="3474720" cy="329184"/>
          </a:xfrm>
          <a:prstGeom prst="rect">
            <a:avLst/>
          </a:prstGeom>
          <a:noFill/>
          <a:ln/>
        </p:spPr>
        <p:txBody>
          <a:bodyPr wrap="square" lIns="0" tIns="0" rIns="0" bIns="0" rtlCol="0" anchor="ctr"/>
          <a:lstStyle/>
          <a:p>
            <a:pPr indent="0" marL="0">
              <a:buNone/>
            </a:pPr>
            <a:r>
              <a:rPr lang="en-US" sz="1500" b="1" dirty="0">
                <a:solidFill>
                  <a:srgbClr val="0E7C86"/>
                </a:solidFill>
              </a:rPr>
              <a:t>적용 후</a:t>
            </a:r>
            <a:endParaRPr lang="en-US" sz="1500" dirty="0"/>
          </a:p>
        </p:txBody>
      </p:sp>
      <p:sp>
        <p:nvSpPr>
          <p:cNvPr id="15" name="ba1-t"/>
          <p:cNvSpPr txBox="1"/>
          <p:nvPr/>
        </p:nvSpPr>
        <p:spPr>
          <a:xfrm>
            <a:off x="7909560" y="3794760"/>
            <a:ext cx="3474720" cy="777240"/>
          </a:xfrm>
          <a:prstGeom prst="rect">
            <a:avLst/>
          </a:prstGeom>
          <a:noFill/>
          <a:ln/>
        </p:spPr>
        <p:txBody>
          <a:bodyPr wrap="square" lIns="0" tIns="0" rIns="0" bIns="0" rtlCol="0" anchor="t"/>
          <a:lstStyle/>
          <a:p>
            <a:pPr indent="0" marL="0">
              <a:buNone/>
            </a:pPr>
            <a:r>
              <a:rPr lang="en-US" sz="1800" dirty="0">
                <a:solidFill>
                  <a:srgbClr val="2C3E50"/>
                </a:solidFill>
              </a:rPr>
              <a:t>07:50과 16:00에 자동 생성되어 담당자는 확인만</a:t>
            </a:r>
            <a:endParaRPr lang="en-US" sz="1800" dirty="0"/>
          </a:p>
        </p:txBody>
      </p:sp>
      <p:sp>
        <p:nvSpPr>
          <p:cNvPr id="16" name="ba2-h"/>
          <p:cNvSpPr txBox="1"/>
          <p:nvPr/>
        </p:nvSpPr>
        <p:spPr>
          <a:xfrm>
            <a:off x="7909560" y="4754880"/>
            <a:ext cx="3474720" cy="329184"/>
          </a:xfrm>
          <a:prstGeom prst="rect">
            <a:avLst/>
          </a:prstGeom>
          <a:noFill/>
          <a:ln/>
        </p:spPr>
        <p:txBody>
          <a:bodyPr wrap="square" lIns="0" tIns="0" rIns="0" bIns="0" rtlCol="0" anchor="ctr"/>
          <a:lstStyle/>
          <a:p>
            <a:pPr indent="0" marL="0">
              <a:buNone/>
            </a:pPr>
            <a:r>
              <a:rPr lang="en-US" sz="1500" b="1" dirty="0">
                <a:solidFill>
                  <a:srgbClr val="1F2A36"/>
                </a:solidFill>
              </a:rPr>
              <a:t>아낀 시간</a:t>
            </a:r>
            <a:endParaRPr lang="en-US" sz="1500" dirty="0"/>
          </a:p>
        </p:txBody>
      </p:sp>
      <p:sp>
        <p:nvSpPr>
          <p:cNvPr id="17" name="ba2-t"/>
          <p:cNvSpPr txBox="1"/>
          <p:nvPr/>
        </p:nvSpPr>
        <p:spPr>
          <a:xfrm>
            <a:off x="7909560" y="5120640"/>
            <a:ext cx="3474720" cy="777240"/>
          </a:xfrm>
          <a:prstGeom prst="rect">
            <a:avLst/>
          </a:prstGeom>
          <a:noFill/>
          <a:ln/>
        </p:spPr>
        <p:txBody>
          <a:bodyPr wrap="square" lIns="0" tIns="0" rIns="0" bIns="0" rtlCol="0" anchor="t"/>
          <a:lstStyle/>
          <a:p>
            <a:pPr indent="0" marL="0">
              <a:buNone/>
            </a:pPr>
            <a:r>
              <a:rPr lang="en-US" sz="1800" dirty="0">
                <a:solidFill>
                  <a:srgbClr val="2C3E50"/>
                </a:solidFill>
              </a:rPr>
              <a:t>하루 15분 이하 [사내 경험값]</a:t>
            </a:r>
            <a:endParaRPr lang="en-US" sz="1800" dirty="0"/>
          </a:p>
        </p:txBody>
      </p:sp>
      <p:sp>
        <p:nvSpPr>
          <p:cNvPr id="1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파일 수정 시각 실측, *10월은 22일까지  |  자료 기준일 2026-10-22</a:t>
            </a:r>
            <a:endParaRPr lang="en-US" sz="1200" dirty="0"/>
          </a:p>
        </p:txBody>
      </p:sp>
      <p:sp>
        <p:nvSpPr>
          <p:cNvPr id="20"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업무 적용 전후 비교 (2/2)</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6개 항목 중 4개는 실측으로 확인</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1"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집계와 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하여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기억과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320여 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결정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사진,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과거 12건과 올해 5건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(효과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1"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주: 실측은 기록으로 센 값이고 사내 경험값은 담당자 확인값</a:t>
            </a:r>
            <a:endParaRPr lang="en-US" sz="1200" dirty="0"/>
          </a:p>
        </p:txBody>
      </p:sp>
      <p:sp>
        <p:nvSpPr>
          <p:cNvPr id="13"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한계와 향후 과제</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효과 없는 자동화 4건은 10-07에 중단</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2" name="lim-table"/>
          <p:cNvGraphicFramePr>
            <a:graphicFrameLocks noGrp="1"/>
          </p:cNvGraphicFramePr>
          <p:nvPr>
            <p:extLst>
              <p:ext uri="{D42A27DB-BD31-4B8C-83A1-F6EECF244321}">
                <p14:modId xmlns:p14="http://schemas.microsoft.com/office/powerpoint/2010/main" val="1579011935"/>
              </p:ext>
            </p:extLst>
          </p:nvPr>
        </p:nvGraphicFramePr>
        <p:xfrm>
          <a:off x="548640" y="2926080"/>
          <a:ext cx="11064240" cy="914400"/>
        </p:xfrm>
        <a:graphic>
          <a:graphicData uri="http://schemas.openxmlformats.org/drawingml/2006/table">
            <a:tbl>
              <a:tblPr/>
              <a:tblGrid>
                <a:gridCol w="1920240"/>
                <a:gridCol w="4754880"/>
                <a:gridCol w="4389120"/>
              </a:tblGrid>
              <a:tr h="36576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효과 없는 자동화</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알림 메일 48통을 아무도 열지 않는 등 4건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10-07에 4건 중단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정상으로 찍힌 실패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「정상 완료」로 남았지만 결과물이 없던 3건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결과물이 있는지로 정상 여부 판정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AI 계산 오류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표준 인용 오류로 문서 19개 정정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출처와 신뢰도를 붙이고 현장 시험 후 적용</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AI 문서 문체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보고서와 발표 자료가 보고서답지 않다는 지적</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공식 양식과 논문을 대조해 작성 기준 마련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담당자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만들고 고치는 사람이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작업 기록과 결정 근거를 문서로 남김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1" name="cost-pct"/>
          <p:cNvSpPr txBox="1"/>
          <p:nvPr/>
        </p:nvSpPr>
        <p:spPr>
          <a:xfrm>
            <a:off x="548640" y="1920240"/>
            <a:ext cx="1737360" cy="822960"/>
          </a:xfrm>
          <a:prstGeom prst="rect">
            <a:avLst/>
          </a:prstGeom>
          <a:noFill/>
          <a:ln/>
        </p:spPr>
        <p:txBody>
          <a:bodyPr wrap="square" lIns="0" tIns="0" rIns="0" bIns="0" rtlCol="0" anchor="ctr"/>
          <a:lstStyle/>
          <a:p>
            <a:pPr indent="0" marL="0">
              <a:buNone/>
            </a:pPr>
            <a:r>
              <a:rPr lang="en-US" sz="4400" b="1" dirty="0">
                <a:solidFill>
                  <a:srgbClr val="E8930C"/>
                </a:solidFill>
              </a:rPr>
              <a:t>36</a:t>
            </a:r>
            <a:pPr indent="0" marL="0">
              <a:buNone/>
            </a:pPr>
            <a:r>
              <a:rPr lang="en-US" sz="2200" b="1" dirty="0">
                <a:solidFill>
                  <a:srgbClr val="E8930C"/>
                </a:solidFill>
              </a:rPr>
              <a:t> %</a:t>
            </a:r>
            <a:endParaRPr lang="en-US" sz="4400" dirty="0"/>
          </a:p>
        </p:txBody>
      </p:sp>
      <p:sp>
        <p:nvSpPr>
          <p:cNvPr id="12" name="cost-h"/>
          <p:cNvSpPr txBox="1"/>
          <p:nvPr/>
        </p:nvSpPr>
        <p:spPr>
          <a:xfrm>
            <a:off x="2286000" y="1920240"/>
            <a:ext cx="7772400" cy="329184"/>
          </a:xfrm>
          <a:prstGeom prst="rect">
            <a:avLst/>
          </a:prstGeom>
          <a:noFill/>
          <a:ln/>
        </p:spPr>
        <p:txBody>
          <a:bodyPr wrap="square" lIns="0" tIns="0" rIns="0" bIns="0" rtlCol="0" anchor="ctr"/>
          <a:lstStyle/>
          <a:p>
            <a:pPr indent="0" marL="0">
              <a:buNone/>
            </a:pPr>
            <a:r>
              <a:rPr lang="en-US" sz="1600" b="1" dirty="0">
                <a:solidFill>
                  <a:srgbClr val="1F2A36"/>
                </a:solidFill>
              </a:rPr>
              <a:t>4주간 결정 84건 중 30건이 자동화 수리와 운영 (10-07 1차 판정)</a:t>
            </a:r>
            <a:endParaRPr lang="en-US" sz="1600" dirty="0"/>
          </a:p>
        </p:txBody>
      </p:sp>
      <p:graphicFrame>
        <p:nvGraphicFramePr>
          <p:cNvPr id="13" name="cost-chart" descr=""/>
          <p:cNvGraphicFramePr/>
          <p:nvPr/>
        </p:nvGraphicFramePr>
        <p:xfrm>
          <a:off x="2194560" y="2194560"/>
          <a:ext cx="9418320" cy="676656"/>
        </p:xfrm>
        <a:graphic xmlns:a="http://schemas.openxmlformats.org/drawingml/2006/main">
          <a:graphicData uri="http://schemas.openxmlformats.org/drawingml/2006/chart">
            <c:chart xmlns:c="http://schemas.openxmlformats.org/drawingml/2006/chart" r:id="rId1"/>
          </a:graphicData>
        </a:graphic>
      </p:graphicFrame>
      <p:sp>
        <p:nvSpPr>
          <p:cNvPr id="14" name="next"/>
          <p:cNvSpPr/>
          <p:nvPr/>
        </p:nvSpPr>
        <p:spPr>
          <a:xfrm>
            <a:off x="548640" y="5513832"/>
            <a:ext cx="11064240" cy="603504"/>
          </a:xfrm>
          <a:prstGeom prst="rect">
            <a:avLst/>
          </a:prstGeom>
          <a:solidFill>
            <a:srgbClr val="1F2A36"/>
          </a:solidFill>
          <a:ln w="9525">
            <a:solidFill>
              <a:srgbClr val="1F2A36"/>
            </a:solidFill>
            <a:prstDash val="solid"/>
          </a:ln>
        </p:spPr>
      </p:sp>
      <p:sp>
        <p:nvSpPr>
          <p:cNvPr id="15" name="next-t"/>
          <p:cNvSpPr txBox="1"/>
          <p:nvPr/>
        </p:nvSpPr>
        <p:spPr>
          <a:xfrm>
            <a:off x="777240" y="5513832"/>
            <a:ext cx="10698480" cy="603504"/>
          </a:xfrm>
          <a:prstGeom prst="rect">
            <a:avLst/>
          </a:prstGeom>
          <a:noFill/>
          <a:ln/>
        </p:spPr>
        <p:txBody>
          <a:bodyPr wrap="square" lIns="0" tIns="0" rIns="0" bIns="0" rtlCol="0" anchor="ctr"/>
          <a:lstStyle/>
          <a:p>
            <a:pPr indent="0" marL="0">
              <a:buNone/>
            </a:pPr>
            <a:r>
              <a:rPr lang="en-US" sz="1700" b="1" dirty="0">
                <a:solidFill>
                  <a:srgbClr val="FFFFFF"/>
                </a:solidFill>
              </a:rPr>
              <a:t>다음 과제: 11월 4일 자동화 2차 판정, 투입 목록 효과 재측정, 넥 원통연삭 테스트 3</a:t>
            </a:r>
            <a:endParaRPr lang="en-US" sz="17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다른 팀도 바로 쓸 수 있는 것: 엑셀 보고 집계, 자료 정리, 문서 조사</a:t>
            </a:r>
            <a:endParaRPr lang="en-US" sz="1200" dirty="0"/>
          </a:p>
        </p:txBody>
      </p:sp>
      <p:sp>
        <p:nvSpPr>
          <p:cNvPr id="1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2026-10-22T01:44:43Z</dcterms:created>
  <dcterms:modified xsi:type="dcterms:W3CDTF">2026-10-22T01:44:43Z</dcterms:modified>
</cp:coreProperties>
</file>