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04833e88-291a-d31e-66af-970551cda03a}">
          <p14:sldIdLst>
            <p14:sldId id="256"/>
            <p14:sldId id="257"/>
          </p14:sldIdLst>
        </p14:section>
        <p14:section name="01 추진 배경" id="{85687ce2-bbbb-0a13-1d07-502d7d56a352}">
          <p14:sldIdLst>
            <p14:sldId id="258"/>
          </p14:sldIdLst>
        </p14:section>
        <p14:section name="① 활용 현황" id="{c6c39de8-fdeb-31b7-8a12-8c13eb82fb02}">
          <p14:sldIdLst>
            <p14:sldId id="259"/>
            <p14:sldId id="260"/>
          </p14:sldIdLst>
        </p14:section>
        <p14:section name="② 자동화 시스템" id="{3181f3a8-b8bd-394e-890f-4b25477138ec}">
          <p14:sldIdLst>
            <p14:sldId id="261"/>
            <p14:sldId id="262"/>
            <p14:sldId id="263"/>
          </p14:sldIdLst>
        </p14:section>
        <p14:section name="③ 전후 비교" id="{19f4303e-5c74-c864-4a93-20f6e3cc90d6}">
          <p14:sldIdLst>
            <p14:sldId id="264"/>
            <p14:sldId id="265"/>
          </p14:sldIdLst>
        </p14:section>
        <p14:section name="한계와 과제" id="{963317d3-e353-a35f-233e-164a81bfd6e9}">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A36"/>
                </a:solidFill>
                <a:latin typeface="+mn-lt"/>
              </a:defRPr>
            </a:pPr>
            <a:r>
              <a:rPr sz="1400" b="0" i="0" u="none" strike="noStrike">
                <a:solidFill>
                  <a:srgbClr val="1F2A36"/>
                </a:solidFill>
                <a:latin typeface="+mn-lt"/>
              </a:rPr>
              <a:t>일일보고 월별 생성 건수 (단위: 건)</a:t>
            </a:r>
          </a:p>
        </c:rich>
      </c:tx>
      <c:layout/>
      <c:overlay val="0"/>
    </c:title>
    <c:autoTitleDeleted val="0"/>
    <c:plotArea>
      <c:layout/>
      <c:barChart>
        <c:barDir val="col"/>
        <c:grouping val="stacked"/>
        <c:varyColors val="0"/>
        <c:ser>
          <c:idx val="0"/>
          <c:order val="0"/>
          <c:tx>
            <c:strRef>
              <c:f>Sheet1!$B$1</c:f>
              <c:strCache>
                <c:ptCount val="1"/>
                <c:pt idx="0">
                  <c:v>소급 또는 수동 생성 (6월 9일 일괄 등)</c:v>
                </c:pt>
              </c:strCache>
            </c:strRef>
          </c:tx>
          <c:spPr>
            <a:solidFill>
              <a:srgbClr val="6B7A88"/>
            </a:solidFill>
            <a:effectLst/>
          </c:spPr>
          <c:invertIfNegative val="0"/>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4월</c:v>
                  </c:pt>
                  <c:pt idx="1">
                    <c:v>5월</c:v>
                  </c:pt>
                  <c:pt idx="2">
                    <c:v>6월</c:v>
                  </c:pt>
                  <c:pt idx="3">
                    <c:v>7월</c:v>
                  </c:pt>
                  <c:pt idx="4">
                    <c:v>8월</c:v>
                  </c:pt>
                  <c:pt idx="5">
                    <c:v>9월</c:v>
                  </c:pt>
                  <c:pt idx="6">
                    <c:v>10월*</c:v>
                  </c:pt>
                </c:lvl>
              </c:multiLvlStrCache>
            </c:multiLvlStrRef>
          </c:cat>
          <c:val>
            <c:numRef>
              <c:f>Sheet1!$B$2:$B$8</c:f>
              <c:numCache>
                <c:formatCode>General</c:formatCode>
                <c:ptCount val="7"/>
                <c:pt idx="0">
                  <c:v>21</c:v>
                </c:pt>
                <c:pt idx="1">
                  <c:v>19</c:v>
                </c:pt>
                <c:pt idx="2">
                  <c:v>12</c:v>
                </c:pt>
                <c:pt idx="3">
                  <c:v>0</c:v>
                </c:pt>
                <c:pt idx="4">
                  <c:v>0</c:v>
                </c:pt>
                <c:pt idx="5">
                  <c:v>0</c:v>
                </c:pt>
                <c:pt idx="6">
                  <c:v>0</c:v>
                </c:pt>
              </c:numCache>
            </c:numRef>
          </c:val>
        </c:ser>
        <c:ser>
          <c:idx val="1"/>
          <c:order val="1"/>
          <c:tx>
            <c:strRef>
              <c:f>Sheet1!$C$1</c:f>
              <c:strCache>
                <c:ptCount val="1"/>
                <c:pt idx="0">
                  <c:v>매일 자동 생성 (6월 18일부터)</c:v>
                </c:pt>
              </c:strCache>
            </c:strRef>
          </c:tx>
          <c:spPr>
            <a:solidFill>
              <a:srgbClr val="0E7C86"/>
            </a:solidFill>
            <a:effectLst/>
          </c:spPr>
          <c:invertIfNegative val="0"/>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cat>
            <c:multiLvlStrRef>
              <c:f>Sheet1!$A$2:$A$8</c:f>
              <c:multiLvlStrCache>
                <c:ptCount val="7"/>
                <c:lvl>
                  <c:pt idx="0">
                    <c:v>4월</c:v>
                  </c:pt>
                  <c:pt idx="1">
                    <c:v>5월</c:v>
                  </c:pt>
                  <c:pt idx="2">
                    <c:v>6월</c:v>
                  </c:pt>
                  <c:pt idx="3">
                    <c:v>7월</c:v>
                  </c:pt>
                  <c:pt idx="4">
                    <c:v>8월</c:v>
                  </c:pt>
                  <c:pt idx="5">
                    <c:v>9월</c:v>
                  </c:pt>
                  <c:pt idx="6">
                    <c:v>10월*</c:v>
                  </c:pt>
                </c:lvl>
              </c:multiLvlStrCache>
            </c:multiLvlStrRef>
          </c:cat>
          <c:val>
            <c:numRef>
              <c:f>Sheet1!$C$2:$C$8</c:f>
              <c:numCache>
                <c:formatCode>General</c:formatCode>
                <c:ptCount val="7"/>
                <c:pt idx="0">
                  <c:v>0</c:v>
                </c:pt>
                <c:pt idx="1">
                  <c:v>0</c:v>
                </c:pt>
                <c:pt idx="2">
                  <c:v>9</c:v>
                </c:pt>
                <c:pt idx="3">
                  <c:v>22</c:v>
                </c:pt>
                <c:pt idx="4">
                  <c:v>19</c:v>
                </c:pt>
                <c:pt idx="5">
                  <c:v>20</c:v>
                </c:pt>
                <c:pt idx="6">
                  <c:v>15</c:v>
                </c:pt>
              </c:numCache>
            </c:numRef>
          </c:val>
        </c:ser>
        <c:dLbls>
          <c:numFmt formatCode="0;;;" sourceLinked="0"/>
          <c:txPr>
            <a:bodyPr/>
            <a:lstStyle/>
            <a:p>
              <a:pPr>
                <a:defRPr b="0" i="0" strike="noStrike" sz="1300" u="none">
                  <a:solidFill>
                    <a:srgbClr val="FFFFFF"/>
                  </a:solidFill>
                  <a:latin typeface="+mn-lt"/>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2C3E50"/>
                </a:solidFill>
                <a:latin typeface="+mn-lt"/>
              </a:defRPr>
            </a:pPr>
            <a:endParaRPr lang="en-US"/>
          </a:p>
        </c:txPr>
        <c:crossAx val="2094734552"/>
        <c:crosses val="autoZero"/>
        <c:auto val="1"/>
        <c:lblAlgn val="ctr"/>
        <c:noMultiLvlLbl val="1"/>
      </c:catAx>
      <c:valAx>
        <c:axId val="2094734552"/>
        <c:scaling>
          <c:orientation val="minMax"/>
          <c:max val="25"/>
        </c:scaling>
        <c:delete val="0"/>
        <c:axPos val="l"/>
        <c:majorGridlines>
          <c:spPr>
            <a:ln w="6350" cap="flat">
              <a:solidFill>
                <a:srgbClr val="D9E2E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6B7A88"/>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300">
              <a:solidFill>
                <a:srgbClr val="2C3E5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percentStacked"/>
        <c:varyColors val="0"/>
        <c:ser>
          <c:idx val="0"/>
          <c:order val="0"/>
          <c:tx>
            <c:strRef>
              <c:f>Sheet1!$B$1</c:f>
              <c:strCache>
                <c:ptCount val="1"/>
                <c:pt idx="0">
                  <c:v>자동화 수리와 운영</c:v>
                </c:pt>
              </c:strCache>
            </c:strRef>
          </c:tx>
          <c:spPr>
            <a:solidFill>
              <a:srgbClr val="E8930C"/>
            </a:solidFill>
            <a:effectLst/>
          </c:spPr>
          <c:invertIfNegative val="0"/>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결정 84건</c:v>
                  </c:pt>
                </c:lvl>
              </c:multiLvlStrCache>
            </c:multiLvlStrRef>
          </c:cat>
          <c:val>
            <c:numRef>
              <c:f>Sheet1!$B$2:$B$2</c:f>
              <c:numCache>
                <c:formatCode>General</c:formatCode>
                <c:ptCount val="1"/>
                <c:pt idx="0">
                  <c:v>30</c:v>
                </c:pt>
              </c:numCache>
            </c:numRef>
          </c:val>
        </c:ser>
        <c:ser>
          <c:idx val="1"/>
          <c:order val="1"/>
          <c:tx>
            <c:strRef>
              <c:f>Sheet1!$C$1</c:f>
              <c:strCache>
                <c:ptCount val="1"/>
                <c:pt idx="0">
                  <c:v>그 외 업무 판단</c:v>
                </c:pt>
              </c:strCache>
            </c:strRef>
          </c:tx>
          <c:spPr>
            <a:solidFill>
              <a:srgbClr val="D9E2EC"/>
            </a:solidFill>
            <a:effectLst/>
          </c:spPr>
          <c:invertIfNegative val="0"/>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cat>
            <c:multiLvlStrRef>
              <c:f>Sheet1!$A$2:$A$2</c:f>
              <c:multiLvlStrCache>
                <c:ptCount val="1"/>
                <c:lvl>
                  <c:pt idx="0">
                    <c:v>결정 84건</c:v>
                  </c:pt>
                </c:lvl>
              </c:multiLvlStrCache>
            </c:multiLvlStrRef>
          </c:cat>
          <c:val>
            <c:numRef>
              <c:f>Sheet1!$C$2:$C$2</c:f>
              <c:numCache>
                <c:formatCode>General</c:formatCode>
                <c:ptCount val="1"/>
                <c:pt idx="0">
                  <c:v>54</c:v>
                </c:pt>
              </c:numCache>
            </c:numRef>
          </c:val>
        </c:ser>
        <c:dLbls>
          <c:numFmt formatCode="#,##0" sourceLinked="0"/>
          <c:txPr>
            <a:bodyPr/>
            <a:lstStyle/>
            <a:p>
              <a:pPr>
                <a:defRPr b="0" i="0" strike="noStrike" sz="1300" u="none">
                  <a:solidFill>
                    <a:srgbClr val="1F2A36"/>
                  </a:solidFill>
                  <a:latin typeface="+mn-lt"/>
                </a:defRPr>
              </a:pPr>
            </a:p>
          </c:txPr>
          <c:dLblPos val="ctr"/>
          <c:showLegendKey val="0"/>
          <c:showVal val="1"/>
          <c:showCatName val="0"/>
          <c:showSerName val="0"/>
          <c:showPercent val="0"/>
          <c:showBubbleSize val="0"/>
          <c:showLeaderLines val="0"/>
        </c:dLbls>
        <c:gapWidth val="20"/>
        <c:overlap val="10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1200">
              <a:solidFill>
                <a:srgbClr val="2C3E5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생산팀 발표입니다. 2기 동안 재연마 현장의 흩어진 데이터를 정리하고, 매일 반복하던 보고 업무를 자동화한 결과를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 순서입니다. 필수 항목 세 가지는 2, 3, 4번이고, 오른쪽 위에 지금 위치가 표시됩니다.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(왼쪽 자료를 가리키며) 생산팀은 ANCA 장비 두 대로 재연마를 합니다. 왼쪽이 실제 쓰던 월간생산일지와 수리 발주서입니다. 자료가 ERP, 엑셀, PDF, 사람 머릿속에 흩어져 있었고, 일일보고 집계와 투입 판단을 매일 손으로 했습니다. 그래서 세 방향으로 추진했습니다. 한곳에 기록하기, 반복 업무 자동 실행, 판단 근거 남기기입니다.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첫 번째 필수 항목, 팀 내 활용 현황입니다. 6개월 동안 재연마 기록 문서 149개와, 무엇을 왜 바꿨는지 남긴 판단 근거 330여 건이 쌓였습니다. 표는 Claude를 쓰는 다섯 가지 일이고, 2기에 새로 맡긴 건 장비 투입 목록과 단가표 검수입니다. 수치에는 출처를 붙여서, 휠 원주속도는 제조사 기준 18에서 22 m/s, 사내 실사용은 실측 2,600에서 3,000 rpm으로 나눠 적습니다.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이번 달에 새로 쓴 사례입니다. 엔드밀 목 부분을 가늘게 깎는 원통연삭 조건을 잡는 시험인데, 사내 기준이 없었습니다. 장비 PC와 사무 PC를 하나의 프로젝트로 묶어 시험하면서, 제조사 롱넥 제품 31종의 치수로 넥 지름 기준을 잡았습니다. 첫 시험은 넥 시작부에 매번 같은 자리 자국이 남았는데, 제조사 매뉴얼에서 정삭은 항상 시작 쪽 한 곳에서 들어간다는 것을 확인하고 황삭 방식을 바꿔 두 번째 시험에서 자국을 없앴습니다. 아직 공구 두 개 결과라 양산에는 쓰지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구성은 단순합니다. 새 시스템은 들이지 않았고 원래 쓰던 ERP와 엑셀을 그대로 읽습니다. 업무 PC가 출근 로그온 때와 오후 4시에 스크립트를 돌려 일일보고, 현황판, 장비별 투입 목록을 만듭니다. Claude는 이 스크립트를 짜고 점검하고, 바뀐 내용을 기록하는 역할입니다.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(화면을 짚으며) 왼쪽이 매일 자동으로 만들어지는 일일보고입니다. 16:00 속보값이라 이후 입력분은 다음 날 「전일」 칸에서 확정됩니다. 가운데가 사내 현황판, 오른쪽이 장비별 투입 목록이고, 투입 목록은 현장 의견을 받아 규칙을 여덟 번 고쳤습니다.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두 가지 예시입니다. 장비 고장 경위를 날짜까지 기록에서 꺼내 답하고, 원인처럼 기록이 없는 건 확인 필요라고 답합니다. 연삭 조건은 계산 과정을 보여 줘서 검산할 수 있고, 사내 기준 범위와 같이 나옵니다. 다만 조건은 참고값이고, 확정은 현장 테스트로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세 번째 필수 항목, 전후 비교입니다. 먼저 일일보고입니다. 전에는 매일 엑셀로 손으로 집계했고, 지금은 아침 7시 50분과 오후 4시에 자동으로 만들어집니다. 회색은 6월 9일에 지난 분을 한꺼번에 만들거나 손으로 만든 것이고, 청록이 그날그날 자동으로 만든 것입니다. 10월 23일 기준 최근 20영업일은 20건 모두 생성됐습니다. 아낀 시간은 하루 15분 이하인데, 정식으로 잰 값은 아니고 담당자 경험값입니다.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나머지 항목입니다. 결정 기록 330여 건, 수리 이력 17건, 단가표 1만여 건 대조는 실측으로 확인했습니다. 시간 절약은 경험값으로 따로 표시했습니다. 장비별 투입 목록은 효과를 재는 중인데, 도입 2주와 추석, 장비 수리가 섞여 아직 판단하지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지금 시험 중인 것입니다. Claude를 도면, CAM, 3D 프로그램에 연결했습니다. 연습용 명판의 음각 G코드를 무료 CAM으로 만들어 보니 처음에는 글자 밖을 0.2 mm 더 깎는 곳이 있었습니다. 도면 사본을 고치고 우리 장비에 맞는 출력 형식을 만들어 0.03 mm 아래로 줄였습니다. 왼쪽은 G코드 좌표를 그대로 옮긴 가공 영상입니다. 새 G코드는 공운전으로 확인한 뒤에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마지막으로 한계입니다. 4주 동안 결정 84건 중 30건이 자동화를 고치는 일이었습니다. 그래서 자동화마다 성적표를 매겨, 알림 메일 48통을 아무도 안 읽은 것처럼 효과 없는 4건은 껐습니다. 정상으로 찍혔는데 결과물이 없던 경우가 있어 판정 기준을 바꿨고, AI 계산은 출처와 신뢰도를 붙여 현장에서 확인합니다. 다음은 11월 4일 자동화 2차 판정과 넥 원통연삭 세 번째 시험, 명판 공운전입니다. 엑셀 보고 집계나 자료 정리는 다른 팀도 바로 쓸 수 있습니다.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8229600" cy="365760"/>
          </a:xfrm>
          <a:prstGeom prst="rect">
            <a:avLst/>
          </a:prstGeom>
          <a:noFill/>
          <a:ln/>
        </p:spPr>
        <p:txBody>
          <a:bodyPr wrap="square" rtlCol="0"/>
          <a:lstStyle>
            <a:lvl1pPr indent="0" marL="0">
              <a:buNone/>
              <a:defRPr lang="en-US" sz="1600" b="1" spc="200" kern="0" dirty="0">
                <a:solidFill>
                  <a:schemeClr val="accent5"/>
                </a:solidFill>
              </a:defRPr>
            </a:lvl1pPr>
          </a:lstStyle>
          <a:p>
            <a:pPr indent="0" marL="0">
              <a:buNone/>
            </a:pPr>
            <a:endParaRPr lang="en-US" sz="1600" dirty="0"/>
          </a:p>
        </p:txBody>
      </p:sp>
      <p:sp>
        <p:nvSpPr>
          <p:cNvPr id="3" name="Text 0"/>
          <p:cNvSpPr/>
          <p:nvPr>
            <p:ph idx="101" type="title" hasCustomPrompt="1"/>
          </p:nvPr>
        </p:nvSpPr>
        <p:spPr>
          <a:xfrm>
            <a:off x="731520" y="2011680"/>
            <a:ext cx="1051560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3063240"/>
            <a:ext cx="10515600" cy="548640"/>
          </a:xfrm>
          <a:prstGeom prst="rect">
            <a:avLst/>
          </a:prstGeom>
          <a:noFill/>
          <a:ln/>
        </p:spPr>
        <p:txBody>
          <a:bodyPr wrap="square" rtlCol="0"/>
          <a:lstStyle>
            <a:lvl1pPr algn="l" indent="0" marL="0">
              <a:buNone/>
              <a:defRPr lang="en-US" sz="2000" dirty="0">
                <a:solidFill>
                  <a:schemeClr val="accent5"/>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rtlCol="0"/>
          <a:lstStyle>
            <a:lvl1pPr indent="0" marL="0">
              <a:buNone/>
              <a:defRPr lang="en-US" sz="1400" b="1"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548640" y="621792"/>
            <a:ext cx="11064240" cy="658368"/>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548640" y="1325880"/>
            <a:ext cx="11064240" cy="411480"/>
          </a:xfrm>
          <a:prstGeom prst="rect">
            <a:avLst/>
          </a:prstGeom>
          <a:noFill/>
          <a:ln/>
        </p:spPr>
        <p:txBody>
          <a:bodyPr wrap="square" rtlCol="0"/>
          <a:lstStyle>
            <a:lvl1pPr algn="l" indent="0" marL="0">
              <a:buNone/>
              <a:defRPr lang="en-US" sz="2000" b="1" dirty="0">
                <a:solidFill>
                  <a:schemeClr val="accent1"/>
                </a:solidFill>
              </a:defRPr>
            </a:lvl1pPr>
          </a:lstStyle>
          <a:p>
            <a:pPr algn="l" indent="0" marL="0">
              <a:buNone/>
            </a:pPr>
            <a:endParaRPr lang="en-US" sz="2000" dirty="0"/>
          </a:p>
        </p:txBody>
      </p:sp>
      <p:sp>
        <p:nvSpPr>
          <p:cNvPr id="5" name="Text 0"/>
          <p:cNvSpPr/>
          <p:nvPr/>
        </p:nvSpPr>
        <p:spPr>
          <a:xfrm>
            <a:off x="6583680" y="6400800"/>
            <a:ext cx="4572000" cy="274320"/>
          </a:xfrm>
          <a:prstGeom prst="rect">
            <a:avLst/>
          </a:prstGeom>
          <a:noFill/>
          <a:ln/>
        </p:spPr>
        <p:txBody>
          <a:bodyPr wrap="square" lIns="0" tIns="0" rIns="0" bIns="0" rtlCol="0" anchor="ctr"/>
          <a:lstStyle/>
          <a:p>
            <a:pPr algn="r" indent="0" marL="0">
              <a:buNone/>
            </a:pPr>
            <a:r>
              <a:rPr lang="en-US" sz="1100" dirty="0">
                <a:solidFill>
                  <a:schemeClr val="accent3"/>
                </a:solidFill>
              </a:rPr>
              <a:t>TOOLKOREA 생산팀, Claude AI 파일럿 2기</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8229600" cy="365760"/>
          </a:xfrm>
          <a:prstGeom prst="rect">
            <a:avLst/>
          </a:prstGeom>
          <a:noFill/>
          <a:ln/>
        </p:spPr>
        <p:txBody>
          <a:bodyPr wrap="square" lIns="0" tIns="0" rIns="0" bIns="0" rtlCol="0"/>
          <a:lstStyle/>
          <a:p>
            <a:pPr indent="0" marL="0">
              <a:buNone/>
            </a:pPr>
            <a:r>
              <a:rPr lang="en-US" sz="1600" b="1" spc="200" kern="0" dirty="0">
                <a:solidFill>
                  <a:schemeClr val="accent5"/>
                </a:solidFill>
              </a:rPr>
              <a:t>TOOLKOREA 생산팀    Claude AI 파일럿 2기 성과 발표</a:t>
            </a:r>
            <a:endParaRPr lang="en-US" sz="1600" dirty="0"/>
          </a:p>
        </p:txBody>
      </p:sp>
      <p:sp>
        <p:nvSpPr>
          <p:cNvPr id="3" name="Text 0"/>
          <p:cNvSpPr/>
          <p:nvPr>
            <p:ph idx="101" type="title" hasCustomPrompt="1"/>
          </p:nvPr>
        </p:nvSpPr>
        <p:spPr>
          <a:xfrm>
            <a:off x="731520" y="2011680"/>
            <a:ext cx="10515600" cy="914400"/>
          </a:xfrm>
          <a:prstGeom prst="rect">
            <a:avLst/>
          </a:prstGeom>
          <a:noFill/>
          <a:ln/>
        </p:spPr>
        <p:txBody>
          <a:bodyPr wrap="square" lIns="0" tIns="0" rIns="0" bIns="0" rtlCol="0" anchor="t"/>
          <a:lstStyle/>
          <a:p>
            <a:pPr algn="l" indent="0" marL="0">
              <a:buNone/>
            </a:pPr>
            <a:r>
              <a:rPr lang="en-US" sz="4000" b="1" dirty="0">
                <a:solidFill>
                  <a:schemeClr val="bg1"/>
                </a:solidFill>
              </a:rPr>
              <a:t>재연마 현장 데이터의 정리와 업무 자동화</a:t>
            </a:r>
            <a:endParaRPr lang="en-US" sz="4000" dirty="0"/>
          </a:p>
        </p:txBody>
      </p:sp>
      <p:sp>
        <p:nvSpPr>
          <p:cNvPr id="4" name="Text 0"/>
          <p:cNvSpPr/>
          <p:nvPr>
            <p:ph idx="102" type="body" hasCustomPrompt="1"/>
          </p:nvPr>
        </p:nvSpPr>
        <p:spPr>
          <a:xfrm>
            <a:off x="731520" y="3063240"/>
            <a:ext cx="10515600" cy="548640"/>
          </a:xfrm>
          <a:prstGeom prst="rect">
            <a:avLst/>
          </a:prstGeom>
          <a:noFill/>
          <a:ln/>
        </p:spPr>
        <p:txBody>
          <a:bodyPr wrap="square" lIns="0" tIns="0" rIns="0" bIns="0" rtlCol="0" anchor="t"/>
          <a:lstStyle/>
          <a:p>
            <a:pPr algn="l" indent="0" marL="0">
              <a:buNone/>
            </a:pPr>
            <a:r>
              <a:rPr lang="en-US" sz="2000" dirty="0">
                <a:solidFill>
                  <a:schemeClr val="accent5"/>
                </a:solidFill>
              </a:rPr>
              <a:t>2기(2026. 7 ~ 10) 생산팀 적용 결과</a:t>
            </a:r>
            <a:endParaRPr lang="en-US" sz="2000" dirty="0"/>
          </a:p>
        </p:txBody>
      </p:sp>
      <p:sp>
        <p:nvSpPr>
          <p:cNvPr id="5" name="cover-rule"/>
          <p:cNvSpPr/>
          <p:nvPr/>
        </p:nvSpPr>
        <p:spPr>
          <a:xfrm>
            <a:off x="731520" y="4206240"/>
            <a:ext cx="10698480" cy="0"/>
          </a:xfrm>
          <a:prstGeom prst="line">
            <a:avLst/>
          </a:prstGeom>
          <a:noFill/>
          <a:ln w="9525">
            <a:solidFill>
              <a:srgbClr val="3A506B"/>
            </a:solidFill>
            <a:prstDash val="solid"/>
          </a:ln>
        </p:spPr>
      </p:sp>
      <p:sp>
        <p:nvSpPr>
          <p:cNvPr id="6" name="cover-meta"/>
          <p:cNvSpPr txBox="1"/>
          <p:nvPr/>
        </p:nvSpPr>
        <p:spPr>
          <a:xfrm>
            <a:off x="731520" y="4434840"/>
            <a:ext cx="5486400" cy="822960"/>
          </a:xfrm>
          <a:prstGeom prst="rect">
            <a:avLst/>
          </a:prstGeom>
          <a:noFill/>
          <a:ln/>
        </p:spPr>
        <p:txBody>
          <a:bodyPr wrap="square" lIns="0" tIns="0" rIns="0" bIns="0" rtlCol="0" anchor="t"/>
          <a:lstStyle/>
          <a:p>
            <a:pPr indent="0" marL="0">
              <a:buNone/>
            </a:pPr>
            <a:r>
              <a:rPr lang="en-US" sz="1800" dirty="0">
                <a:solidFill>
                  <a:srgbClr val="6B7A88"/>
                </a:solidFill>
              </a:rPr>
              <a:t>발표  </a:t>
            </a:r>
            <a:pPr indent="0" marL="0">
              <a:buNone/>
            </a:pPr>
            <a:r>
              <a:rPr lang="en-US" sz="1800" dirty="0">
                <a:solidFill>
                  <a:srgbClr val="FFFFFF"/>
                </a:solidFill>
              </a:rPr>
              <a:t>2026. 11. 10 (화)</a:t>
            </a:r>
            <a:endParaRPr lang="en-US" sz="1800" dirty="0"/>
          </a:p>
          <a:p>
            <a:pPr indent="0" marL="0">
              <a:buNone/>
            </a:pPr>
            <a:r>
              <a:rPr lang="en-US" sz="1800" dirty="0">
                <a:solidFill>
                  <a:srgbClr val="6B7A88"/>
                </a:solidFill>
              </a:rPr>
              <a:t>발표자  </a:t>
            </a:r>
            <a:pPr indent="0" marL="0">
              <a:buNone/>
            </a:pPr>
            <a:r>
              <a:rPr lang="en-US" sz="1800" dirty="0">
                <a:solidFill>
                  <a:srgbClr val="FFFFFF"/>
                </a:solidFill>
              </a:rPr>
              <a:t>생산팀 한경준</a:t>
            </a:r>
            <a:endParaRPr lang="en-US" sz="1800" dirty="0"/>
          </a:p>
        </p:txBody>
      </p:sp>
      <p:sp>
        <p:nvSpPr>
          <p:cNvPr id="7" name="cover-src"/>
          <p:cNvSpPr txBox="1"/>
          <p:nvPr/>
        </p:nvSpPr>
        <p:spPr>
          <a:xfrm>
            <a:off x="731520" y="6172200"/>
            <a:ext cx="10698480" cy="320040"/>
          </a:xfrm>
          <a:prstGeom prst="rect">
            <a:avLst/>
          </a:prstGeom>
          <a:noFill/>
          <a:ln/>
        </p:spPr>
        <p:txBody>
          <a:bodyPr wrap="square" lIns="0" tIns="0" rIns="0" bIns="0" rtlCol="0" anchor="ctr"/>
          <a:lstStyle/>
          <a:p>
            <a:pPr indent="0" marL="0">
              <a:buNone/>
            </a:pPr>
            <a:r>
              <a:rPr lang="en-US" sz="1200" dirty="0">
                <a:solidFill>
                  <a:srgbClr val="6B7A88"/>
                </a:solidFill>
              </a:rPr>
              <a:t>근거: 사내 지식 위키(cnc-wiki) 기록, 자동화 실행 로그  |  자료 기준일 2026-10-23</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목차</a:t>
            </a:r>
            <a:endParaRPr lang="en-US" sz="3600" dirty="0"/>
          </a:p>
        </p:txBody>
      </p:sp>
      <p:sp>
        <p:nvSpPr>
          <p:cNvPr id="3" name="title-rule"/>
          <p:cNvSpPr/>
          <p:nvPr/>
        </p:nvSpPr>
        <p:spPr>
          <a:xfrm>
            <a:off x="548640" y="1810512"/>
            <a:ext cx="11064240" cy="0"/>
          </a:xfrm>
          <a:prstGeom prst="line">
            <a:avLst/>
          </a:prstGeom>
          <a:noFill/>
          <a:ln w="12700">
            <a:solidFill>
              <a:srgbClr val="D9E2EC"/>
            </a:solidFill>
            <a:prstDash val="solid"/>
          </a:ln>
        </p:spPr>
      </p:sp>
      <p:sp>
        <p:nvSpPr>
          <p:cNvPr id="4" name="toc0"/>
          <p:cNvSpPr/>
          <p:nvPr/>
        </p:nvSpPr>
        <p:spPr>
          <a:xfrm>
            <a:off x="548640" y="2011680"/>
            <a:ext cx="11064240" cy="676656"/>
          </a:xfrm>
          <a:prstGeom prst="rect">
            <a:avLst/>
          </a:prstGeom>
          <a:solidFill>
            <a:srgbClr val="F4F6F8"/>
          </a:solidFill>
          <a:ln w="9525">
            <a:solidFill>
              <a:srgbClr val="D9E2EC"/>
            </a:solidFill>
            <a:prstDash val="solid"/>
          </a:ln>
        </p:spPr>
      </p:sp>
      <p:sp>
        <p:nvSpPr>
          <p:cNvPr id="5" name="toc0-n"/>
          <p:cNvSpPr txBox="1"/>
          <p:nvPr/>
        </p:nvSpPr>
        <p:spPr>
          <a:xfrm>
            <a:off x="777240" y="2011680"/>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1</a:t>
            </a:r>
            <a:endParaRPr lang="en-US" sz="2400" dirty="0"/>
          </a:p>
        </p:txBody>
      </p:sp>
      <p:sp>
        <p:nvSpPr>
          <p:cNvPr id="6" name="toc0-t"/>
          <p:cNvSpPr txBox="1"/>
          <p:nvPr/>
        </p:nvSpPr>
        <p:spPr>
          <a:xfrm>
            <a:off x="1645920" y="2011680"/>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추진 배경</a:t>
            </a:r>
            <a:endParaRPr lang="en-US" sz="2000" dirty="0"/>
          </a:p>
        </p:txBody>
      </p:sp>
      <p:sp>
        <p:nvSpPr>
          <p:cNvPr id="7" name="toc0-d"/>
          <p:cNvSpPr txBox="1"/>
          <p:nvPr/>
        </p:nvSpPr>
        <p:spPr>
          <a:xfrm>
            <a:off x="6217920" y="2011680"/>
            <a:ext cx="4023360" cy="676656"/>
          </a:xfrm>
          <a:prstGeom prst="rect">
            <a:avLst/>
          </a:prstGeom>
          <a:noFill/>
          <a:ln/>
        </p:spPr>
        <p:txBody>
          <a:bodyPr wrap="square" lIns="0" tIns="0" rIns="0" bIns="0" rtlCol="0" anchor="ctr"/>
          <a:lstStyle/>
          <a:p>
            <a:pPr indent="0" marL="0">
              <a:buNone/>
            </a:pPr>
            <a:r>
              <a:rPr lang="en-US" sz="1600" dirty="0">
                <a:solidFill>
                  <a:srgbClr val="6B7A88"/>
                </a:solidFill>
              </a:rPr>
              <a:t>도입 전 업무와 추진 방향</a:t>
            </a:r>
            <a:endParaRPr lang="en-US" sz="1600" dirty="0"/>
          </a:p>
        </p:txBody>
      </p:sp>
      <p:sp>
        <p:nvSpPr>
          <p:cNvPr id="8" name="toc1"/>
          <p:cNvSpPr/>
          <p:nvPr/>
        </p:nvSpPr>
        <p:spPr>
          <a:xfrm>
            <a:off x="548640" y="2816352"/>
            <a:ext cx="11064240" cy="676656"/>
          </a:xfrm>
          <a:prstGeom prst="rect">
            <a:avLst/>
          </a:prstGeom>
          <a:solidFill>
            <a:srgbClr val="FFFFFF"/>
          </a:solidFill>
          <a:ln w="9525">
            <a:solidFill>
              <a:srgbClr val="D9E2EC"/>
            </a:solidFill>
            <a:prstDash val="solid"/>
          </a:ln>
        </p:spPr>
      </p:sp>
      <p:sp>
        <p:nvSpPr>
          <p:cNvPr id="9" name="toc1-n"/>
          <p:cNvSpPr txBox="1"/>
          <p:nvPr/>
        </p:nvSpPr>
        <p:spPr>
          <a:xfrm>
            <a:off x="777240" y="2816352"/>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2</a:t>
            </a:r>
            <a:endParaRPr lang="en-US" sz="2400" dirty="0"/>
          </a:p>
        </p:txBody>
      </p:sp>
      <p:sp>
        <p:nvSpPr>
          <p:cNvPr id="10" name="toc1-t"/>
          <p:cNvSpPr txBox="1"/>
          <p:nvPr/>
        </p:nvSpPr>
        <p:spPr>
          <a:xfrm>
            <a:off x="1645920" y="2816352"/>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팀 내 Claude 활용 현황</a:t>
            </a:r>
            <a:endParaRPr lang="en-US" sz="2000" dirty="0"/>
          </a:p>
        </p:txBody>
      </p:sp>
      <p:sp>
        <p:nvSpPr>
          <p:cNvPr id="11" name="toc1-d"/>
          <p:cNvSpPr txBox="1"/>
          <p:nvPr/>
        </p:nvSpPr>
        <p:spPr>
          <a:xfrm>
            <a:off x="6217920" y="2816352"/>
            <a:ext cx="4023360" cy="676656"/>
          </a:xfrm>
          <a:prstGeom prst="rect">
            <a:avLst/>
          </a:prstGeom>
          <a:noFill/>
          <a:ln/>
        </p:spPr>
        <p:txBody>
          <a:bodyPr wrap="square" lIns="0" tIns="0" rIns="0" bIns="0" rtlCol="0" anchor="ctr"/>
          <a:lstStyle/>
          <a:p>
            <a:pPr indent="0" marL="0">
              <a:buNone/>
            </a:pPr>
            <a:r>
              <a:rPr lang="en-US" sz="1600" dirty="0">
                <a:solidFill>
                  <a:srgbClr val="6B7A88"/>
                </a:solidFill>
              </a:rPr>
              <a:t>활용 영역과 현장 사례</a:t>
            </a:r>
            <a:endParaRPr lang="en-US" sz="1600" dirty="0"/>
          </a:p>
        </p:txBody>
      </p:sp>
      <p:sp>
        <p:nvSpPr>
          <p:cNvPr id="12" name="toc1-tag"/>
          <p:cNvSpPr txBox="1"/>
          <p:nvPr/>
        </p:nvSpPr>
        <p:spPr>
          <a:xfrm>
            <a:off x="10332720" y="2971800"/>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①</a:t>
            </a:r>
            <a:endParaRPr lang="en-US" sz="1400" dirty="0"/>
          </a:p>
        </p:txBody>
      </p:sp>
      <p:sp>
        <p:nvSpPr>
          <p:cNvPr id="13" name="toc2"/>
          <p:cNvSpPr/>
          <p:nvPr/>
        </p:nvSpPr>
        <p:spPr>
          <a:xfrm>
            <a:off x="548640" y="3621024"/>
            <a:ext cx="11064240" cy="676656"/>
          </a:xfrm>
          <a:prstGeom prst="rect">
            <a:avLst/>
          </a:prstGeom>
          <a:solidFill>
            <a:srgbClr val="F4F6F8"/>
          </a:solidFill>
          <a:ln w="9525">
            <a:solidFill>
              <a:srgbClr val="D9E2EC"/>
            </a:solidFill>
            <a:prstDash val="solid"/>
          </a:ln>
        </p:spPr>
      </p:sp>
      <p:sp>
        <p:nvSpPr>
          <p:cNvPr id="14" name="toc2-n"/>
          <p:cNvSpPr txBox="1"/>
          <p:nvPr/>
        </p:nvSpPr>
        <p:spPr>
          <a:xfrm>
            <a:off x="777240" y="3621024"/>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3</a:t>
            </a:r>
            <a:endParaRPr lang="en-US" sz="2400" dirty="0"/>
          </a:p>
        </p:txBody>
      </p:sp>
      <p:sp>
        <p:nvSpPr>
          <p:cNvPr id="15" name="toc2-t"/>
          <p:cNvSpPr txBox="1"/>
          <p:nvPr/>
        </p:nvSpPr>
        <p:spPr>
          <a:xfrm>
            <a:off x="1645920" y="3621024"/>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자동화 시스템 소개 및 시연</a:t>
            </a:r>
            <a:endParaRPr lang="en-US" sz="2000" dirty="0"/>
          </a:p>
        </p:txBody>
      </p:sp>
      <p:sp>
        <p:nvSpPr>
          <p:cNvPr id="16" name="toc2-d"/>
          <p:cNvSpPr txBox="1"/>
          <p:nvPr/>
        </p:nvSpPr>
        <p:spPr>
          <a:xfrm>
            <a:off x="6217920" y="3621024"/>
            <a:ext cx="4023360" cy="676656"/>
          </a:xfrm>
          <a:prstGeom prst="rect">
            <a:avLst/>
          </a:prstGeom>
          <a:noFill/>
          <a:ln/>
        </p:spPr>
        <p:txBody>
          <a:bodyPr wrap="square" lIns="0" tIns="0" rIns="0" bIns="0" rtlCol="0" anchor="ctr"/>
          <a:lstStyle/>
          <a:p>
            <a:pPr indent="0" marL="0">
              <a:buNone/>
            </a:pPr>
            <a:r>
              <a:rPr lang="en-US" sz="1600" dirty="0">
                <a:solidFill>
                  <a:srgbClr val="6B7A88"/>
                </a:solidFill>
              </a:rPr>
              <a:t>구성, 실행 화면, 질의응답</a:t>
            </a:r>
            <a:endParaRPr lang="en-US" sz="1600" dirty="0"/>
          </a:p>
        </p:txBody>
      </p:sp>
      <p:sp>
        <p:nvSpPr>
          <p:cNvPr id="17" name="toc2-tag"/>
          <p:cNvSpPr txBox="1"/>
          <p:nvPr/>
        </p:nvSpPr>
        <p:spPr>
          <a:xfrm>
            <a:off x="10332720" y="3776472"/>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②</a:t>
            </a:r>
            <a:endParaRPr lang="en-US" sz="1400" dirty="0"/>
          </a:p>
        </p:txBody>
      </p:sp>
      <p:sp>
        <p:nvSpPr>
          <p:cNvPr id="18" name="toc3"/>
          <p:cNvSpPr/>
          <p:nvPr/>
        </p:nvSpPr>
        <p:spPr>
          <a:xfrm>
            <a:off x="548640" y="4425696"/>
            <a:ext cx="11064240" cy="676656"/>
          </a:xfrm>
          <a:prstGeom prst="rect">
            <a:avLst/>
          </a:prstGeom>
          <a:solidFill>
            <a:srgbClr val="FFFFFF"/>
          </a:solidFill>
          <a:ln w="9525">
            <a:solidFill>
              <a:srgbClr val="D9E2EC"/>
            </a:solidFill>
            <a:prstDash val="solid"/>
          </a:ln>
        </p:spPr>
      </p:sp>
      <p:sp>
        <p:nvSpPr>
          <p:cNvPr id="19" name="toc3-n"/>
          <p:cNvSpPr txBox="1"/>
          <p:nvPr/>
        </p:nvSpPr>
        <p:spPr>
          <a:xfrm>
            <a:off x="777240" y="4425696"/>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4</a:t>
            </a:r>
            <a:endParaRPr lang="en-US" sz="2400" dirty="0"/>
          </a:p>
        </p:txBody>
      </p:sp>
      <p:sp>
        <p:nvSpPr>
          <p:cNvPr id="20" name="toc3-t"/>
          <p:cNvSpPr txBox="1"/>
          <p:nvPr/>
        </p:nvSpPr>
        <p:spPr>
          <a:xfrm>
            <a:off x="1645920" y="4425696"/>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업무 적용 전후 비교</a:t>
            </a:r>
            <a:endParaRPr lang="en-US" sz="2000" dirty="0"/>
          </a:p>
        </p:txBody>
      </p:sp>
      <p:sp>
        <p:nvSpPr>
          <p:cNvPr id="21" name="toc3-d"/>
          <p:cNvSpPr txBox="1"/>
          <p:nvPr/>
        </p:nvSpPr>
        <p:spPr>
          <a:xfrm>
            <a:off x="6217920" y="4425696"/>
            <a:ext cx="4023360" cy="676656"/>
          </a:xfrm>
          <a:prstGeom prst="rect">
            <a:avLst/>
          </a:prstGeom>
          <a:noFill/>
          <a:ln/>
        </p:spPr>
        <p:txBody>
          <a:bodyPr wrap="square" lIns="0" tIns="0" rIns="0" bIns="0" rtlCol="0" anchor="ctr"/>
          <a:lstStyle/>
          <a:p>
            <a:pPr indent="0" marL="0">
              <a:buNone/>
            </a:pPr>
            <a:r>
              <a:rPr lang="en-US" sz="1600" dirty="0">
                <a:solidFill>
                  <a:srgbClr val="6B7A88"/>
                </a:solidFill>
              </a:rPr>
              <a:t>일일보고와 항목별 전후 비교</a:t>
            </a:r>
            <a:endParaRPr lang="en-US" sz="1600" dirty="0"/>
          </a:p>
        </p:txBody>
      </p:sp>
      <p:sp>
        <p:nvSpPr>
          <p:cNvPr id="22" name="toc3-tag"/>
          <p:cNvSpPr txBox="1"/>
          <p:nvPr/>
        </p:nvSpPr>
        <p:spPr>
          <a:xfrm>
            <a:off x="10332720" y="4581144"/>
            <a:ext cx="1097280" cy="365760"/>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필수 ③</a:t>
            </a:r>
            <a:endParaRPr lang="en-US" sz="1400" dirty="0"/>
          </a:p>
        </p:txBody>
      </p:sp>
      <p:sp>
        <p:nvSpPr>
          <p:cNvPr id="23" name="toc4"/>
          <p:cNvSpPr/>
          <p:nvPr/>
        </p:nvSpPr>
        <p:spPr>
          <a:xfrm>
            <a:off x="548640" y="5230368"/>
            <a:ext cx="11064240" cy="676656"/>
          </a:xfrm>
          <a:prstGeom prst="rect">
            <a:avLst/>
          </a:prstGeom>
          <a:solidFill>
            <a:srgbClr val="F4F6F8"/>
          </a:solidFill>
          <a:ln w="9525">
            <a:solidFill>
              <a:srgbClr val="D9E2EC"/>
            </a:solidFill>
            <a:prstDash val="solid"/>
          </a:ln>
        </p:spPr>
      </p:sp>
      <p:sp>
        <p:nvSpPr>
          <p:cNvPr id="24" name="toc4-n"/>
          <p:cNvSpPr txBox="1"/>
          <p:nvPr/>
        </p:nvSpPr>
        <p:spPr>
          <a:xfrm>
            <a:off x="777240" y="5230368"/>
            <a:ext cx="822960" cy="676656"/>
          </a:xfrm>
          <a:prstGeom prst="rect">
            <a:avLst/>
          </a:prstGeom>
          <a:noFill/>
          <a:ln/>
        </p:spPr>
        <p:txBody>
          <a:bodyPr wrap="square" lIns="0" tIns="0" rIns="0" bIns="0" rtlCol="0" anchor="ctr"/>
          <a:lstStyle/>
          <a:p>
            <a:pPr indent="0" marL="0">
              <a:buNone/>
            </a:pPr>
            <a:r>
              <a:rPr lang="en-US" sz="2400" b="1" dirty="0">
                <a:solidFill>
                  <a:srgbClr val="0E7C86"/>
                </a:solidFill>
              </a:rPr>
              <a:t>5</a:t>
            </a:r>
            <a:endParaRPr lang="en-US" sz="2400" dirty="0"/>
          </a:p>
        </p:txBody>
      </p:sp>
      <p:sp>
        <p:nvSpPr>
          <p:cNvPr id="25" name="toc4-t"/>
          <p:cNvSpPr txBox="1"/>
          <p:nvPr/>
        </p:nvSpPr>
        <p:spPr>
          <a:xfrm>
            <a:off x="1645920" y="5230368"/>
            <a:ext cx="4572000" cy="676656"/>
          </a:xfrm>
          <a:prstGeom prst="rect">
            <a:avLst/>
          </a:prstGeom>
          <a:noFill/>
          <a:ln/>
        </p:spPr>
        <p:txBody>
          <a:bodyPr wrap="square" lIns="0" tIns="0" rIns="0" bIns="0" rtlCol="0" anchor="ctr"/>
          <a:lstStyle/>
          <a:p>
            <a:pPr indent="0" marL="0">
              <a:buNone/>
            </a:pPr>
            <a:r>
              <a:rPr lang="en-US" sz="2000" b="1" dirty="0">
                <a:solidFill>
                  <a:srgbClr val="1F2A36"/>
                </a:solidFill>
              </a:rPr>
              <a:t>한계와 향후 과제</a:t>
            </a:r>
            <a:endParaRPr lang="en-US" sz="2000" dirty="0"/>
          </a:p>
        </p:txBody>
      </p:sp>
      <p:sp>
        <p:nvSpPr>
          <p:cNvPr id="26" name="toc4-d"/>
          <p:cNvSpPr txBox="1"/>
          <p:nvPr/>
        </p:nvSpPr>
        <p:spPr>
          <a:xfrm>
            <a:off x="6217920" y="5230368"/>
            <a:ext cx="4023360" cy="676656"/>
          </a:xfrm>
          <a:prstGeom prst="rect">
            <a:avLst/>
          </a:prstGeom>
          <a:noFill/>
          <a:ln/>
        </p:spPr>
        <p:txBody>
          <a:bodyPr wrap="square" lIns="0" tIns="0" rIns="0" bIns="0" rtlCol="0" anchor="ctr"/>
          <a:lstStyle/>
          <a:p>
            <a:pPr indent="0" marL="0">
              <a:buNone/>
            </a:pPr>
            <a:r>
              <a:rPr lang="en-US" sz="1600" dirty="0">
                <a:solidFill>
                  <a:srgbClr val="6B7A88"/>
                </a:solidFill>
              </a:rPr>
              <a:t>CAM 연결 시험과 운영 한계, 다음 과제</a:t>
            </a:r>
            <a:endParaRPr lang="en-US" sz="1600" dirty="0"/>
          </a:p>
        </p:txBody>
      </p:sp>
      <p:sp>
        <p:nvSpPr>
          <p:cNvPr id="28"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9"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endParaRPr lang="en-US" sz="2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추진 배경</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일일보고 집계와 장비 투입 판단을 매일 손으로 처리</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src0-cap"/>
          <p:cNvSpPr txBox="1"/>
          <p:nvPr/>
        </p:nvSpPr>
        <p:spPr>
          <a:xfrm>
            <a:off x="548640" y="1965960"/>
            <a:ext cx="4572000" cy="292608"/>
          </a:xfrm>
          <a:prstGeom prst="rect">
            <a:avLst/>
          </a:prstGeom>
          <a:noFill/>
          <a:ln/>
        </p:spPr>
        <p:txBody>
          <a:bodyPr wrap="square" lIns="0" tIns="0" rIns="0" bIns="0" rtlCol="0" anchor="ctr"/>
          <a:lstStyle/>
          <a:p>
            <a:pPr indent="0" marL="0">
              <a:buNone/>
            </a:pPr>
            <a:r>
              <a:rPr lang="en-US" sz="1300" b="1" dirty="0">
                <a:solidFill>
                  <a:srgbClr val="3A506B"/>
                </a:solidFill>
              </a:rPr>
              <a:t>하루 1시트씩 손으로 입력하던 월간생산일지 엑셀</a:t>
            </a:r>
            <a:endParaRPr lang="en-US" sz="1300" dirty="0"/>
          </a:p>
        </p:txBody>
      </p:sp>
      <p:pic>
        <p:nvPicPr>
          <p:cNvPr id="11" name="src0-img" descr="재연마 월간생산일지 엑셀 화면 (10-16 시트, 금액 열 숨김)">    </p:cNvPr>
          <p:cNvPicPr>
            <a:picLocks noChangeAspect="1"/>
          </p:cNvPicPr>
          <p:nvPr/>
        </p:nvPicPr>
        <p:blipFill>
          <a:blip r:embed="rId1"/>
          <a:stretch>
            <a:fillRect/>
          </a:stretch>
        </p:blipFill>
        <p:spPr>
          <a:xfrm>
            <a:off x="548640" y="2286000"/>
            <a:ext cx="4572000" cy="1569386"/>
          </a:xfrm>
          <a:prstGeom prst="rect">
            <a:avLst/>
          </a:prstGeom>
        </p:spPr>
      </p:pic>
      <p:sp>
        <p:nvSpPr>
          <p:cNvPr id="12" name="src0-frame"/>
          <p:cNvSpPr/>
          <p:nvPr/>
        </p:nvSpPr>
        <p:spPr>
          <a:xfrm>
            <a:off x="548640" y="2286000"/>
            <a:ext cx="4572000" cy="1569386"/>
          </a:xfrm>
          <a:prstGeom prst="rect">
            <a:avLst/>
          </a:prstGeom>
          <a:ln w="9525">
            <a:solidFill>
              <a:srgbClr val="D9E2EC"/>
            </a:solidFill>
            <a:prstDash val="solid"/>
          </a:ln>
        </p:spPr>
      </p:sp>
      <p:sp>
        <p:nvSpPr>
          <p:cNvPr id="13" name="src1-cap"/>
          <p:cNvSpPr txBox="1"/>
          <p:nvPr/>
        </p:nvSpPr>
        <p:spPr>
          <a:xfrm>
            <a:off x="548640" y="4041648"/>
            <a:ext cx="4572000" cy="292608"/>
          </a:xfrm>
          <a:prstGeom prst="rect">
            <a:avLst/>
          </a:prstGeom>
          <a:noFill/>
          <a:ln/>
        </p:spPr>
        <p:txBody>
          <a:bodyPr wrap="square" lIns="0" tIns="0" rIns="0" bIns="0" rtlCol="0" anchor="ctr"/>
          <a:lstStyle/>
          <a:p>
            <a:pPr indent="0" marL="0">
              <a:buNone/>
            </a:pPr>
            <a:r>
              <a:rPr lang="en-US" sz="1300" b="1" dirty="0">
                <a:solidFill>
                  <a:srgbClr val="3A506B"/>
                </a:solidFill>
              </a:rPr>
              <a:t>장비마다 따로 보관하던 수리 발주서 PDF</a:t>
            </a:r>
            <a:endParaRPr lang="en-US" sz="1300" dirty="0"/>
          </a:p>
        </p:txBody>
      </p:sp>
      <p:pic>
        <p:nvPicPr>
          <p:cNvPr id="14" name="src1-img" descr="장비 수리 발주서 PDF (연락처·주소 흐림 처리)">    </p:cNvPr>
          <p:cNvPicPr>
            <a:picLocks noChangeAspect="1"/>
          </p:cNvPicPr>
          <p:nvPr/>
        </p:nvPicPr>
        <p:blipFill>
          <a:blip r:embed="rId2"/>
          <a:stretch>
            <a:fillRect/>
          </a:stretch>
        </p:blipFill>
        <p:spPr>
          <a:xfrm>
            <a:off x="548640" y="4361688"/>
            <a:ext cx="3474720" cy="1737360"/>
          </a:xfrm>
          <a:prstGeom prst="rect">
            <a:avLst/>
          </a:prstGeom>
        </p:spPr>
      </p:pic>
      <p:sp>
        <p:nvSpPr>
          <p:cNvPr id="15" name="src1-frame"/>
          <p:cNvSpPr/>
          <p:nvPr/>
        </p:nvSpPr>
        <p:spPr>
          <a:xfrm>
            <a:off x="548640" y="4361688"/>
            <a:ext cx="3474720" cy="1737360"/>
          </a:xfrm>
          <a:prstGeom prst="rect">
            <a:avLst/>
          </a:prstGeom>
          <a:ln w="9525">
            <a:solidFill>
              <a:srgbClr val="D9E2EC"/>
            </a:solidFill>
            <a:prstDash val="solid"/>
          </a:ln>
        </p:spPr>
      </p:sp>
      <p:sp>
        <p:nvSpPr>
          <p:cNvPr id="16" name="bg-asis"/>
          <p:cNvSpPr/>
          <p:nvPr/>
        </p:nvSpPr>
        <p:spPr>
          <a:xfrm>
            <a:off x="5394960" y="1965960"/>
            <a:ext cx="6217920" cy="2011680"/>
          </a:xfrm>
          <a:prstGeom prst="rect">
            <a:avLst/>
          </a:prstGeom>
          <a:solidFill>
            <a:srgbClr val="F4F6F8"/>
          </a:solidFill>
          <a:ln w="9525">
            <a:solidFill>
              <a:srgbClr val="D9E2EC"/>
            </a:solidFill>
            <a:prstDash val="solid"/>
          </a:ln>
        </p:spPr>
      </p:sp>
      <p:sp>
        <p:nvSpPr>
          <p:cNvPr id="17" name="asis-h"/>
          <p:cNvSpPr txBox="1"/>
          <p:nvPr/>
        </p:nvSpPr>
        <p:spPr>
          <a:xfrm>
            <a:off x="5623560" y="2057400"/>
            <a:ext cx="5760720" cy="365760"/>
          </a:xfrm>
          <a:prstGeom prst="rect">
            <a:avLst/>
          </a:prstGeom>
          <a:noFill/>
          <a:ln/>
        </p:spPr>
        <p:txBody>
          <a:bodyPr wrap="square" lIns="0" tIns="0" rIns="0" bIns="0" rtlCol="0" anchor="ctr"/>
          <a:lstStyle/>
          <a:p>
            <a:pPr indent="0" marL="0">
              <a:buNone/>
            </a:pPr>
            <a:r>
              <a:rPr lang="en-US" sz="1700" b="1" dirty="0">
                <a:solidFill>
                  <a:srgbClr val="3A506B"/>
                </a:solidFill>
              </a:rPr>
              <a:t>도입 전</a:t>
            </a:r>
            <a:endParaRPr lang="en-US" sz="1700" dirty="0"/>
          </a:p>
        </p:txBody>
      </p:sp>
      <p:sp>
        <p:nvSpPr>
          <p:cNvPr id="18" name="asis-t"/>
          <p:cNvSpPr txBox="1"/>
          <p:nvPr/>
        </p:nvSpPr>
        <p:spPr>
          <a:xfrm>
            <a:off x="5623560" y="2468880"/>
            <a:ext cx="5806440" cy="141732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2C3E50"/>
                </a:solidFill>
              </a:rPr>
              <a:t>일일보고는 매일 엑셀로 손집계</a:t>
            </a:r>
            <a:endParaRPr lang="en-US" sz="1700" dirty="0"/>
          </a:p>
          <a:p>
            <a:pPr marL="342900" indent="-342900">
              <a:spcAft>
                <a:spcPts val="600"/>
              </a:spcAft>
              <a:buSzPct val="100000"/>
              <a:buChar char="•"/>
            </a:pPr>
            <a:r>
              <a:rPr lang="en-US" sz="1700" dirty="0">
                <a:solidFill>
                  <a:srgbClr val="2C3E50"/>
                </a:solidFill>
              </a:rPr>
              <a:t>장비 투입 순서는 담당자 경험으로 결정</a:t>
            </a:r>
            <a:endParaRPr lang="en-US" sz="1700" dirty="0"/>
          </a:p>
          <a:p>
            <a:pPr marL="342900" indent="-342900">
              <a:spcAft>
                <a:spcPts val="600"/>
              </a:spcAft>
              <a:buSzPct val="100000"/>
              <a:buChar char="•"/>
            </a:pPr>
            <a:r>
              <a:rPr lang="en-US" sz="1700" dirty="0">
                <a:solidFill>
                  <a:srgbClr val="2C3E50"/>
                </a:solidFill>
              </a:rPr>
              <a:t>조건을 바꾼 이유와 고장 처리 경위는 기록 없음</a:t>
            </a:r>
            <a:endParaRPr lang="en-US" sz="1700" dirty="0"/>
          </a:p>
        </p:txBody>
      </p:sp>
      <p:sp>
        <p:nvSpPr>
          <p:cNvPr id="19" name="bg-arrow"/>
          <p:cNvSpPr/>
          <p:nvPr/>
        </p:nvSpPr>
        <p:spPr>
          <a:xfrm>
            <a:off x="8275320" y="4041648"/>
            <a:ext cx="457200" cy="292608"/>
          </a:xfrm>
          <a:prstGeom prst="downArrow">
            <a:avLst/>
          </a:prstGeom>
          <a:solidFill>
            <a:srgbClr val="0E7C86"/>
          </a:solidFill>
          <a:ln w="12700">
            <a:solidFill>
              <a:srgbClr val="0E7C86"/>
            </a:solidFill>
            <a:prstDash val="solid"/>
          </a:ln>
        </p:spPr>
      </p:sp>
      <p:sp>
        <p:nvSpPr>
          <p:cNvPr id="20" name="bg-tobe"/>
          <p:cNvSpPr/>
          <p:nvPr/>
        </p:nvSpPr>
        <p:spPr>
          <a:xfrm>
            <a:off x="5394960" y="4389120"/>
            <a:ext cx="6217920" cy="1737360"/>
          </a:xfrm>
          <a:prstGeom prst="rect">
            <a:avLst/>
          </a:prstGeom>
          <a:solidFill>
            <a:srgbClr val="EAF4F5"/>
          </a:solidFill>
          <a:ln w="9525">
            <a:solidFill>
              <a:srgbClr val="D9E2EC"/>
            </a:solidFill>
            <a:prstDash val="solid"/>
          </a:ln>
        </p:spPr>
      </p:sp>
      <p:sp>
        <p:nvSpPr>
          <p:cNvPr id="21" name="tobe-h"/>
          <p:cNvSpPr txBox="1"/>
          <p:nvPr/>
        </p:nvSpPr>
        <p:spPr>
          <a:xfrm>
            <a:off x="5623560" y="4480560"/>
            <a:ext cx="5760720" cy="365760"/>
          </a:xfrm>
          <a:prstGeom prst="rect">
            <a:avLst/>
          </a:prstGeom>
          <a:noFill/>
          <a:ln/>
        </p:spPr>
        <p:txBody>
          <a:bodyPr wrap="square" lIns="0" tIns="0" rIns="0" bIns="0" rtlCol="0" anchor="ctr"/>
          <a:lstStyle/>
          <a:p>
            <a:pPr indent="0" marL="0">
              <a:buNone/>
            </a:pPr>
            <a:r>
              <a:rPr lang="en-US" sz="1700" b="1" dirty="0">
                <a:solidFill>
                  <a:srgbClr val="0E7C86"/>
                </a:solidFill>
              </a:rPr>
              <a:t>추진 방향</a:t>
            </a:r>
            <a:endParaRPr lang="en-US" sz="1700" dirty="0"/>
          </a:p>
        </p:txBody>
      </p:sp>
      <p:sp>
        <p:nvSpPr>
          <p:cNvPr id="22" name="tobe-t"/>
          <p:cNvSpPr txBox="1"/>
          <p:nvPr/>
        </p:nvSpPr>
        <p:spPr>
          <a:xfrm>
            <a:off x="5623560" y="4864608"/>
            <a:ext cx="5806440" cy="1188720"/>
          </a:xfrm>
          <a:prstGeom prst="rect">
            <a:avLst/>
          </a:prstGeom>
          <a:noFill/>
          <a:ln/>
        </p:spPr>
        <p:txBody>
          <a:bodyPr wrap="square" lIns="0" tIns="0" rIns="0" bIns="0" rtlCol="0" anchor="t"/>
          <a:lstStyle/>
          <a:p>
            <a:pPr marL="342900" indent="-342900">
              <a:spcAft>
                <a:spcPts val="400"/>
              </a:spcAft>
              <a:buSzPct val="100000"/>
              <a:buChar char="•"/>
            </a:pPr>
            <a:r>
              <a:rPr lang="en-US" sz="1700" dirty="0">
                <a:solidFill>
                  <a:srgbClr val="2C3E50"/>
                </a:solidFill>
              </a:rPr>
              <a:t>출처와 신뢰도를 붙여 사내 위키에 기록</a:t>
            </a:r>
            <a:endParaRPr lang="en-US" sz="1700" dirty="0"/>
          </a:p>
          <a:p>
            <a:pPr marL="342900" indent="-342900">
              <a:spcAft>
                <a:spcPts val="400"/>
              </a:spcAft>
              <a:buSzPct val="100000"/>
              <a:buChar char="•"/>
            </a:pPr>
            <a:r>
              <a:rPr lang="en-US" sz="1700" dirty="0">
                <a:solidFill>
                  <a:srgbClr val="2C3E50"/>
                </a:solidFill>
              </a:rPr>
              <a:t>반복 집계는 업무 PC 예약 실행으로</a:t>
            </a:r>
            <a:endParaRPr lang="en-US" sz="1700" dirty="0"/>
          </a:p>
          <a:p>
            <a:pPr marL="342900" indent="-342900">
              <a:spcAft>
                <a:spcPts val="400"/>
              </a:spcAft>
              <a:buSzPct val="100000"/>
              <a:buChar char="•"/>
            </a:pPr>
            <a:r>
              <a:rPr lang="en-US" sz="1700" dirty="0">
                <a:solidFill>
                  <a:srgbClr val="2C3E50"/>
                </a:solidFill>
              </a:rPr>
              <a:t>기존 값은 지우지 않고 이력으로 보존</a:t>
            </a:r>
            <a:endParaRPr lang="en-US" sz="1700" dirty="0"/>
          </a:p>
        </p:txBody>
      </p:sp>
      <p:sp>
        <p:nvSpPr>
          <p:cNvPr id="23"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재연마 장비는 ANCA FastGrind와 GX7 2대</a:t>
            </a:r>
            <a:endParaRPr lang="en-US" sz="1200" dirty="0"/>
          </a:p>
        </p:txBody>
      </p:sp>
      <p:sp>
        <p:nvSpPr>
          <p:cNvPr id="25"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팀 내 활용 현황 (1/2)</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6개월 동안 재연마 기록 문서 149개 작성</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graphicFrame>
        <p:nvGraphicFramePr>
          <p:cNvPr id="5" name="area-table"/>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1920240"/>
                <a:gridCol w="5394960"/>
                <a:gridCol w="3749040"/>
              </a:tblGrid>
              <a:tr h="420624">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영역</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대표 사례</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566928">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지식 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장비, 휠, 연삭 조건, 수리 이력 정리</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문서 149개와 수리 이력 17건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566928">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보고 자동화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매일 07:50과 16:00에 일일보고와 현황판 생성</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일일보고 137건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566928">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현장 판단 보조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ERP 수주 기준으로 장비별 투입 순서 작성</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09-28부터 쓰며 규칙 8번 수정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566928">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데이터 검수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단가표 대조, 작업일지 읽기, ERP 조회</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단가표 10,744건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566928">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설비 문서</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1F2A36"/>
                          </a:solidFill>
                          <a:latin typeface="맑은 고딕" pitchFamily="34" charset="0"/>
                          <a:ea typeface="맑은 고딕" pitchFamily="34" charset="-122"/>
                          <a:cs typeface="맑은 고딕" pitchFamily="34" charset="-120"/>
                        </a:rPr>
                        <a:t>로더 고장 진단, 수리 검토보고, 증설 투자 검토</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F와 GX7 로더 정식 수리</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bl>
          </a:graphicData>
        </a:graphic>
      </p:graphicFrame>
      <p:sp>
        <p:nvSpPr>
          <p:cNvPr id="11" name="area-etc"/>
          <p:cNvSpPr txBox="1"/>
          <p:nvPr/>
        </p:nvSpPr>
        <p:spPr>
          <a:xfrm>
            <a:off x="548640" y="5349240"/>
            <a:ext cx="11064240" cy="329184"/>
          </a:xfrm>
          <a:prstGeom prst="rect">
            <a:avLst/>
          </a:prstGeom>
          <a:noFill/>
          <a:ln/>
        </p:spPr>
        <p:txBody>
          <a:bodyPr wrap="square" lIns="0" tIns="0" rIns="0" bIns="0" rtlCol="0" anchor="ctr"/>
          <a:lstStyle/>
          <a:p>
            <a:pPr indent="0" marL="0">
              <a:buNone/>
            </a:pPr>
            <a:r>
              <a:rPr lang="en-US" sz="1700" b="1" dirty="0">
                <a:solidFill>
                  <a:srgbClr val="1F2A36"/>
                </a:solidFill>
              </a:rPr>
              <a:t>판단 근거 기록 330여 건과 Python 자동화 스크립트 59개</a:t>
            </a:r>
            <a:endParaRPr lang="en-US" sz="1700" dirty="0"/>
          </a:p>
        </p:txBody>
      </p:sp>
      <p:sp>
        <p:nvSpPr>
          <p:cNvPr id="12" name="area-src"/>
          <p:cNvSpPr txBox="1"/>
          <p:nvPr/>
        </p:nvSpPr>
        <p:spPr>
          <a:xfrm>
            <a:off x="548640" y="5715000"/>
            <a:ext cx="11064240" cy="329184"/>
          </a:xfrm>
          <a:prstGeom prst="rect">
            <a:avLst/>
          </a:prstGeom>
          <a:noFill/>
          <a:ln/>
        </p:spPr>
        <p:txBody>
          <a:bodyPr wrap="square" lIns="0" tIns="0" rIns="0" bIns="0" rtlCol="0" anchor="ctr"/>
          <a:lstStyle/>
          <a:p>
            <a:pPr indent="0" marL="0">
              <a:buNone/>
            </a:pPr>
            <a:r>
              <a:rPr lang="en-US" sz="1500" dirty="0">
                <a:solidFill>
                  <a:srgbClr val="3A506B"/>
                </a:solidFill>
              </a:rPr>
              <a:t>수치마다 출처 표기. 예: 휠 원주속도 18 ~ 22 m/s [제조사 기준] / 사내 실사용 2,600 ~ 3,000 rpm [실측]</a:t>
            </a:r>
            <a:endParaRPr lang="en-US" sz="1500" dirty="0"/>
          </a:p>
        </p:txBody>
      </p:sp>
      <p:sp>
        <p:nvSpPr>
          <p:cNvPr id="13"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투입 목록과 단가표 검수는 2기에 새로 시작  |  자료 기준일 2026-10-23</a:t>
            </a:r>
            <a:endParaRPr lang="en-US" sz="1200" dirty="0"/>
          </a:p>
        </p:txBody>
      </p:sp>
      <p:sp>
        <p:nvSpPr>
          <p:cNvPr id="15"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팀 내 활용 현황 (2/2) 현장 사례</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넥 원통연삭 두 번째 시험에서 넥 시작부 자국 해결</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step0"/>
          <p:cNvSpPr/>
          <p:nvPr/>
        </p:nvSpPr>
        <p:spPr>
          <a:xfrm>
            <a:off x="548640" y="1965960"/>
            <a:ext cx="5120640" cy="914400"/>
          </a:xfrm>
          <a:prstGeom prst="rect">
            <a:avLst/>
          </a:prstGeom>
          <a:solidFill>
            <a:srgbClr val="F4F6F8"/>
          </a:solidFill>
          <a:ln w="9525">
            <a:solidFill>
              <a:srgbClr val="D9E2EC"/>
            </a:solidFill>
            <a:prstDash val="solid"/>
          </a:ln>
        </p:spPr>
      </p:sp>
      <p:sp>
        <p:nvSpPr>
          <p:cNvPr id="11" name="step0-n"/>
          <p:cNvSpPr txBox="1"/>
          <p:nvPr/>
        </p:nvSpPr>
        <p:spPr>
          <a:xfrm>
            <a:off x="685800" y="1965960"/>
            <a:ext cx="1234440" cy="914400"/>
          </a:xfrm>
          <a:prstGeom prst="rect">
            <a:avLst/>
          </a:prstGeom>
          <a:noFill/>
          <a:ln/>
        </p:spPr>
        <p:txBody>
          <a:bodyPr wrap="square" lIns="0" tIns="0" rIns="0" bIns="0" rtlCol="0" anchor="ctr"/>
          <a:lstStyle/>
          <a:p>
            <a:pPr indent="0" marL="0">
              <a:buNone/>
            </a:pPr>
            <a:r>
              <a:rPr lang="en-US" sz="1600" b="1" dirty="0">
                <a:solidFill>
                  <a:srgbClr val="0E7C86"/>
                </a:solidFill>
              </a:rPr>
              <a:t>10-19 ~ 20</a:t>
            </a:r>
            <a:endParaRPr lang="en-US" sz="1600" dirty="0"/>
          </a:p>
        </p:txBody>
      </p:sp>
      <p:sp>
        <p:nvSpPr>
          <p:cNvPr id="12" name="step0-t"/>
          <p:cNvSpPr txBox="1"/>
          <p:nvPr/>
        </p:nvSpPr>
        <p:spPr>
          <a:xfrm>
            <a:off x="1965960" y="2011680"/>
            <a:ext cx="3611880" cy="822960"/>
          </a:xfrm>
          <a:prstGeom prst="rect">
            <a:avLst/>
          </a:prstGeom>
          <a:noFill/>
          <a:ln/>
        </p:spPr>
        <p:txBody>
          <a:bodyPr wrap="square" lIns="0" tIns="0" rIns="0" bIns="0" rtlCol="0" anchor="ctr"/>
          <a:lstStyle/>
          <a:p>
            <a:pPr indent="0" marL="0">
              <a:buNone/>
            </a:pPr>
            <a:r>
              <a:rPr lang="en-US" sz="1700" dirty="0">
                <a:solidFill>
                  <a:srgbClr val="2C3E50"/>
                </a:solidFill>
              </a:rPr>
              <a:t>테스트 1 정삭만 4회 가공에서 넥 시작부 같은 자리 자국 반복</a:t>
            </a:r>
            <a:endParaRPr lang="en-US" sz="1700" dirty="0"/>
          </a:p>
        </p:txBody>
      </p:sp>
      <p:sp>
        <p:nvSpPr>
          <p:cNvPr id="13" name="step1"/>
          <p:cNvSpPr/>
          <p:nvPr/>
        </p:nvSpPr>
        <p:spPr>
          <a:xfrm>
            <a:off x="548640" y="3017520"/>
            <a:ext cx="5120640" cy="914400"/>
          </a:xfrm>
          <a:prstGeom prst="rect">
            <a:avLst/>
          </a:prstGeom>
          <a:solidFill>
            <a:srgbClr val="FFFFFF"/>
          </a:solidFill>
          <a:ln w="9525">
            <a:solidFill>
              <a:srgbClr val="D9E2EC"/>
            </a:solidFill>
            <a:prstDash val="solid"/>
          </a:ln>
        </p:spPr>
      </p:sp>
      <p:sp>
        <p:nvSpPr>
          <p:cNvPr id="14" name="step1-n"/>
          <p:cNvSpPr txBox="1"/>
          <p:nvPr/>
        </p:nvSpPr>
        <p:spPr>
          <a:xfrm>
            <a:off x="685800" y="3017520"/>
            <a:ext cx="1234440" cy="914400"/>
          </a:xfrm>
          <a:prstGeom prst="rect">
            <a:avLst/>
          </a:prstGeom>
          <a:noFill/>
          <a:ln/>
        </p:spPr>
        <p:txBody>
          <a:bodyPr wrap="square" lIns="0" tIns="0" rIns="0" bIns="0" rtlCol="0" anchor="ctr"/>
          <a:lstStyle/>
          <a:p>
            <a:pPr indent="0" marL="0">
              <a:buNone/>
            </a:pPr>
            <a:r>
              <a:rPr lang="en-US" sz="1600" b="1" dirty="0">
                <a:solidFill>
                  <a:srgbClr val="0E7C86"/>
                </a:solidFill>
              </a:rPr>
              <a:t>10-20</a:t>
            </a:r>
            <a:endParaRPr lang="en-US" sz="1600" dirty="0"/>
          </a:p>
        </p:txBody>
      </p:sp>
      <p:sp>
        <p:nvSpPr>
          <p:cNvPr id="15" name="step1-t"/>
          <p:cNvSpPr txBox="1"/>
          <p:nvPr/>
        </p:nvSpPr>
        <p:spPr>
          <a:xfrm>
            <a:off x="1965960" y="3063240"/>
            <a:ext cx="3611880" cy="822960"/>
          </a:xfrm>
          <a:prstGeom prst="rect">
            <a:avLst/>
          </a:prstGeom>
          <a:noFill/>
          <a:ln/>
        </p:spPr>
        <p:txBody>
          <a:bodyPr wrap="square" lIns="0" tIns="0" rIns="0" bIns="0" rtlCol="0" anchor="ctr"/>
          <a:lstStyle/>
          <a:p>
            <a:pPr indent="0" marL="0">
              <a:buNone/>
            </a:pPr>
            <a:r>
              <a:rPr lang="en-US" sz="1700" dirty="0">
                <a:solidFill>
                  <a:srgbClr val="2C3E50"/>
                </a:solidFill>
              </a:rPr>
              <a:t>제조사 롱넥 31품목 치수로 넥 기준 dn = 0.96 × D 설정</a:t>
            </a:r>
            <a:endParaRPr lang="en-US" sz="1700" dirty="0"/>
          </a:p>
        </p:txBody>
      </p:sp>
      <p:sp>
        <p:nvSpPr>
          <p:cNvPr id="16" name="step2"/>
          <p:cNvSpPr/>
          <p:nvPr/>
        </p:nvSpPr>
        <p:spPr>
          <a:xfrm>
            <a:off x="548640" y="4069080"/>
            <a:ext cx="5120640" cy="914400"/>
          </a:xfrm>
          <a:prstGeom prst="rect">
            <a:avLst/>
          </a:prstGeom>
          <a:solidFill>
            <a:srgbClr val="F4F6F8"/>
          </a:solidFill>
          <a:ln w="9525">
            <a:solidFill>
              <a:srgbClr val="D9E2EC"/>
            </a:solidFill>
            <a:prstDash val="solid"/>
          </a:ln>
        </p:spPr>
      </p:sp>
      <p:sp>
        <p:nvSpPr>
          <p:cNvPr id="17" name="step2-n"/>
          <p:cNvSpPr txBox="1"/>
          <p:nvPr/>
        </p:nvSpPr>
        <p:spPr>
          <a:xfrm>
            <a:off x="685800" y="4069080"/>
            <a:ext cx="1234440" cy="914400"/>
          </a:xfrm>
          <a:prstGeom prst="rect">
            <a:avLst/>
          </a:prstGeom>
          <a:noFill/>
          <a:ln/>
        </p:spPr>
        <p:txBody>
          <a:bodyPr wrap="square" lIns="0" tIns="0" rIns="0" bIns="0" rtlCol="0" anchor="ctr"/>
          <a:lstStyle/>
          <a:p>
            <a:pPr indent="0" marL="0">
              <a:buNone/>
            </a:pPr>
            <a:r>
              <a:rPr lang="en-US" sz="1600" b="1" dirty="0">
                <a:solidFill>
                  <a:srgbClr val="0E7C86"/>
                </a:solidFill>
              </a:rPr>
              <a:t>10-20 오후</a:t>
            </a:r>
            <a:endParaRPr lang="en-US" sz="1600" dirty="0"/>
          </a:p>
        </p:txBody>
      </p:sp>
      <p:sp>
        <p:nvSpPr>
          <p:cNvPr id="18" name="step2-t"/>
          <p:cNvSpPr txBox="1"/>
          <p:nvPr/>
        </p:nvSpPr>
        <p:spPr>
          <a:xfrm>
            <a:off x="1965960" y="4114800"/>
            <a:ext cx="3611880" cy="822960"/>
          </a:xfrm>
          <a:prstGeom prst="rect">
            <a:avLst/>
          </a:prstGeom>
          <a:noFill/>
          <a:ln/>
        </p:spPr>
        <p:txBody>
          <a:bodyPr wrap="square" lIns="0" tIns="0" rIns="0" bIns="0" rtlCol="0" anchor="ctr"/>
          <a:lstStyle/>
          <a:p>
            <a:pPr indent="0" marL="0">
              <a:buNone/>
            </a:pPr>
            <a:r>
              <a:rPr lang="en-US" sz="1700" dirty="0">
                <a:solidFill>
                  <a:srgbClr val="2C3E50"/>
                </a:solidFill>
              </a:rPr>
              <a:t>테스트 2 황삭을 대각선 진입으로 바꿔 자국 없앰</a:t>
            </a:r>
            <a:endParaRPr lang="en-US" sz="1700" dirty="0"/>
          </a:p>
        </p:txBody>
      </p:sp>
      <p:sp>
        <p:nvSpPr>
          <p:cNvPr id="19" name="step3"/>
          <p:cNvSpPr/>
          <p:nvPr/>
        </p:nvSpPr>
        <p:spPr>
          <a:xfrm>
            <a:off x="548640" y="5120640"/>
            <a:ext cx="5120640" cy="914400"/>
          </a:xfrm>
          <a:prstGeom prst="rect">
            <a:avLst/>
          </a:prstGeom>
          <a:solidFill>
            <a:srgbClr val="FFFFFF"/>
          </a:solidFill>
          <a:ln w="9525">
            <a:solidFill>
              <a:srgbClr val="D9E2EC"/>
            </a:solidFill>
            <a:prstDash val="solid"/>
          </a:ln>
        </p:spPr>
      </p:sp>
      <p:sp>
        <p:nvSpPr>
          <p:cNvPr id="20" name="step3-n"/>
          <p:cNvSpPr txBox="1"/>
          <p:nvPr/>
        </p:nvSpPr>
        <p:spPr>
          <a:xfrm>
            <a:off x="685800" y="5120640"/>
            <a:ext cx="1234440" cy="914400"/>
          </a:xfrm>
          <a:prstGeom prst="rect">
            <a:avLst/>
          </a:prstGeom>
          <a:noFill/>
          <a:ln/>
        </p:spPr>
        <p:txBody>
          <a:bodyPr wrap="square" lIns="0" tIns="0" rIns="0" bIns="0" rtlCol="0" anchor="ctr"/>
          <a:lstStyle/>
          <a:p>
            <a:pPr indent="0" marL="0">
              <a:buNone/>
            </a:pPr>
            <a:r>
              <a:rPr lang="en-US" sz="1600" b="1" dirty="0">
                <a:solidFill>
                  <a:srgbClr val="0E7C86"/>
                </a:solidFill>
              </a:rPr>
              <a:t>10-21</a:t>
            </a:r>
            <a:endParaRPr lang="en-US" sz="1600" dirty="0"/>
          </a:p>
        </p:txBody>
      </p:sp>
      <p:sp>
        <p:nvSpPr>
          <p:cNvPr id="21" name="step3-t"/>
          <p:cNvSpPr txBox="1"/>
          <p:nvPr/>
        </p:nvSpPr>
        <p:spPr>
          <a:xfrm>
            <a:off x="1965960" y="5166360"/>
            <a:ext cx="3611880" cy="822960"/>
          </a:xfrm>
          <a:prstGeom prst="rect">
            <a:avLst/>
          </a:prstGeom>
          <a:noFill/>
          <a:ln/>
        </p:spPr>
        <p:txBody>
          <a:bodyPr wrap="square" lIns="0" tIns="0" rIns="0" bIns="0" rtlCol="0" anchor="ctr"/>
          <a:lstStyle/>
          <a:p>
            <a:pPr indent="0" marL="0">
              <a:buNone/>
            </a:pPr>
            <a:r>
              <a:rPr lang="en-US" sz="1700" dirty="0">
                <a:solidFill>
                  <a:srgbClr val="2C3E50"/>
                </a:solidFill>
              </a:rPr>
              <a:t>제조사 매뉴얼 원문으로 원인 확인 후 결과 보고서 작성</a:t>
            </a:r>
            <a:endParaRPr lang="en-US" sz="1700" dirty="0"/>
          </a:p>
        </p:txBody>
      </p:sp>
      <p:sp>
        <p:nvSpPr>
          <p:cNvPr id="22" name="case-fig-cap"/>
          <p:cNvSpPr txBox="1"/>
          <p:nvPr/>
        </p:nvSpPr>
        <p:spPr>
          <a:xfrm>
            <a:off x="5943600" y="1965960"/>
            <a:ext cx="5669280" cy="292608"/>
          </a:xfrm>
          <a:prstGeom prst="rect">
            <a:avLst/>
          </a:prstGeom>
          <a:noFill/>
          <a:ln/>
        </p:spPr>
        <p:txBody>
          <a:bodyPr wrap="square" lIns="0" tIns="0" rIns="0" bIns="0" rtlCol="0" anchor="ctr"/>
          <a:lstStyle/>
          <a:p>
            <a:pPr indent="0" marL="0">
              <a:buNone/>
            </a:pPr>
            <a:r>
              <a:rPr lang="en-US" sz="1300" b="1" dirty="0">
                <a:solidFill>
                  <a:srgbClr val="3A506B"/>
                </a:solidFill>
              </a:rPr>
              <a:t>그림 1. 넥 지름 측정값과 허용 범위 (실측)</a:t>
            </a:r>
            <a:endParaRPr lang="en-US" sz="1300" dirty="0"/>
          </a:p>
        </p:txBody>
      </p:sp>
      <p:pic>
        <p:nvPicPr>
          <p:cNvPr id="23" name="case-fig" descr="테스트 1, 2 넥 지름 측정값과 허용 범위 그래프">    </p:cNvPr>
          <p:cNvPicPr>
            <a:picLocks noChangeAspect="1"/>
          </p:cNvPicPr>
          <p:nvPr/>
        </p:nvPicPr>
        <p:blipFill>
          <a:blip r:embed="rId1"/>
          <a:stretch>
            <a:fillRect/>
          </a:stretch>
        </p:blipFill>
        <p:spPr>
          <a:xfrm>
            <a:off x="5943600" y="2286000"/>
            <a:ext cx="5669280" cy="2834640"/>
          </a:xfrm>
          <a:prstGeom prst="rect">
            <a:avLst/>
          </a:prstGeom>
        </p:spPr>
      </p:pic>
      <p:sp>
        <p:nvSpPr>
          <p:cNvPr id="24" name="case-fig-frame"/>
          <p:cNvSpPr/>
          <p:nvPr/>
        </p:nvSpPr>
        <p:spPr>
          <a:xfrm>
            <a:off x="5943600" y="2286000"/>
            <a:ext cx="5669280" cy="2834640"/>
          </a:xfrm>
          <a:prstGeom prst="rect">
            <a:avLst/>
          </a:prstGeom>
          <a:ln w="9525">
            <a:solidFill>
              <a:srgbClr val="D9E2EC"/>
            </a:solidFill>
            <a:prstDash val="solid"/>
          </a:ln>
        </p:spPr>
      </p:sp>
      <p:graphicFrame>
        <p:nvGraphicFramePr>
          <p:cNvPr id="6" name="case-table"/>
          <p:cNvGraphicFramePr>
            <a:graphicFrameLocks noGrp="1"/>
          </p:cNvGraphicFramePr>
          <p:nvPr>
            <p:extLst>
              <p:ext uri="{D42A27DB-BD31-4B8C-83A1-F6EECF244321}">
                <p14:modId xmlns:p14="http://schemas.microsoft.com/office/powerpoint/2010/main" val="1579011935"/>
              </p:ext>
            </p:extLst>
          </p:nvPr>
        </p:nvGraphicFramePr>
        <p:xfrm>
          <a:off x="5943600" y="5257800"/>
          <a:ext cx="5669280" cy="914400"/>
        </p:xfrm>
        <a:graphic>
          <a:graphicData uri="http://schemas.openxmlformats.org/drawingml/2006/table">
            <a:tbl>
              <a:tblPr/>
              <a:tblGrid>
                <a:gridCol w="1463040"/>
                <a:gridCol w="1920240"/>
                <a:gridCol w="2286000"/>
              </a:tblGrid>
              <a:tr h="347472">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항목</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테스트 1 정삭만</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테스트 2 황삭 대각선</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347472">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넥 시작부 자국</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dirty="0">
                          <a:solidFill>
                            <a:srgbClr val="6B7A88"/>
                          </a:solidFill>
                          <a:latin typeface="맑은 고딕" pitchFamily="34" charset="0"/>
                          <a:ea typeface="맑은 고딕" pitchFamily="34" charset="-122"/>
                          <a:cs typeface="맑은 고딕" pitchFamily="34" charset="-120"/>
                        </a:rPr>
                        <a:t>매번 같은 자리에 생김</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b="1" dirty="0">
                          <a:solidFill>
                            <a:srgbClr val="0E7C86"/>
                          </a:solidFill>
                          <a:latin typeface="맑은 고딕" pitchFamily="34" charset="0"/>
                          <a:ea typeface="맑은 고딕" pitchFamily="34" charset="-122"/>
                          <a:cs typeface="맑은 고딕" pitchFamily="34" charset="-120"/>
                        </a:rPr>
                        <a:t>없음</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347472">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치수 판정</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500" dirty="0">
                          <a:solidFill>
                            <a:srgbClr val="6B7A88"/>
                          </a:solidFill>
                          <a:latin typeface="맑은 고딕" pitchFamily="34" charset="0"/>
                          <a:ea typeface="맑은 고딕" pitchFamily="34" charset="-122"/>
                          <a:cs typeface="맑은 고딕" pitchFamily="34" charset="-120"/>
                        </a:rPr>
                        <a:t>합격</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500" b="1" dirty="0">
                          <a:solidFill>
                            <a:srgbClr val="0E7C86"/>
                          </a:solidFill>
                          <a:latin typeface="맑은 고딕" pitchFamily="34" charset="0"/>
                          <a:ea typeface="맑은 고딕" pitchFamily="34" charset="-122"/>
                          <a:cs typeface="맑은 고딕" pitchFamily="34" charset="-120"/>
                        </a:rPr>
                        <a:t>보류 (0.01 mm 굵음)</a:t>
                      </a:r>
                      <a:endParaRPr lang="en-US" sz="1500" dirty="0">
                        <a:latin typeface="맑은 고딕" charset="0"/>
                        <a:ea typeface="맑은 고딕" charset="0"/>
                        <a:cs typeface="맑은 고딕" charset="0"/>
                      </a:endParaRPr>
                    </a:p>
                  </a:txBody>
                  <a:tcPr marL="76200" marR="76200" marT="25400" marB="254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26"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공구 1 ~ 2개 시험값으로 양산 미적용  |  자료 기준일 2026-10-21</a:t>
            </a:r>
            <a:endParaRPr lang="en-US" sz="1200" dirty="0"/>
          </a:p>
        </p:txBody>
      </p:sp>
      <p:sp>
        <p:nvSpPr>
          <p:cNvPr id="28"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자동화 시스템 (1/3) 구성</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기존 엑셀과 ERP를 그대로 읽어 업무 PC가 정해진 시각에 실행</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col0"/>
          <p:cNvSpPr/>
          <p:nvPr/>
        </p:nvSpPr>
        <p:spPr>
          <a:xfrm>
            <a:off x="548640" y="1965960"/>
            <a:ext cx="3108960" cy="4114800"/>
          </a:xfrm>
          <a:prstGeom prst="rect">
            <a:avLst/>
          </a:prstGeom>
          <a:solidFill>
            <a:srgbClr val="F4F6F8"/>
          </a:solidFill>
          <a:ln w="9525">
            <a:solidFill>
              <a:srgbClr val="D9E2EC"/>
            </a:solidFill>
            <a:prstDash val="solid"/>
          </a:ln>
        </p:spPr>
      </p:sp>
      <p:sp>
        <p:nvSpPr>
          <p:cNvPr id="11" name="col0-h"/>
          <p:cNvSpPr txBox="1"/>
          <p:nvPr/>
        </p:nvSpPr>
        <p:spPr>
          <a:xfrm>
            <a:off x="731520" y="2103120"/>
            <a:ext cx="2743200" cy="411480"/>
          </a:xfrm>
          <a:prstGeom prst="rect">
            <a:avLst/>
          </a:prstGeom>
          <a:noFill/>
          <a:ln/>
        </p:spPr>
        <p:txBody>
          <a:bodyPr wrap="square" lIns="0" tIns="0" rIns="0" bIns="0" rtlCol="0" anchor="ctr"/>
          <a:lstStyle/>
          <a:p>
            <a:pPr indent="0" marL="0">
              <a:buNone/>
            </a:pPr>
            <a:r>
              <a:rPr lang="en-US" sz="1700" b="1" dirty="0">
                <a:solidFill>
                  <a:srgbClr val="1F2A36"/>
                </a:solidFill>
              </a:rPr>
              <a:t>읽는 자료</a:t>
            </a:r>
            <a:endParaRPr lang="en-US" sz="1700" dirty="0"/>
          </a:p>
        </p:txBody>
      </p:sp>
      <p:sp>
        <p:nvSpPr>
          <p:cNvPr id="12" name="col0-i0"/>
          <p:cNvSpPr/>
          <p:nvPr/>
        </p:nvSpPr>
        <p:spPr>
          <a:xfrm>
            <a:off x="731520" y="2697480"/>
            <a:ext cx="2743200" cy="868680"/>
          </a:xfrm>
          <a:prstGeom prst="rect">
            <a:avLst/>
          </a:prstGeom>
          <a:solidFill>
            <a:srgbClr val="FFFFFF"/>
          </a:solidFill>
          <a:ln w="9525">
            <a:solidFill>
              <a:srgbClr val="D9E2EC"/>
            </a:solidFill>
            <a:prstDash val="solid"/>
          </a:ln>
        </p:spPr>
      </p:sp>
      <p:sp>
        <p:nvSpPr>
          <p:cNvPr id="13" name="col0-t0"/>
          <p:cNvSpPr txBox="1"/>
          <p:nvPr/>
        </p:nvSpPr>
        <p:spPr>
          <a:xfrm>
            <a:off x="868680" y="2697480"/>
            <a:ext cx="2468880" cy="868680"/>
          </a:xfrm>
          <a:prstGeom prst="rect">
            <a:avLst/>
          </a:prstGeom>
          <a:noFill/>
          <a:ln/>
        </p:spPr>
        <p:txBody>
          <a:bodyPr wrap="square" lIns="0" tIns="0" rIns="0" bIns="0" rtlCol="0" anchor="ctr"/>
          <a:lstStyle/>
          <a:p>
            <a:pPr indent="0" marL="0">
              <a:buNone/>
            </a:pPr>
            <a:r>
              <a:rPr lang="en-US" sz="1700" dirty="0">
                <a:solidFill>
                  <a:srgbClr val="2C3E50"/>
                </a:solidFill>
              </a:rPr>
              <a:t>ERP 수주와 A/S 조회</a:t>
            </a:r>
            <a:endParaRPr lang="en-US" sz="1700" dirty="0"/>
          </a:p>
        </p:txBody>
      </p:sp>
      <p:sp>
        <p:nvSpPr>
          <p:cNvPr id="14" name="col0-i1"/>
          <p:cNvSpPr/>
          <p:nvPr/>
        </p:nvSpPr>
        <p:spPr>
          <a:xfrm>
            <a:off x="731520" y="3749040"/>
            <a:ext cx="2743200" cy="868680"/>
          </a:xfrm>
          <a:prstGeom prst="rect">
            <a:avLst/>
          </a:prstGeom>
          <a:solidFill>
            <a:srgbClr val="FFFFFF"/>
          </a:solidFill>
          <a:ln w="9525">
            <a:solidFill>
              <a:srgbClr val="D9E2EC"/>
            </a:solidFill>
            <a:prstDash val="solid"/>
          </a:ln>
        </p:spPr>
      </p:sp>
      <p:sp>
        <p:nvSpPr>
          <p:cNvPr id="15" name="col0-t1"/>
          <p:cNvSpPr txBox="1"/>
          <p:nvPr/>
        </p:nvSpPr>
        <p:spPr>
          <a:xfrm>
            <a:off x="868680" y="3749040"/>
            <a:ext cx="2468880" cy="868680"/>
          </a:xfrm>
          <a:prstGeom prst="rect">
            <a:avLst/>
          </a:prstGeom>
          <a:noFill/>
          <a:ln/>
        </p:spPr>
        <p:txBody>
          <a:bodyPr wrap="square" lIns="0" tIns="0" rIns="0" bIns="0" rtlCol="0" anchor="ctr"/>
          <a:lstStyle/>
          <a:p>
            <a:pPr indent="0" marL="0">
              <a:buNone/>
            </a:pPr>
            <a:r>
              <a:rPr lang="en-US" sz="1700" dirty="0">
                <a:solidFill>
                  <a:srgbClr val="2C3E50"/>
                </a:solidFill>
              </a:rPr>
              <a:t>월간생산일지 엑셀</a:t>
            </a:r>
            <a:endParaRPr lang="en-US" sz="1700" dirty="0"/>
          </a:p>
        </p:txBody>
      </p:sp>
      <p:sp>
        <p:nvSpPr>
          <p:cNvPr id="16" name="col0-i2"/>
          <p:cNvSpPr/>
          <p:nvPr/>
        </p:nvSpPr>
        <p:spPr>
          <a:xfrm>
            <a:off x="731520" y="4800600"/>
            <a:ext cx="2743200" cy="868680"/>
          </a:xfrm>
          <a:prstGeom prst="rect">
            <a:avLst/>
          </a:prstGeom>
          <a:solidFill>
            <a:srgbClr val="FFFFFF"/>
          </a:solidFill>
          <a:ln w="9525">
            <a:solidFill>
              <a:srgbClr val="D9E2EC"/>
            </a:solidFill>
            <a:prstDash val="solid"/>
          </a:ln>
        </p:spPr>
      </p:sp>
      <p:sp>
        <p:nvSpPr>
          <p:cNvPr id="17" name="col0-t2"/>
          <p:cNvSpPr txBox="1"/>
          <p:nvPr/>
        </p:nvSpPr>
        <p:spPr>
          <a:xfrm>
            <a:off x="868680" y="4800600"/>
            <a:ext cx="2468880" cy="868680"/>
          </a:xfrm>
          <a:prstGeom prst="rect">
            <a:avLst/>
          </a:prstGeom>
          <a:noFill/>
          <a:ln/>
        </p:spPr>
        <p:txBody>
          <a:bodyPr wrap="square" lIns="0" tIns="0" rIns="0" bIns="0" rtlCol="0" anchor="ctr"/>
          <a:lstStyle/>
          <a:p>
            <a:pPr indent="0" marL="0">
              <a:buNone/>
            </a:pPr>
            <a:r>
              <a:rPr lang="en-US" sz="1700" dirty="0">
                <a:solidFill>
                  <a:srgbClr val="2C3E50"/>
                </a:solidFill>
              </a:rPr>
              <a:t>출하현황 엑셀</a:t>
            </a:r>
            <a:endParaRPr lang="en-US" sz="1700" dirty="0"/>
          </a:p>
        </p:txBody>
      </p:sp>
      <p:sp>
        <p:nvSpPr>
          <p:cNvPr id="18" name="col1"/>
          <p:cNvSpPr/>
          <p:nvPr/>
        </p:nvSpPr>
        <p:spPr>
          <a:xfrm>
            <a:off x="4343400" y="1965960"/>
            <a:ext cx="3474720" cy="4114800"/>
          </a:xfrm>
          <a:prstGeom prst="rect">
            <a:avLst/>
          </a:prstGeom>
          <a:solidFill>
            <a:srgbClr val="EAF4F5"/>
          </a:solidFill>
          <a:ln w="9525">
            <a:solidFill>
              <a:srgbClr val="D9E2EC"/>
            </a:solidFill>
            <a:prstDash val="solid"/>
          </a:ln>
        </p:spPr>
      </p:sp>
      <p:sp>
        <p:nvSpPr>
          <p:cNvPr id="19" name="col1-h"/>
          <p:cNvSpPr txBox="1"/>
          <p:nvPr/>
        </p:nvSpPr>
        <p:spPr>
          <a:xfrm>
            <a:off x="4526280" y="2103120"/>
            <a:ext cx="3108960" cy="411480"/>
          </a:xfrm>
          <a:prstGeom prst="rect">
            <a:avLst/>
          </a:prstGeom>
          <a:noFill/>
          <a:ln/>
        </p:spPr>
        <p:txBody>
          <a:bodyPr wrap="square" lIns="0" tIns="0" rIns="0" bIns="0" rtlCol="0" anchor="ctr"/>
          <a:lstStyle/>
          <a:p>
            <a:pPr indent="0" marL="0">
              <a:buNone/>
            </a:pPr>
            <a:r>
              <a:rPr lang="en-US" sz="1700" b="1" dirty="0">
                <a:solidFill>
                  <a:srgbClr val="0E7C86"/>
                </a:solidFill>
              </a:rPr>
              <a:t>업무 PC</a:t>
            </a:r>
            <a:endParaRPr lang="en-US" sz="1700" dirty="0"/>
          </a:p>
        </p:txBody>
      </p:sp>
      <p:sp>
        <p:nvSpPr>
          <p:cNvPr id="20" name="col1-i0"/>
          <p:cNvSpPr/>
          <p:nvPr/>
        </p:nvSpPr>
        <p:spPr>
          <a:xfrm>
            <a:off x="4526280" y="2697480"/>
            <a:ext cx="3108960" cy="868680"/>
          </a:xfrm>
          <a:prstGeom prst="rect">
            <a:avLst/>
          </a:prstGeom>
          <a:solidFill>
            <a:srgbClr val="FFFFFF"/>
          </a:solidFill>
          <a:ln w="9525">
            <a:solidFill>
              <a:srgbClr val="D9E2EC"/>
            </a:solidFill>
            <a:prstDash val="solid"/>
          </a:ln>
        </p:spPr>
      </p:sp>
      <p:sp>
        <p:nvSpPr>
          <p:cNvPr id="21" name="col1-t0"/>
          <p:cNvSpPr txBox="1"/>
          <p:nvPr/>
        </p:nvSpPr>
        <p:spPr>
          <a:xfrm>
            <a:off x="4663440" y="2697480"/>
            <a:ext cx="2834640" cy="868680"/>
          </a:xfrm>
          <a:prstGeom prst="rect">
            <a:avLst/>
          </a:prstGeom>
          <a:noFill/>
          <a:ln/>
        </p:spPr>
        <p:txBody>
          <a:bodyPr wrap="square" lIns="0" tIns="0" rIns="0" bIns="0" rtlCol="0" anchor="ctr"/>
          <a:lstStyle/>
          <a:p>
            <a:pPr indent="0" marL="0">
              <a:buNone/>
            </a:pPr>
            <a:r>
              <a:rPr lang="en-US" sz="1700" dirty="0">
                <a:solidFill>
                  <a:srgbClr val="2C3E50"/>
                </a:solidFill>
              </a:rPr>
              <a:t>예약 실행 07:50과 16:00</a:t>
            </a:r>
            <a:endParaRPr lang="en-US" sz="1700" dirty="0"/>
          </a:p>
        </p:txBody>
      </p:sp>
      <p:sp>
        <p:nvSpPr>
          <p:cNvPr id="22" name="col1-i1"/>
          <p:cNvSpPr/>
          <p:nvPr/>
        </p:nvSpPr>
        <p:spPr>
          <a:xfrm>
            <a:off x="4526280" y="3749040"/>
            <a:ext cx="3108960" cy="868680"/>
          </a:xfrm>
          <a:prstGeom prst="rect">
            <a:avLst/>
          </a:prstGeom>
          <a:solidFill>
            <a:srgbClr val="FFFFFF"/>
          </a:solidFill>
          <a:ln w="9525">
            <a:solidFill>
              <a:srgbClr val="D9E2EC"/>
            </a:solidFill>
            <a:prstDash val="solid"/>
          </a:ln>
        </p:spPr>
      </p:sp>
      <p:sp>
        <p:nvSpPr>
          <p:cNvPr id="23" name="col1-t1"/>
          <p:cNvSpPr txBox="1"/>
          <p:nvPr/>
        </p:nvSpPr>
        <p:spPr>
          <a:xfrm>
            <a:off x="4663440" y="3749040"/>
            <a:ext cx="2834640" cy="868680"/>
          </a:xfrm>
          <a:prstGeom prst="rect">
            <a:avLst/>
          </a:prstGeom>
          <a:noFill/>
          <a:ln/>
        </p:spPr>
        <p:txBody>
          <a:bodyPr wrap="square" lIns="0" tIns="0" rIns="0" bIns="0" rtlCol="0" anchor="ctr"/>
          <a:lstStyle/>
          <a:p>
            <a:pPr indent="0" marL="0">
              <a:buNone/>
            </a:pPr>
            <a:r>
              <a:rPr lang="en-US" sz="1700" dirty="0">
                <a:solidFill>
                  <a:srgbClr val="2C3E50"/>
                </a:solidFill>
              </a:rPr>
              <a:t>Python 스크립트로 집계, 대조, 배정</a:t>
            </a:r>
            <a:endParaRPr lang="en-US" sz="1700" dirty="0"/>
          </a:p>
        </p:txBody>
      </p:sp>
      <p:sp>
        <p:nvSpPr>
          <p:cNvPr id="24" name="col1-i2"/>
          <p:cNvSpPr/>
          <p:nvPr/>
        </p:nvSpPr>
        <p:spPr>
          <a:xfrm>
            <a:off x="4526280" y="4800600"/>
            <a:ext cx="3108960" cy="868680"/>
          </a:xfrm>
          <a:prstGeom prst="rect">
            <a:avLst/>
          </a:prstGeom>
          <a:solidFill>
            <a:srgbClr val="FFFFFF"/>
          </a:solidFill>
          <a:ln w="9525">
            <a:solidFill>
              <a:srgbClr val="D9E2EC"/>
            </a:solidFill>
            <a:prstDash val="solid"/>
          </a:ln>
        </p:spPr>
      </p:sp>
      <p:sp>
        <p:nvSpPr>
          <p:cNvPr id="25" name="col1-t2"/>
          <p:cNvSpPr txBox="1"/>
          <p:nvPr/>
        </p:nvSpPr>
        <p:spPr>
          <a:xfrm>
            <a:off x="4663440" y="4800600"/>
            <a:ext cx="2834640" cy="868680"/>
          </a:xfrm>
          <a:prstGeom prst="rect">
            <a:avLst/>
          </a:prstGeom>
          <a:noFill/>
          <a:ln/>
        </p:spPr>
        <p:txBody>
          <a:bodyPr wrap="square" lIns="0" tIns="0" rIns="0" bIns="0" rtlCol="0" anchor="ctr"/>
          <a:lstStyle/>
          <a:p>
            <a:pPr indent="0" marL="0">
              <a:buNone/>
            </a:pPr>
            <a:r>
              <a:rPr lang="en-US" sz="1700" dirty="0">
                <a:solidFill>
                  <a:srgbClr val="2C3E50"/>
                </a:solidFill>
              </a:rPr>
              <a:t>Claude가 스크립트 작성과 점검</a:t>
            </a:r>
            <a:endParaRPr lang="en-US" sz="1700" dirty="0"/>
          </a:p>
        </p:txBody>
      </p:sp>
      <p:sp>
        <p:nvSpPr>
          <p:cNvPr id="26" name="col2"/>
          <p:cNvSpPr/>
          <p:nvPr/>
        </p:nvSpPr>
        <p:spPr>
          <a:xfrm>
            <a:off x="8503920" y="1965960"/>
            <a:ext cx="3108960" cy="4114800"/>
          </a:xfrm>
          <a:prstGeom prst="rect">
            <a:avLst/>
          </a:prstGeom>
          <a:solidFill>
            <a:srgbClr val="F4F6F8"/>
          </a:solidFill>
          <a:ln w="9525">
            <a:solidFill>
              <a:srgbClr val="D9E2EC"/>
            </a:solidFill>
            <a:prstDash val="solid"/>
          </a:ln>
        </p:spPr>
      </p:sp>
      <p:sp>
        <p:nvSpPr>
          <p:cNvPr id="27" name="col2-h"/>
          <p:cNvSpPr txBox="1"/>
          <p:nvPr/>
        </p:nvSpPr>
        <p:spPr>
          <a:xfrm>
            <a:off x="8686800" y="2103120"/>
            <a:ext cx="2743200" cy="411480"/>
          </a:xfrm>
          <a:prstGeom prst="rect">
            <a:avLst/>
          </a:prstGeom>
          <a:noFill/>
          <a:ln/>
        </p:spPr>
        <p:txBody>
          <a:bodyPr wrap="square" lIns="0" tIns="0" rIns="0" bIns="0" rtlCol="0" anchor="ctr"/>
          <a:lstStyle/>
          <a:p>
            <a:pPr indent="0" marL="0">
              <a:buNone/>
            </a:pPr>
            <a:r>
              <a:rPr lang="en-US" sz="1700" b="1" dirty="0">
                <a:solidFill>
                  <a:srgbClr val="1F2A36"/>
                </a:solidFill>
              </a:rPr>
              <a:t>만드는 것</a:t>
            </a:r>
            <a:endParaRPr lang="en-US" sz="1700" dirty="0"/>
          </a:p>
        </p:txBody>
      </p:sp>
      <p:sp>
        <p:nvSpPr>
          <p:cNvPr id="28" name="col2-i0"/>
          <p:cNvSpPr/>
          <p:nvPr/>
        </p:nvSpPr>
        <p:spPr>
          <a:xfrm>
            <a:off x="8686800" y="2697480"/>
            <a:ext cx="2743200" cy="658368"/>
          </a:xfrm>
          <a:prstGeom prst="rect">
            <a:avLst/>
          </a:prstGeom>
          <a:solidFill>
            <a:srgbClr val="FFFFFF"/>
          </a:solidFill>
          <a:ln w="9525">
            <a:solidFill>
              <a:srgbClr val="D9E2EC"/>
            </a:solidFill>
            <a:prstDash val="solid"/>
          </a:ln>
        </p:spPr>
      </p:sp>
      <p:sp>
        <p:nvSpPr>
          <p:cNvPr id="29" name="col2-t0"/>
          <p:cNvSpPr txBox="1"/>
          <p:nvPr/>
        </p:nvSpPr>
        <p:spPr>
          <a:xfrm>
            <a:off x="8823960" y="269748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일일보고 엑셀</a:t>
            </a:r>
            <a:endParaRPr lang="en-US" sz="1700" dirty="0"/>
          </a:p>
        </p:txBody>
      </p:sp>
      <p:sp>
        <p:nvSpPr>
          <p:cNvPr id="30" name="col2-i1"/>
          <p:cNvSpPr/>
          <p:nvPr/>
        </p:nvSpPr>
        <p:spPr>
          <a:xfrm>
            <a:off x="8686800" y="3520440"/>
            <a:ext cx="2743200" cy="658368"/>
          </a:xfrm>
          <a:prstGeom prst="rect">
            <a:avLst/>
          </a:prstGeom>
          <a:solidFill>
            <a:srgbClr val="FFFFFF"/>
          </a:solidFill>
          <a:ln w="9525">
            <a:solidFill>
              <a:srgbClr val="D9E2EC"/>
            </a:solidFill>
            <a:prstDash val="solid"/>
          </a:ln>
        </p:spPr>
      </p:sp>
      <p:sp>
        <p:nvSpPr>
          <p:cNvPr id="31" name="col2-t1"/>
          <p:cNvSpPr txBox="1"/>
          <p:nvPr/>
        </p:nvSpPr>
        <p:spPr>
          <a:xfrm>
            <a:off x="8823960" y="3520440"/>
            <a:ext cx="2468880" cy="658368"/>
          </a:xfrm>
          <a:prstGeom prst="rect">
            <a:avLst/>
          </a:prstGeom>
          <a:noFill/>
          <a:ln/>
        </p:spPr>
        <p:txBody>
          <a:bodyPr wrap="square" lIns="0" tIns="0" rIns="0" bIns="0" rtlCol="0" anchor="ctr"/>
          <a:lstStyle/>
          <a:p>
            <a:pPr indent="0" marL="0">
              <a:buNone/>
            </a:pPr>
            <a:r>
              <a:rPr lang="en-US" sz="1700" dirty="0">
                <a:solidFill>
                  <a:srgbClr val="2C3E50"/>
                </a:solidFill>
              </a:rPr>
              <a:t>공유폴더 현황판</a:t>
            </a:r>
            <a:endParaRPr lang="en-US" sz="1700" dirty="0"/>
          </a:p>
        </p:txBody>
      </p:sp>
      <p:sp>
        <p:nvSpPr>
          <p:cNvPr id="32" name="col2-i2"/>
          <p:cNvSpPr/>
          <p:nvPr/>
        </p:nvSpPr>
        <p:spPr>
          <a:xfrm>
            <a:off x="8686800" y="4343400"/>
            <a:ext cx="2743200" cy="658368"/>
          </a:xfrm>
          <a:prstGeom prst="rect">
            <a:avLst/>
          </a:prstGeom>
          <a:solidFill>
            <a:srgbClr val="FFFFFF"/>
          </a:solidFill>
          <a:ln w="9525">
            <a:solidFill>
              <a:srgbClr val="D9E2EC"/>
            </a:solidFill>
            <a:prstDash val="solid"/>
          </a:ln>
        </p:spPr>
      </p:sp>
      <p:sp>
        <p:nvSpPr>
          <p:cNvPr id="33" name="col2-t2"/>
          <p:cNvSpPr txBox="1"/>
          <p:nvPr/>
        </p:nvSpPr>
        <p:spPr>
          <a:xfrm>
            <a:off x="8823960" y="434340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장비별 투입 목록</a:t>
            </a:r>
            <a:endParaRPr lang="en-US" sz="1700" dirty="0"/>
          </a:p>
        </p:txBody>
      </p:sp>
      <p:sp>
        <p:nvSpPr>
          <p:cNvPr id="34" name="col2-i3"/>
          <p:cNvSpPr/>
          <p:nvPr/>
        </p:nvSpPr>
        <p:spPr>
          <a:xfrm>
            <a:off x="8686800" y="5166360"/>
            <a:ext cx="2743200" cy="658368"/>
          </a:xfrm>
          <a:prstGeom prst="rect">
            <a:avLst/>
          </a:prstGeom>
          <a:solidFill>
            <a:srgbClr val="FFFFFF"/>
          </a:solidFill>
          <a:ln w="9525">
            <a:solidFill>
              <a:srgbClr val="D9E2EC"/>
            </a:solidFill>
            <a:prstDash val="solid"/>
          </a:ln>
        </p:spPr>
      </p:sp>
      <p:sp>
        <p:nvSpPr>
          <p:cNvPr id="35" name="col2-t3"/>
          <p:cNvSpPr txBox="1"/>
          <p:nvPr/>
        </p:nvSpPr>
        <p:spPr>
          <a:xfrm>
            <a:off x="8823960" y="5166360"/>
            <a:ext cx="2468880" cy="658368"/>
          </a:xfrm>
          <a:prstGeom prst="rect">
            <a:avLst/>
          </a:prstGeom>
          <a:noFill/>
          <a:ln/>
        </p:spPr>
        <p:txBody>
          <a:bodyPr wrap="square" lIns="0" tIns="0" rIns="0" bIns="0" rtlCol="0" anchor="ctr"/>
          <a:lstStyle/>
          <a:p>
            <a:pPr indent="0" marL="0">
              <a:buNone/>
            </a:pPr>
            <a:r>
              <a:rPr lang="en-US" sz="1700" dirty="0">
                <a:solidFill>
                  <a:srgbClr val="2C3E50"/>
                </a:solidFill>
              </a:rPr>
              <a:t>위키 문서와 결정 기록</a:t>
            </a:r>
            <a:endParaRPr lang="en-US" sz="1700" dirty="0"/>
          </a:p>
        </p:txBody>
      </p:sp>
      <p:sp>
        <p:nvSpPr>
          <p:cNvPr id="36" name="flow-arrow0"/>
          <p:cNvSpPr/>
          <p:nvPr/>
        </p:nvSpPr>
        <p:spPr>
          <a:xfrm>
            <a:off x="3730752" y="3749040"/>
            <a:ext cx="548640" cy="548640"/>
          </a:xfrm>
          <a:prstGeom prst="rightArrow">
            <a:avLst/>
          </a:prstGeom>
          <a:solidFill>
            <a:srgbClr val="0E7C86"/>
          </a:solidFill>
          <a:ln w="12700">
            <a:solidFill>
              <a:srgbClr val="0E7C86"/>
            </a:solidFill>
            <a:prstDash val="solid"/>
          </a:ln>
        </p:spPr>
      </p:sp>
      <p:sp>
        <p:nvSpPr>
          <p:cNvPr id="37" name="flow-arrow1"/>
          <p:cNvSpPr/>
          <p:nvPr/>
        </p:nvSpPr>
        <p:spPr>
          <a:xfrm>
            <a:off x="7891272" y="3749040"/>
            <a:ext cx="548640" cy="548640"/>
          </a:xfrm>
          <a:prstGeom prst="rightArrow">
            <a:avLst/>
          </a:prstGeom>
          <a:solidFill>
            <a:srgbClr val="0E7C86"/>
          </a:solidFill>
          <a:ln w="12700">
            <a:solidFill>
              <a:srgbClr val="0E7C86"/>
            </a:solidFill>
            <a:prstDash val="solid"/>
          </a:ln>
        </p:spPr>
      </p:sp>
      <p:sp>
        <p:nvSpPr>
          <p:cNvPr id="38"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업무 PC 1대에서 예약 작업 2개와 시작 프로그램 1개로 실행</a:t>
            </a:r>
            <a:endParaRPr lang="en-US" sz="1200" dirty="0"/>
          </a:p>
        </p:txBody>
      </p:sp>
      <p:sp>
        <p:nvSpPr>
          <p:cNvPr id="40"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자동화 시스템 (2/3) 실행 화면</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PC를 켜면 일일보고, 현황판, 투입 목록 생성</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cap0"/>
          <p:cNvSpPr/>
          <p:nvPr/>
        </p:nvSpPr>
        <p:spPr>
          <a:xfrm>
            <a:off x="548640" y="1965960"/>
            <a:ext cx="3566160" cy="3291840"/>
          </a:xfrm>
          <a:prstGeom prst="rect">
            <a:avLst/>
          </a:prstGeom>
          <a:solidFill>
            <a:srgbClr val="F4F6F8"/>
          </a:solidFill>
          <a:ln w="9525">
            <a:solidFill>
              <a:srgbClr val="D9E2EC"/>
            </a:solidFill>
            <a:prstDash val="solid"/>
          </a:ln>
        </p:spPr>
      </p:sp>
      <p:pic>
        <p:nvPicPr>
          <p:cNvPr id="11" name="cap0-img" descr="일일보고 엑셀 화면 (거래처명은 A·B·C로 바꿈)">    </p:cNvPr>
          <p:cNvPicPr>
            <a:picLocks noChangeAspect="1"/>
          </p:cNvPicPr>
          <p:nvPr/>
        </p:nvPicPr>
        <p:blipFill>
          <a:blip r:embed="rId1"/>
          <a:stretch>
            <a:fillRect/>
          </a:stretch>
        </p:blipFill>
        <p:spPr>
          <a:xfrm>
            <a:off x="640080" y="2976652"/>
            <a:ext cx="3383280" cy="1270456"/>
          </a:xfrm>
          <a:prstGeom prst="rect">
            <a:avLst/>
          </a:prstGeom>
        </p:spPr>
      </p:pic>
      <p:sp>
        <p:nvSpPr>
          <p:cNvPr id="12" name="cap0-cap"/>
          <p:cNvSpPr txBox="1"/>
          <p:nvPr/>
        </p:nvSpPr>
        <p:spPr>
          <a:xfrm>
            <a:off x="54864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일일보고 엑셀</a:t>
            </a:r>
            <a:endParaRPr lang="en-US" sz="1700" dirty="0"/>
          </a:p>
          <a:p>
            <a:pPr indent="0" marL="0">
              <a:buNone/>
            </a:pPr>
            <a:r>
              <a:rPr lang="en-US" sz="1400" dirty="0">
                <a:solidFill>
                  <a:srgbClr val="6B7A88"/>
                </a:solidFill>
              </a:rPr>
              <a:t>16:00 속보값이며 확정치는 다음 날 「전일」 칸</a:t>
            </a:r>
            <a:endParaRPr lang="en-US" sz="1700" dirty="0"/>
          </a:p>
        </p:txBody>
      </p:sp>
      <p:sp>
        <p:nvSpPr>
          <p:cNvPr id="13" name="cap1"/>
          <p:cNvSpPr/>
          <p:nvPr/>
        </p:nvSpPr>
        <p:spPr>
          <a:xfrm>
            <a:off x="4297680" y="1965960"/>
            <a:ext cx="3566160" cy="3291840"/>
          </a:xfrm>
          <a:prstGeom prst="rect">
            <a:avLst/>
          </a:prstGeom>
          <a:solidFill>
            <a:srgbClr val="F4F6F8"/>
          </a:solidFill>
          <a:ln w="9525">
            <a:solidFill>
              <a:srgbClr val="D9E2EC"/>
            </a:solidFill>
            <a:prstDash val="solid"/>
          </a:ln>
        </p:spPr>
      </p:sp>
      <p:pic>
        <p:nvPicPr>
          <p:cNvPr id="14" name="cap1-img" descr="사내 현황판 화면 (거래처명은 A·B·C로 바꿈)">    </p:cNvPr>
          <p:cNvPicPr>
            <a:picLocks noChangeAspect="1"/>
          </p:cNvPicPr>
          <p:nvPr/>
        </p:nvPicPr>
        <p:blipFill>
          <a:blip r:embed="rId2"/>
          <a:stretch>
            <a:fillRect/>
          </a:stretch>
        </p:blipFill>
        <p:spPr>
          <a:xfrm>
            <a:off x="4389120" y="2074025"/>
            <a:ext cx="3383280" cy="3075709"/>
          </a:xfrm>
          <a:prstGeom prst="rect">
            <a:avLst/>
          </a:prstGeom>
        </p:spPr>
      </p:pic>
      <p:sp>
        <p:nvSpPr>
          <p:cNvPr id="15" name="cap1-cap"/>
          <p:cNvSpPr txBox="1"/>
          <p:nvPr/>
        </p:nvSpPr>
        <p:spPr>
          <a:xfrm>
            <a:off x="429768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사내 현황판</a:t>
            </a:r>
            <a:endParaRPr lang="en-US" sz="1700" dirty="0"/>
          </a:p>
          <a:p>
            <a:pPr indent="0" marL="0">
              <a:buNone/>
            </a:pPr>
            <a:r>
              <a:rPr lang="en-US" sz="1400" dirty="0">
                <a:solidFill>
                  <a:srgbClr val="6B7A88"/>
                </a:solidFill>
              </a:rPr>
              <a:t>납기 지연과 임박, 미출하 잔량</a:t>
            </a:r>
            <a:endParaRPr lang="en-US" sz="1700" dirty="0"/>
          </a:p>
        </p:txBody>
      </p:sp>
      <p:sp>
        <p:nvSpPr>
          <p:cNvPr id="16" name="cap2"/>
          <p:cNvSpPr/>
          <p:nvPr/>
        </p:nvSpPr>
        <p:spPr>
          <a:xfrm>
            <a:off x="8046720" y="1965960"/>
            <a:ext cx="3566160" cy="3291840"/>
          </a:xfrm>
          <a:prstGeom prst="rect">
            <a:avLst/>
          </a:prstGeom>
          <a:solidFill>
            <a:srgbClr val="F4F6F8"/>
          </a:solidFill>
          <a:ln w="9525">
            <a:solidFill>
              <a:srgbClr val="D9E2EC"/>
            </a:solidFill>
            <a:prstDash val="solid"/>
          </a:ln>
        </p:spPr>
      </p:sp>
      <p:pic>
        <p:nvPicPr>
          <p:cNvPr id="17" name="cap2-img" descr="FG 장비 투입 목록 화면 (거래처명은 A·B·C로 바꿈)">    </p:cNvPr>
          <p:cNvPicPr>
            <a:picLocks noChangeAspect="1"/>
          </p:cNvPicPr>
          <p:nvPr/>
        </p:nvPicPr>
        <p:blipFill>
          <a:blip r:embed="rId3"/>
          <a:stretch>
            <a:fillRect/>
          </a:stretch>
        </p:blipFill>
        <p:spPr>
          <a:xfrm>
            <a:off x="8381609" y="2057400"/>
            <a:ext cx="2896382" cy="3108960"/>
          </a:xfrm>
          <a:prstGeom prst="rect">
            <a:avLst/>
          </a:prstGeom>
        </p:spPr>
      </p:pic>
      <p:sp>
        <p:nvSpPr>
          <p:cNvPr id="18" name="cap2-cap"/>
          <p:cNvSpPr txBox="1"/>
          <p:nvPr/>
        </p:nvSpPr>
        <p:spPr>
          <a:xfrm>
            <a:off x="8046720" y="5349240"/>
            <a:ext cx="3566160" cy="777240"/>
          </a:xfrm>
          <a:prstGeom prst="rect">
            <a:avLst/>
          </a:prstGeom>
          <a:noFill/>
          <a:ln/>
        </p:spPr>
        <p:txBody>
          <a:bodyPr wrap="square" lIns="0" tIns="0" rIns="0" bIns="0" rtlCol="0" anchor="t"/>
          <a:lstStyle/>
          <a:p>
            <a:pPr indent="0" marL="0">
              <a:buNone/>
            </a:pPr>
            <a:r>
              <a:rPr lang="en-US" sz="1700" b="1" dirty="0">
                <a:solidFill>
                  <a:srgbClr val="1F2A36"/>
                </a:solidFill>
              </a:rPr>
              <a:t>FG 장비 투입 목록</a:t>
            </a:r>
            <a:endParaRPr lang="en-US" sz="1700" dirty="0"/>
          </a:p>
          <a:p>
            <a:pPr indent="0" marL="0">
              <a:buNone/>
            </a:pPr>
            <a:r>
              <a:rPr lang="en-US" sz="1400" dirty="0">
                <a:solidFill>
                  <a:srgbClr val="6B7A88"/>
                </a:solidFill>
              </a:rPr>
              <a:t>납기순으로 같은 형상끼리 묶음</a:t>
            </a:r>
            <a:endParaRPr lang="en-US" sz="1700" dirty="0"/>
          </a:p>
        </p:txBody>
      </p:sp>
      <p:sp>
        <p:nvSpPr>
          <p:cNvPr id="19"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화면: 일일보고 10-16, 현황판 10-19, 거래처명 익명  |  자료 기준일 2026-10-23</a:t>
            </a:r>
            <a:endParaRPr lang="en-US" sz="1200" dirty="0"/>
          </a:p>
        </p:txBody>
      </p:sp>
      <p:sp>
        <p:nvSpPr>
          <p:cNvPr id="21"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자동화 시스템 (3/3) 질의응답</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기록에 없는 내용은 「확인 필요」로 표시</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qa0-tag"/>
          <p:cNvSpPr txBox="1"/>
          <p:nvPr/>
        </p:nvSpPr>
        <p:spPr>
          <a:xfrm>
            <a:off x="548640" y="1965960"/>
            <a:ext cx="1371600" cy="329184"/>
          </a:xfrm>
          <a:prstGeom prst="rect">
            <a:avLst/>
          </a:prstGeom>
          <a:solidFill>
            <a:srgbClr val="0E7C86"/>
          </a:solidFill>
          <a:ln/>
        </p:spPr>
        <p:txBody>
          <a:bodyPr wrap="square" lIns="0" tIns="0" rIns="0" bIns="0" rtlCol="0" anchor="ctr"/>
          <a:lstStyle/>
          <a:p>
            <a:pPr algn="ctr" indent="0" marL="0">
              <a:buNone/>
            </a:pPr>
            <a:r>
              <a:rPr lang="en-US" sz="1400" b="1" dirty="0">
                <a:solidFill>
                  <a:srgbClr val="FFFFFF"/>
                </a:solidFill>
              </a:rPr>
              <a:t>장비 이력</a:t>
            </a:r>
            <a:endParaRPr lang="en-US" sz="1400" dirty="0"/>
          </a:p>
        </p:txBody>
      </p:sp>
      <p:sp>
        <p:nvSpPr>
          <p:cNvPr id="11" name="qa0-q"/>
          <p:cNvSpPr/>
          <p:nvPr/>
        </p:nvSpPr>
        <p:spPr>
          <a:xfrm>
            <a:off x="548640" y="2377440"/>
            <a:ext cx="5440680" cy="777240"/>
          </a:xfrm>
          <a:prstGeom prst="rect">
            <a:avLst/>
          </a:prstGeom>
          <a:solidFill>
            <a:srgbClr val="1F2A36"/>
          </a:solidFill>
          <a:ln w="9525">
            <a:solidFill>
              <a:srgbClr val="1F2A36"/>
            </a:solidFill>
            <a:prstDash val="solid"/>
          </a:ln>
        </p:spPr>
      </p:sp>
      <p:sp>
        <p:nvSpPr>
          <p:cNvPr id="12" name="qa0-qt"/>
          <p:cNvSpPr txBox="1"/>
          <p:nvPr/>
        </p:nvSpPr>
        <p:spPr>
          <a:xfrm>
            <a:off x="731520" y="2377440"/>
            <a:ext cx="5074920" cy="777240"/>
          </a:xfrm>
          <a:prstGeom prst="rect">
            <a:avLst/>
          </a:prstGeom>
          <a:noFill/>
          <a:ln/>
        </p:spPr>
        <p:txBody>
          <a:bodyPr wrap="square" lIns="0" tIns="0" rIns="0" bIns="0" rtlCol="0" anchor="ctr"/>
          <a:lstStyle/>
          <a:p>
            <a:pPr indent="0" marL="0">
              <a:buNone/>
            </a:pPr>
            <a:r>
              <a:rPr lang="en-US" sz="1800" b="1" dirty="0">
                <a:solidFill>
                  <a:srgbClr val="FFFFFF"/>
                </a:solidFill>
              </a:rPr>
              <a:t>「GX7 로더는 왜 못 썼고, 언제 다시 썼나?」</a:t>
            </a:r>
            <a:endParaRPr lang="en-US" sz="1800" dirty="0"/>
          </a:p>
        </p:txBody>
      </p:sp>
      <p:sp>
        <p:nvSpPr>
          <p:cNvPr id="13" name="qa0-a"/>
          <p:cNvSpPr/>
          <p:nvPr/>
        </p:nvSpPr>
        <p:spPr>
          <a:xfrm>
            <a:off x="548640" y="3246120"/>
            <a:ext cx="5440680" cy="2148840"/>
          </a:xfrm>
          <a:prstGeom prst="rect">
            <a:avLst/>
          </a:prstGeom>
          <a:solidFill>
            <a:srgbClr val="F4F6F8"/>
          </a:solidFill>
          <a:ln w="9525">
            <a:solidFill>
              <a:srgbClr val="D9E2EC"/>
            </a:solidFill>
            <a:prstDash val="solid"/>
          </a:ln>
        </p:spPr>
      </p:sp>
      <p:sp>
        <p:nvSpPr>
          <p:cNvPr id="14" name="qa0-at"/>
          <p:cNvSpPr txBox="1"/>
          <p:nvPr/>
        </p:nvSpPr>
        <p:spPr>
          <a:xfrm>
            <a:off x="731520" y="3383280"/>
            <a:ext cx="5074920" cy="16002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C3E50"/>
                </a:solidFill>
              </a:rPr>
              <a:t>08-13 외부 점검에서 실린더 이상 발견해 로더 사용 금지</a:t>
            </a:r>
            <a:endParaRPr lang="en-US" sz="1700" dirty="0"/>
          </a:p>
          <a:p>
            <a:pPr marL="342900" indent="-342900">
              <a:spcAft>
                <a:spcPts val="800"/>
              </a:spcAft>
              <a:buSzPct val="100000"/>
              <a:buChar char="•"/>
            </a:pPr>
            <a:r>
              <a:rPr lang="en-US" sz="1700" dirty="0">
                <a:solidFill>
                  <a:srgbClr val="2C3E50"/>
                </a:solidFill>
              </a:rPr>
              <a:t>08-14 부품 발주 후 10-12 교체 수리 완료</a:t>
            </a:r>
            <a:endParaRPr lang="en-US" sz="1700" dirty="0"/>
          </a:p>
          <a:p>
            <a:pPr marL="342900" indent="-342900">
              <a:spcAft>
                <a:spcPts val="800"/>
              </a:spcAft>
              <a:buSzPct val="100000"/>
              <a:buChar char="•"/>
            </a:pPr>
            <a:r>
              <a:rPr lang="en-US" sz="1700" dirty="0">
                <a:solidFill>
                  <a:srgbClr val="2C3E50"/>
                </a:solidFill>
              </a:rPr>
              <a:t>10-13 생산 재개 (고장 원인은 「확인 필요」)</a:t>
            </a:r>
            <a:endParaRPr lang="en-US" sz="1700" dirty="0"/>
          </a:p>
        </p:txBody>
      </p:sp>
      <p:sp>
        <p:nvSpPr>
          <p:cNvPr id="15" name="qa0-src"/>
          <p:cNvSpPr txBox="1"/>
          <p:nvPr/>
        </p:nvSpPr>
        <p:spPr>
          <a:xfrm>
            <a:off x="731520" y="4983480"/>
            <a:ext cx="5074920" cy="320040"/>
          </a:xfrm>
          <a:prstGeom prst="rect">
            <a:avLst/>
          </a:prstGeom>
          <a:noFill/>
          <a:ln/>
        </p:spPr>
        <p:txBody>
          <a:bodyPr wrap="square" lIns="0" tIns="0" rIns="0" bIns="0" rtlCol="0" anchor="ctr"/>
          <a:lstStyle/>
          <a:p>
            <a:pPr indent="0" marL="0">
              <a:buNone/>
            </a:pPr>
            <a:r>
              <a:rPr lang="en-US" sz="1300" dirty="0">
                <a:solidFill>
                  <a:srgbClr val="6B7A88"/>
                </a:solidFill>
              </a:rPr>
              <a:t>근거: 수리 이력 페이지, 10월 생산일지(10-12 「수리 중」)</a:t>
            </a:r>
            <a:endParaRPr lang="en-US" sz="1300" dirty="0"/>
          </a:p>
        </p:txBody>
      </p:sp>
      <p:sp>
        <p:nvSpPr>
          <p:cNvPr id="16" name="qa1-tag"/>
          <p:cNvSpPr txBox="1"/>
          <p:nvPr/>
        </p:nvSpPr>
        <p:spPr>
          <a:xfrm>
            <a:off x="6172200" y="1965960"/>
            <a:ext cx="1371600" cy="329184"/>
          </a:xfrm>
          <a:prstGeom prst="rect">
            <a:avLst/>
          </a:prstGeom>
          <a:solidFill>
            <a:srgbClr val="0E7C86"/>
          </a:solidFill>
          <a:ln/>
        </p:spPr>
        <p:txBody>
          <a:bodyPr wrap="square" lIns="0" tIns="0" rIns="0" bIns="0" rtlCol="0" anchor="ctr"/>
          <a:lstStyle/>
          <a:p>
            <a:pPr algn="ctr" indent="0" marL="0">
              <a:buNone/>
            </a:pPr>
            <a:r>
              <a:rPr lang="en-US" sz="1400" b="1" dirty="0">
                <a:solidFill>
                  <a:srgbClr val="FFFFFF"/>
                </a:solidFill>
              </a:rPr>
              <a:t>연삭 조건</a:t>
            </a:r>
            <a:endParaRPr lang="en-US" sz="1400" dirty="0"/>
          </a:p>
        </p:txBody>
      </p:sp>
      <p:sp>
        <p:nvSpPr>
          <p:cNvPr id="17" name="qa1-q"/>
          <p:cNvSpPr/>
          <p:nvPr/>
        </p:nvSpPr>
        <p:spPr>
          <a:xfrm>
            <a:off x="6172200" y="2377440"/>
            <a:ext cx="5440680" cy="777240"/>
          </a:xfrm>
          <a:prstGeom prst="rect">
            <a:avLst/>
          </a:prstGeom>
          <a:solidFill>
            <a:srgbClr val="1F2A36"/>
          </a:solidFill>
          <a:ln w="9525">
            <a:solidFill>
              <a:srgbClr val="1F2A36"/>
            </a:solidFill>
            <a:prstDash val="solid"/>
          </a:ln>
        </p:spPr>
      </p:sp>
      <p:sp>
        <p:nvSpPr>
          <p:cNvPr id="18" name="qa1-qt"/>
          <p:cNvSpPr txBox="1"/>
          <p:nvPr/>
        </p:nvSpPr>
        <p:spPr>
          <a:xfrm>
            <a:off x="6355080" y="2377440"/>
            <a:ext cx="5074920" cy="777240"/>
          </a:xfrm>
          <a:prstGeom prst="rect">
            <a:avLst/>
          </a:prstGeom>
          <a:noFill/>
          <a:ln/>
        </p:spPr>
        <p:txBody>
          <a:bodyPr wrap="square" lIns="0" tIns="0" rIns="0" bIns="0" rtlCol="0" anchor="ctr"/>
          <a:lstStyle/>
          <a:p>
            <a:pPr indent="0" marL="0">
              <a:buNone/>
            </a:pPr>
            <a:r>
              <a:rPr lang="en-US" sz="1800" b="1" dirty="0">
                <a:solidFill>
                  <a:srgbClr val="FFFFFF"/>
                </a:solidFill>
              </a:rPr>
              <a:t>「Ø125 휠로 19 m/s를 내려면 몇 rpm?」</a:t>
            </a:r>
            <a:endParaRPr lang="en-US" sz="1800" dirty="0"/>
          </a:p>
        </p:txBody>
      </p:sp>
      <p:sp>
        <p:nvSpPr>
          <p:cNvPr id="19" name="qa1-a"/>
          <p:cNvSpPr/>
          <p:nvPr/>
        </p:nvSpPr>
        <p:spPr>
          <a:xfrm>
            <a:off x="6172200" y="3246120"/>
            <a:ext cx="5440680" cy="2148840"/>
          </a:xfrm>
          <a:prstGeom prst="rect">
            <a:avLst/>
          </a:prstGeom>
          <a:solidFill>
            <a:srgbClr val="F4F6F8"/>
          </a:solidFill>
          <a:ln w="9525">
            <a:solidFill>
              <a:srgbClr val="D9E2EC"/>
            </a:solidFill>
            <a:prstDash val="solid"/>
          </a:ln>
        </p:spPr>
      </p:sp>
      <p:sp>
        <p:nvSpPr>
          <p:cNvPr id="20" name="qa1-at"/>
          <p:cNvSpPr txBox="1"/>
          <p:nvPr/>
        </p:nvSpPr>
        <p:spPr>
          <a:xfrm>
            <a:off x="6355080" y="3383280"/>
            <a:ext cx="5074920" cy="16002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C3E50"/>
                </a:solidFill>
              </a:rPr>
              <a:t>N = 60,000 × 19 ÷ (π × 125) ≈ 2,903 rpm</a:t>
            </a:r>
            <a:endParaRPr lang="en-US" sz="1700" dirty="0"/>
          </a:p>
          <a:p>
            <a:pPr marL="342900" indent="-342900">
              <a:spcAft>
                <a:spcPts val="800"/>
              </a:spcAft>
              <a:buSzPct val="100000"/>
              <a:buChar char="•"/>
            </a:pPr>
            <a:r>
              <a:rPr lang="en-US" sz="1700" dirty="0">
                <a:solidFill>
                  <a:srgbClr val="2C3E50"/>
                </a:solidFill>
              </a:rPr>
              <a:t>사내 실사용 2,600 ~ 3,000 rpm 범위 안</a:t>
            </a:r>
            <a:endParaRPr lang="en-US" sz="1700" dirty="0"/>
          </a:p>
          <a:p>
            <a:pPr marL="342900" indent="-342900">
              <a:spcAft>
                <a:spcPts val="800"/>
              </a:spcAft>
              <a:buSzPct val="100000"/>
              <a:buChar char="•"/>
            </a:pPr>
            <a:r>
              <a:rPr lang="en-US" sz="1700" dirty="0">
                <a:solidFill>
                  <a:srgbClr val="2C3E50"/>
                </a:solidFill>
              </a:rPr>
              <a:t>제조사 ANCA 적용 사례 18 ~ 22 m/s</a:t>
            </a:r>
            <a:endParaRPr lang="en-US" sz="1700" dirty="0"/>
          </a:p>
        </p:txBody>
      </p:sp>
      <p:sp>
        <p:nvSpPr>
          <p:cNvPr id="21" name="qa1-src"/>
          <p:cNvSpPr txBox="1"/>
          <p:nvPr/>
        </p:nvSpPr>
        <p:spPr>
          <a:xfrm>
            <a:off x="6355080" y="4983480"/>
            <a:ext cx="5074920" cy="320040"/>
          </a:xfrm>
          <a:prstGeom prst="rect">
            <a:avLst/>
          </a:prstGeom>
          <a:noFill/>
          <a:ln/>
        </p:spPr>
        <p:txBody>
          <a:bodyPr wrap="square" lIns="0" tIns="0" rIns="0" bIns="0" rtlCol="0" anchor="ctr"/>
          <a:lstStyle/>
          <a:p>
            <a:pPr indent="0" marL="0">
              <a:buNone/>
            </a:pPr>
            <a:r>
              <a:rPr lang="en-US" sz="1300" dirty="0">
                <a:solidFill>
                  <a:srgbClr val="6B7A88"/>
                </a:solidFill>
              </a:rPr>
              <a:t>근거: 휠 기준 페이지, 제조사 자료 3종, 사내 상한 25 m/s</a:t>
            </a:r>
            <a:endParaRPr lang="en-US" sz="1300" dirty="0"/>
          </a:p>
        </p:txBody>
      </p:sp>
      <p:sp>
        <p:nvSpPr>
          <p:cNvPr id="22" name="qa-limit"/>
          <p:cNvSpPr/>
          <p:nvPr/>
        </p:nvSpPr>
        <p:spPr>
          <a:xfrm>
            <a:off x="548640" y="5532120"/>
            <a:ext cx="11064240" cy="548640"/>
          </a:xfrm>
          <a:prstGeom prst="rect">
            <a:avLst/>
          </a:prstGeom>
          <a:solidFill>
            <a:srgbClr val="EAF4F5"/>
          </a:solidFill>
          <a:ln w="9525">
            <a:solidFill>
              <a:srgbClr val="D9E2EC"/>
            </a:solidFill>
            <a:prstDash val="solid"/>
          </a:ln>
        </p:spPr>
      </p:sp>
      <p:sp>
        <p:nvSpPr>
          <p:cNvPr id="23" name="qa-limit-t"/>
          <p:cNvSpPr txBox="1"/>
          <p:nvPr/>
        </p:nvSpPr>
        <p:spPr>
          <a:xfrm>
            <a:off x="731520" y="5532120"/>
            <a:ext cx="10698480" cy="548640"/>
          </a:xfrm>
          <a:prstGeom prst="rect">
            <a:avLst/>
          </a:prstGeom>
          <a:noFill/>
          <a:ln/>
        </p:spPr>
        <p:txBody>
          <a:bodyPr wrap="square" lIns="0" tIns="0" rIns="0" bIns="0" rtlCol="0" anchor="ctr"/>
          <a:lstStyle/>
          <a:p>
            <a:pPr indent="0" marL="0">
              <a:buNone/>
            </a:pPr>
            <a:r>
              <a:rPr lang="en-US" sz="1700" dirty="0">
                <a:solidFill>
                  <a:srgbClr val="1F2A36"/>
                </a:solidFill>
              </a:rPr>
              <a:t>조건 답변은 iGrind 입력 전 검산용이며 확정은 현장 시험으로</a:t>
            </a:r>
            <a:endParaRPr lang="en-US" sz="1700" dirty="0"/>
          </a:p>
        </p:txBody>
      </p:sp>
      <p:sp>
        <p:nvSpPr>
          <p:cNvPr id="24"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10-19에 실제로 물은 질문과 답을 줄여 옮김</a:t>
            </a:r>
            <a:endParaRPr lang="en-US" sz="1200" dirty="0"/>
          </a:p>
        </p:txBody>
      </p:sp>
      <p:sp>
        <p:nvSpPr>
          <p:cNvPr id="26"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업무 적용 전후 비교 (1/2) 일일보고</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최근 20영업일 동안 20건 모두 자동 생성</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graphicFrame>
        <p:nvGraphicFramePr>
          <p:cNvPr id="10" name="daily-chart" descr=""/>
          <p:cNvGraphicFramePr/>
          <p:nvPr/>
        </p:nvGraphicFramePr>
        <p:xfrm>
          <a:off x="548640" y="1920240"/>
          <a:ext cx="6858000" cy="4206240"/>
        </p:xfrm>
        <a:graphic xmlns:a="http://schemas.openxmlformats.org/drawingml/2006/main">
          <a:graphicData uri="http://schemas.openxmlformats.org/drawingml/2006/chart">
            <c:chart xmlns:c="http://schemas.openxmlformats.org/drawingml/2006/chart" r:id="rId1"/>
          </a:graphicData>
        </a:graphic>
      </p:graphicFrame>
      <p:sp>
        <p:nvSpPr>
          <p:cNvPr id="11" name="ba-panel"/>
          <p:cNvSpPr/>
          <p:nvPr/>
        </p:nvSpPr>
        <p:spPr>
          <a:xfrm>
            <a:off x="7680960" y="1920240"/>
            <a:ext cx="3931920" cy="4206240"/>
          </a:xfrm>
          <a:prstGeom prst="rect">
            <a:avLst/>
          </a:prstGeom>
          <a:solidFill>
            <a:srgbClr val="F4F6F8"/>
          </a:solidFill>
          <a:ln w="9525">
            <a:solidFill>
              <a:srgbClr val="D9E2EC"/>
            </a:solidFill>
            <a:prstDash val="solid"/>
          </a:ln>
        </p:spPr>
      </p:sp>
      <p:sp>
        <p:nvSpPr>
          <p:cNvPr id="12" name="ba0-h"/>
          <p:cNvSpPr txBox="1"/>
          <p:nvPr/>
        </p:nvSpPr>
        <p:spPr>
          <a:xfrm>
            <a:off x="7909560" y="2103120"/>
            <a:ext cx="3474720" cy="329184"/>
          </a:xfrm>
          <a:prstGeom prst="rect">
            <a:avLst/>
          </a:prstGeom>
          <a:noFill/>
          <a:ln/>
        </p:spPr>
        <p:txBody>
          <a:bodyPr wrap="square" lIns="0" tIns="0" rIns="0" bIns="0" rtlCol="0" anchor="ctr"/>
          <a:lstStyle/>
          <a:p>
            <a:pPr indent="0" marL="0">
              <a:buNone/>
            </a:pPr>
            <a:r>
              <a:rPr lang="en-US" sz="1500" b="1" dirty="0">
                <a:solidFill>
                  <a:srgbClr val="6B7A88"/>
                </a:solidFill>
              </a:rPr>
              <a:t>적용 전</a:t>
            </a:r>
            <a:endParaRPr lang="en-US" sz="1500" dirty="0"/>
          </a:p>
        </p:txBody>
      </p:sp>
      <p:sp>
        <p:nvSpPr>
          <p:cNvPr id="13" name="ba0-t"/>
          <p:cNvSpPr txBox="1"/>
          <p:nvPr/>
        </p:nvSpPr>
        <p:spPr>
          <a:xfrm>
            <a:off x="7909560" y="2468880"/>
            <a:ext cx="3474720" cy="777240"/>
          </a:xfrm>
          <a:prstGeom prst="rect">
            <a:avLst/>
          </a:prstGeom>
          <a:noFill/>
          <a:ln/>
        </p:spPr>
        <p:txBody>
          <a:bodyPr wrap="square" lIns="0" tIns="0" rIns="0" bIns="0" rtlCol="0" anchor="t"/>
          <a:lstStyle/>
          <a:p>
            <a:pPr indent="0" marL="0">
              <a:buNone/>
            </a:pPr>
            <a:r>
              <a:rPr lang="en-US" sz="1800" dirty="0">
                <a:solidFill>
                  <a:srgbClr val="2C3E50"/>
                </a:solidFill>
              </a:rPr>
              <a:t>담당자가 매일 엑셀로 손집계</a:t>
            </a:r>
            <a:endParaRPr lang="en-US" sz="1800" dirty="0"/>
          </a:p>
        </p:txBody>
      </p:sp>
      <p:sp>
        <p:nvSpPr>
          <p:cNvPr id="14" name="ba1-h"/>
          <p:cNvSpPr txBox="1"/>
          <p:nvPr/>
        </p:nvSpPr>
        <p:spPr>
          <a:xfrm>
            <a:off x="7909560" y="3429000"/>
            <a:ext cx="3474720" cy="329184"/>
          </a:xfrm>
          <a:prstGeom prst="rect">
            <a:avLst/>
          </a:prstGeom>
          <a:noFill/>
          <a:ln/>
        </p:spPr>
        <p:txBody>
          <a:bodyPr wrap="square" lIns="0" tIns="0" rIns="0" bIns="0" rtlCol="0" anchor="ctr"/>
          <a:lstStyle/>
          <a:p>
            <a:pPr indent="0" marL="0">
              <a:buNone/>
            </a:pPr>
            <a:r>
              <a:rPr lang="en-US" sz="1500" b="1" dirty="0">
                <a:solidFill>
                  <a:srgbClr val="0E7C86"/>
                </a:solidFill>
              </a:rPr>
              <a:t>적용 후</a:t>
            </a:r>
            <a:endParaRPr lang="en-US" sz="1500" dirty="0"/>
          </a:p>
        </p:txBody>
      </p:sp>
      <p:sp>
        <p:nvSpPr>
          <p:cNvPr id="15" name="ba1-t"/>
          <p:cNvSpPr txBox="1"/>
          <p:nvPr/>
        </p:nvSpPr>
        <p:spPr>
          <a:xfrm>
            <a:off x="7909560" y="3794760"/>
            <a:ext cx="3474720" cy="777240"/>
          </a:xfrm>
          <a:prstGeom prst="rect">
            <a:avLst/>
          </a:prstGeom>
          <a:noFill/>
          <a:ln/>
        </p:spPr>
        <p:txBody>
          <a:bodyPr wrap="square" lIns="0" tIns="0" rIns="0" bIns="0" rtlCol="0" anchor="t"/>
          <a:lstStyle/>
          <a:p>
            <a:pPr indent="0" marL="0">
              <a:buNone/>
            </a:pPr>
            <a:r>
              <a:rPr lang="en-US" sz="1800" dirty="0">
                <a:solidFill>
                  <a:srgbClr val="2C3E50"/>
                </a:solidFill>
              </a:rPr>
              <a:t>07:50과 16:00에 자동 생성되어 담당자는 확인만</a:t>
            </a:r>
            <a:endParaRPr lang="en-US" sz="1800" dirty="0"/>
          </a:p>
        </p:txBody>
      </p:sp>
      <p:sp>
        <p:nvSpPr>
          <p:cNvPr id="16" name="ba2-h"/>
          <p:cNvSpPr txBox="1"/>
          <p:nvPr/>
        </p:nvSpPr>
        <p:spPr>
          <a:xfrm>
            <a:off x="7909560" y="4754880"/>
            <a:ext cx="3474720" cy="329184"/>
          </a:xfrm>
          <a:prstGeom prst="rect">
            <a:avLst/>
          </a:prstGeom>
          <a:noFill/>
          <a:ln/>
        </p:spPr>
        <p:txBody>
          <a:bodyPr wrap="square" lIns="0" tIns="0" rIns="0" bIns="0" rtlCol="0" anchor="ctr"/>
          <a:lstStyle/>
          <a:p>
            <a:pPr indent="0" marL="0">
              <a:buNone/>
            </a:pPr>
            <a:r>
              <a:rPr lang="en-US" sz="1500" b="1" dirty="0">
                <a:solidFill>
                  <a:srgbClr val="1F2A36"/>
                </a:solidFill>
              </a:rPr>
              <a:t>아낀 시간</a:t>
            </a:r>
            <a:endParaRPr lang="en-US" sz="1500" dirty="0"/>
          </a:p>
        </p:txBody>
      </p:sp>
      <p:sp>
        <p:nvSpPr>
          <p:cNvPr id="17" name="ba2-t"/>
          <p:cNvSpPr txBox="1"/>
          <p:nvPr/>
        </p:nvSpPr>
        <p:spPr>
          <a:xfrm>
            <a:off x="7909560" y="5120640"/>
            <a:ext cx="3474720" cy="777240"/>
          </a:xfrm>
          <a:prstGeom prst="rect">
            <a:avLst/>
          </a:prstGeom>
          <a:noFill/>
          <a:ln/>
        </p:spPr>
        <p:txBody>
          <a:bodyPr wrap="square" lIns="0" tIns="0" rIns="0" bIns="0" rtlCol="0" anchor="t"/>
          <a:lstStyle/>
          <a:p>
            <a:pPr indent="0" marL="0">
              <a:buNone/>
            </a:pPr>
            <a:r>
              <a:rPr lang="en-US" sz="1800" dirty="0">
                <a:solidFill>
                  <a:srgbClr val="2C3E50"/>
                </a:solidFill>
              </a:rPr>
              <a:t>하루 15분 이하 [사내 경험값]</a:t>
            </a:r>
            <a:endParaRPr lang="en-US" sz="1800" dirty="0"/>
          </a:p>
        </p:txBody>
      </p:sp>
      <p:sp>
        <p:nvSpPr>
          <p:cNvPr id="18"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파일 수정 시각 실측, *10월은 23일까지  |  자료 기준일 2026-10-23</a:t>
            </a:r>
            <a:endParaRPr lang="en-US" sz="1200" dirty="0"/>
          </a:p>
        </p:txBody>
      </p:sp>
      <p:sp>
        <p:nvSpPr>
          <p:cNvPr id="20"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algn="ctr" indent="0" marL="0">
              <a:buNone/>
            </a:pPr>
            <a:r>
              <a:rPr lang="en-US" sz="1400" dirty="0">
                <a:solidFill>
                  <a:srgbClr val="6B7A88"/>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업무 적용 전후 비교 (2/2)</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6개 항목 중 4개는 실측으로 확인</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graphicFrame>
        <p:nvGraphicFramePr>
          <p:cNvPr id="11" name="ba-table"/>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2194560"/>
                <a:gridCol w="2651760"/>
                <a:gridCol w="3291840"/>
                <a:gridCol w="1737360"/>
                <a:gridCol w="1188720"/>
              </a:tblGrid>
              <a:tr h="45720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항목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적용 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적용 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근거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algn="ctr" indent="0" marL="0">
                        <a:buNone/>
                      </a:pPr>
                      <a:r>
                        <a:rPr lang="en-US" sz="1700" b="1" dirty="0">
                          <a:solidFill>
                            <a:srgbClr val="FFFFFF"/>
                          </a:solidFill>
                          <a:latin typeface="맑은 고딕" pitchFamily="34" charset="0"/>
                          <a:ea typeface="맑은 고딕" pitchFamily="34" charset="-122"/>
                          <a:cs typeface="맑은 고딕" pitchFamily="34" charset="-120"/>
                        </a:rPr>
                        <a:t>신뢰도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일일보고 집계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매일 수작업 집계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자동 생성 18 / 18 영업일</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성적표 10-07</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집계와 판단 소요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하루 15분 이하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확인만 하여 월 5시간 이하 절약</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담당자 확인</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사내 경험값</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판단 근거 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개인 기억과 메신저</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결정 기록 330여 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결정 기록</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장비 수리 이력</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PDF, 사진, 메일에 분산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과거 12건과 올해 5건 정리</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수리 이력 페이지</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단가표 검수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수작업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10,744건 자동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중간보고 09-14</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03504">
                <a:tc>
                  <a:txBody>
                    <a:bodyPr/>
                    <a:lstStyle/>
                    <a:p>
                      <a:pPr indent="0" marL="0">
                        <a:buNone/>
                      </a:pPr>
                      <a:r>
                        <a:rPr lang="en-US" sz="1700" b="1" dirty="0">
                          <a:solidFill>
                            <a:srgbClr val="1F2A36"/>
                          </a:solidFill>
                          <a:latin typeface="맑은 고딕" pitchFamily="34" charset="0"/>
                          <a:ea typeface="맑은 고딕" pitchFamily="34" charset="-122"/>
                          <a:cs typeface="맑은 고딕" pitchFamily="34" charset="-120"/>
                        </a:rPr>
                        <a:t>장비별 투입</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dirty="0">
                          <a:solidFill>
                            <a:srgbClr val="6B7A88"/>
                          </a:solidFill>
                          <a:latin typeface="맑은 고딕" pitchFamily="34" charset="0"/>
                          <a:ea typeface="맑은 고딕" pitchFamily="34" charset="-122"/>
                          <a:cs typeface="맑은 고딕" pitchFamily="34" charset="-120"/>
                        </a:rPr>
                        <a:t>매일 경험으로 판단</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700" b="1" dirty="0">
                          <a:solidFill>
                            <a:srgbClr val="0E7C86"/>
                          </a:solidFill>
                          <a:latin typeface="맑은 고딕" pitchFamily="34" charset="0"/>
                          <a:ea typeface="맑은 고딕" pitchFamily="34" charset="-122"/>
                          <a:cs typeface="맑은 고딕" pitchFamily="34" charset="-120"/>
                        </a:rPr>
                        <a:t>목록 자동 생성 (효과 측정 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6B7A88"/>
                          </a:solidFill>
                          <a:latin typeface="맑은 고딕" pitchFamily="34" charset="0"/>
                          <a:ea typeface="맑은 고딕" pitchFamily="34" charset="-122"/>
                          <a:cs typeface="맑은 고딕" pitchFamily="34" charset="-120"/>
                        </a:rPr>
                        <a:t>작업일지 셋업 분석</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A36"/>
                          </a:solidFill>
                          <a:latin typeface="맑은 고딕" pitchFamily="34" charset="0"/>
                          <a:ea typeface="맑은 고딕" pitchFamily="34" charset="-122"/>
                          <a:cs typeface="맑은 고딕" pitchFamily="34" charset="-120"/>
                        </a:rPr>
                        <a:t>판단 보류</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11"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주: 실측은 기록으로 센 값이고 사내 경험값은 담당자 확인값</a:t>
            </a:r>
            <a:endParaRPr lang="en-US" sz="1200" dirty="0"/>
          </a:p>
        </p:txBody>
      </p:sp>
      <p:sp>
        <p:nvSpPr>
          <p:cNvPr id="13"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향후 과제 (1/2) 도면과 CAM 연결 시험</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무료 CAM으로 만든 명판 G코드의 글자 밖 절삭 0.029 mm</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bl0-cap"/>
          <p:cNvSpPr txBox="1"/>
          <p:nvPr/>
        </p:nvSpPr>
        <p:spPr>
          <a:xfrm>
            <a:off x="548640" y="1965960"/>
            <a:ext cx="5486400" cy="292608"/>
          </a:xfrm>
          <a:prstGeom prst="rect">
            <a:avLst/>
          </a:prstGeom>
          <a:noFill/>
          <a:ln/>
        </p:spPr>
        <p:txBody>
          <a:bodyPr wrap="square" lIns="0" tIns="0" rIns="0" bIns="0" rtlCol="0" anchor="ctr"/>
          <a:lstStyle/>
          <a:p>
            <a:pPr indent="0" marL="0">
              <a:buNone/>
            </a:pPr>
            <a:r>
              <a:rPr lang="en-US" sz="1300" b="1" dirty="0">
                <a:solidFill>
                  <a:srgbClr val="3A506B"/>
                </a:solidFill>
              </a:rPr>
              <a:t>그림 1. 가공 영상 시작 화면 (O1002 T01 포켓)</a:t>
            </a:r>
            <a:endParaRPr lang="en-US" sz="1300" dirty="0"/>
          </a:p>
        </p:txBody>
      </p:sp>
      <p:pic>
        <p:nvPicPr>
          <p:cNvPr id="11" name="bl0-img" descr="Blender로 G코드 좌표를 옮긴 명판 음각 가공 영상 시작 장면">    </p:cNvPr>
          <p:cNvPicPr>
            <a:picLocks noChangeAspect="1"/>
          </p:cNvPicPr>
          <p:nvPr/>
        </p:nvPicPr>
        <p:blipFill>
          <a:blip r:embed="rId1"/>
          <a:stretch>
            <a:fillRect/>
          </a:stretch>
        </p:blipFill>
        <p:spPr>
          <a:xfrm>
            <a:off x="548640" y="2286000"/>
            <a:ext cx="5486400" cy="1543050"/>
          </a:xfrm>
          <a:prstGeom prst="rect">
            <a:avLst/>
          </a:prstGeom>
        </p:spPr>
      </p:pic>
      <p:sp>
        <p:nvSpPr>
          <p:cNvPr id="12" name="bl0-frame"/>
          <p:cNvSpPr/>
          <p:nvPr/>
        </p:nvSpPr>
        <p:spPr>
          <a:xfrm>
            <a:off x="548640" y="2286000"/>
            <a:ext cx="5486400" cy="1543050"/>
          </a:xfrm>
          <a:prstGeom prst="rect">
            <a:avLst/>
          </a:prstGeom>
          <a:ln w="9525">
            <a:solidFill>
              <a:srgbClr val="D9E2EC"/>
            </a:solidFill>
            <a:prstDash val="solid"/>
          </a:ln>
        </p:spPr>
      </p:sp>
      <p:sp>
        <p:nvSpPr>
          <p:cNvPr id="13" name="bl1-cap"/>
          <p:cNvSpPr txBox="1"/>
          <p:nvPr/>
        </p:nvSpPr>
        <p:spPr>
          <a:xfrm>
            <a:off x="548640" y="3931920"/>
            <a:ext cx="5486400" cy="292608"/>
          </a:xfrm>
          <a:prstGeom prst="rect">
            <a:avLst/>
          </a:prstGeom>
          <a:noFill/>
          <a:ln/>
        </p:spPr>
        <p:txBody>
          <a:bodyPr wrap="square" lIns="0" tIns="0" rIns="0" bIns="0" rtlCol="0" anchor="ctr"/>
          <a:lstStyle/>
          <a:p>
            <a:pPr indent="0" marL="0">
              <a:buNone/>
            </a:pPr>
            <a:r>
              <a:rPr lang="en-US" sz="1300" b="1" dirty="0">
                <a:solidFill>
                  <a:srgbClr val="3A506B"/>
                </a:solidFill>
              </a:rPr>
              <a:t>그림 2. 가공 완료 화면 (실제 21분 10초를 26.8초로 재생)</a:t>
            </a:r>
            <a:endParaRPr lang="en-US" sz="1300" dirty="0"/>
          </a:p>
        </p:txBody>
      </p:sp>
      <p:pic>
        <p:nvPicPr>
          <p:cNvPr id="14" name="bl1-img" descr="Blender로 G코드 좌표를 옮긴 명판 음각 가공 영상 완료 장면">    </p:cNvPr>
          <p:cNvPicPr>
            <a:picLocks noChangeAspect="1"/>
          </p:cNvPicPr>
          <p:nvPr/>
        </p:nvPicPr>
        <p:blipFill>
          <a:blip r:embed="rId2"/>
          <a:stretch>
            <a:fillRect/>
          </a:stretch>
        </p:blipFill>
        <p:spPr>
          <a:xfrm>
            <a:off x="548640" y="4251960"/>
            <a:ext cx="5486400" cy="1543050"/>
          </a:xfrm>
          <a:prstGeom prst="rect">
            <a:avLst/>
          </a:prstGeom>
        </p:spPr>
      </p:pic>
      <p:sp>
        <p:nvSpPr>
          <p:cNvPr id="15" name="bl1-frame"/>
          <p:cNvSpPr/>
          <p:nvPr/>
        </p:nvSpPr>
        <p:spPr>
          <a:xfrm>
            <a:off x="548640" y="4251960"/>
            <a:ext cx="5486400" cy="1543050"/>
          </a:xfrm>
          <a:prstGeom prst="rect">
            <a:avLst/>
          </a:prstGeom>
          <a:ln w="9525">
            <a:solidFill>
              <a:srgbClr val="D9E2EC"/>
            </a:solidFill>
            <a:prstDash val="solid"/>
          </a:ln>
        </p:spPr>
      </p:sp>
      <p:graphicFrame>
        <p:nvGraphicFramePr>
          <p:cNvPr id="12" name="tool-table"/>
          <p:cNvGraphicFramePr>
            <a:graphicFrameLocks noGrp="1"/>
          </p:cNvGraphicFramePr>
          <p:nvPr>
            <p:extLst>
              <p:ext uri="{D42A27DB-BD31-4B8C-83A1-F6EECF244321}">
                <p14:modId xmlns:p14="http://schemas.microsoft.com/office/powerpoint/2010/main" val="1579011935"/>
              </p:ext>
            </p:extLst>
          </p:nvPr>
        </p:nvGraphicFramePr>
        <p:xfrm>
          <a:off x="6309360" y="1965960"/>
          <a:ext cx="5303520" cy="914400"/>
        </p:xfrm>
        <a:graphic>
          <a:graphicData uri="http://schemas.openxmlformats.org/drawingml/2006/table">
            <a:tbl>
              <a:tblPr/>
              <a:tblGrid>
                <a:gridCol w="1234440"/>
                <a:gridCol w="777240"/>
                <a:gridCol w="3291840"/>
              </a:tblGrid>
              <a:tr h="384048">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프로그램</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용도</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500" b="1" dirty="0">
                          <a:solidFill>
                            <a:srgbClr val="FFFFFF"/>
                          </a:solidFill>
                          <a:latin typeface="맑은 고딕" pitchFamily="34" charset="0"/>
                          <a:ea typeface="맑은 고딕" pitchFamily="34" charset="-122"/>
                          <a:cs typeface="맑은 고딕" pitchFamily="34" charset="-120"/>
                        </a:rPr>
                        <a:t>이번에 한 일</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731520">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CADCraft</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dirty="0">
                          <a:solidFill>
                            <a:srgbClr val="6B7A88"/>
                          </a:solidFill>
                          <a:latin typeface="맑은 고딕" pitchFamily="34" charset="0"/>
                          <a:ea typeface="맑은 고딕" pitchFamily="34" charset="-122"/>
                          <a:cs typeface="맑은 고딕" pitchFamily="34" charset="-120"/>
                        </a:rPr>
                        <a:t>도면</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dirty="0">
                          <a:solidFill>
                            <a:srgbClr val="1F2A36"/>
                          </a:solidFill>
                          <a:latin typeface="맑은 고딕" pitchFamily="34" charset="0"/>
                          <a:ea typeface="맑은 고딕" pitchFamily="34" charset="-122"/>
                          <a:cs typeface="맑은 고딕" pitchFamily="34" charset="-120"/>
                        </a:rPr>
                        <a:t>공구가 못 들어가는 틈을 뺀 CAM용 도면 사본</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914400">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FreeCAD</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500" dirty="0">
                          <a:solidFill>
                            <a:srgbClr val="6B7A88"/>
                          </a:solidFill>
                          <a:latin typeface="맑은 고딕" pitchFamily="34" charset="0"/>
                          <a:ea typeface="맑은 고딕" pitchFamily="34" charset="-122"/>
                          <a:cs typeface="맑은 고딕" pitchFamily="34" charset="-120"/>
                        </a:rPr>
                        <a:t>CAM</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indent="0" marL="0">
                        <a:buNone/>
                      </a:pPr>
                      <a:r>
                        <a:rPr lang="en-US" sz="1500" dirty="0">
                          <a:solidFill>
                            <a:srgbClr val="1F2A36"/>
                          </a:solidFill>
                          <a:latin typeface="맑은 고딕" pitchFamily="34" charset="0"/>
                          <a:ea typeface="맑은 고딕" pitchFamily="34" charset="-122"/>
                          <a:cs typeface="맑은 고딕" pitchFamily="34" charset="-120"/>
                        </a:rPr>
                        <a:t>명판 G코드 2개 생성</a:t>
                      </a:r>
                      <a:endParaRPr lang="en-US" sz="1500" dirty="0">
                        <a:latin typeface="맑은 고딕" charset="0"/>
                        <a:ea typeface="맑은 고딕" charset="0"/>
                        <a:cs typeface="맑은 고딕" charset="0"/>
                      </a:endParaRPr>
                    </a:p>
                    <a:p>
                      <a:pPr indent="0" marL="0">
                        <a:buNone/>
                      </a:pPr>
                      <a:r>
                        <a:rPr lang="en-US" sz="1500" b="1" dirty="0">
                          <a:solidFill>
                            <a:srgbClr val="0E7C86"/>
                          </a:solidFill>
                          <a:latin typeface="맑은 고딕" pitchFamily="34" charset="0"/>
                          <a:ea typeface="맑은 고딕" pitchFamily="34" charset="-122"/>
                          <a:cs typeface="맑은 고딕" pitchFamily="34" charset="-120"/>
                        </a:rPr>
                        <a:t>글자 밖 절삭 최대 0.029 mm</a:t>
                      </a:r>
                      <a:endParaRPr lang="en-US" sz="1500" dirty="0">
                        <a:latin typeface="맑은 고딕" charset="0"/>
                        <a:ea typeface="맑은 고딕" charset="0"/>
                        <a:cs typeface="맑은 고딕" charset="0"/>
                      </a:endParaRPr>
                    </a:p>
                    <a:p>
                      <a:pPr indent="0" marL="0">
                        <a:buNone/>
                      </a:pPr>
                      <a:r>
                        <a:rPr lang="en-US" sz="1500" dirty="0">
                          <a:solidFill>
                            <a:srgbClr val="6B7A88"/>
                          </a:solidFill>
                          <a:latin typeface="맑은 고딕" pitchFamily="34" charset="0"/>
                          <a:ea typeface="맑은 고딕" pitchFamily="34" charset="-122"/>
                          <a:cs typeface="맑은 고딕" pitchFamily="34" charset="-120"/>
                        </a:rPr>
                        <a:t>(1차 시험 0.224 mm)</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r>
              <a:tr h="731520">
                <a:tc>
                  <a:txBody>
                    <a:bodyPr/>
                    <a:lstStyle/>
                    <a:p>
                      <a:pPr indent="0" marL="0">
                        <a:buNone/>
                      </a:pPr>
                      <a:r>
                        <a:rPr lang="en-US" sz="1500" b="1" dirty="0">
                          <a:solidFill>
                            <a:srgbClr val="1F2A36"/>
                          </a:solidFill>
                          <a:latin typeface="맑은 고딕" pitchFamily="34" charset="0"/>
                          <a:ea typeface="맑은 고딕" pitchFamily="34" charset="-122"/>
                          <a:cs typeface="맑은 고딕" pitchFamily="34" charset="-120"/>
                        </a:rPr>
                        <a:t>Blender</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dirty="0">
                          <a:solidFill>
                            <a:srgbClr val="6B7A88"/>
                          </a:solidFill>
                          <a:latin typeface="맑은 고딕" pitchFamily="34" charset="0"/>
                          <a:ea typeface="맑은 고딕" pitchFamily="34" charset="-122"/>
                          <a:cs typeface="맑은 고딕" pitchFamily="34" charset="-120"/>
                        </a:rPr>
                        <a:t>3D</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500" dirty="0">
                          <a:solidFill>
                            <a:srgbClr val="1F2A36"/>
                          </a:solidFill>
                          <a:latin typeface="맑은 고딕" pitchFamily="34" charset="0"/>
                          <a:ea typeface="맑은 고딕" pitchFamily="34" charset="-122"/>
                          <a:cs typeface="맑은 고딕" pitchFamily="34" charset="-120"/>
                        </a:rPr>
                        <a:t>도면 3D 모델과 G코드 가공 영상. 설명용</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bl>
          </a:graphicData>
        </a:graphic>
      </p:graphicFrame>
      <p:sp>
        <p:nvSpPr>
          <p:cNvPr id="17" name="cam-flow"/>
          <p:cNvSpPr/>
          <p:nvPr/>
        </p:nvSpPr>
        <p:spPr>
          <a:xfrm>
            <a:off x="6309360" y="4892040"/>
            <a:ext cx="5303520" cy="1188720"/>
          </a:xfrm>
          <a:prstGeom prst="rect">
            <a:avLst/>
          </a:prstGeom>
          <a:solidFill>
            <a:srgbClr val="F4F6F8"/>
          </a:solidFill>
          <a:ln w="9525">
            <a:solidFill>
              <a:srgbClr val="D9E2EC"/>
            </a:solidFill>
            <a:prstDash val="solid"/>
          </a:ln>
        </p:spPr>
      </p:sp>
      <p:sp>
        <p:nvSpPr>
          <p:cNvPr id="18" name="cam-flow-t"/>
          <p:cNvSpPr txBox="1"/>
          <p:nvPr/>
        </p:nvSpPr>
        <p:spPr>
          <a:xfrm>
            <a:off x="6492240" y="4956048"/>
            <a:ext cx="4937760" cy="1060704"/>
          </a:xfrm>
          <a:prstGeom prst="rect">
            <a:avLst/>
          </a:prstGeom>
          <a:noFill/>
          <a:ln/>
        </p:spPr>
        <p:txBody>
          <a:bodyPr wrap="square" lIns="0" tIns="0" rIns="0" bIns="0" rtlCol="0" anchor="ctr"/>
          <a:lstStyle/>
          <a:p>
            <a:pPr indent="0" marL="0">
              <a:spcAft>
                <a:spcPts val="400"/>
              </a:spcAft>
              <a:buNone/>
            </a:pPr>
            <a:r>
              <a:rPr lang="en-US" sz="1600" b="1" dirty="0">
                <a:solidFill>
                  <a:srgbClr val="1F2A36"/>
                </a:solidFill>
              </a:rPr>
              <a:t>장비 입력 전 확인 순서</a:t>
            </a:r>
            <a:endParaRPr lang="en-US" sz="1600" dirty="0"/>
          </a:p>
          <a:p>
            <a:pPr indent="0" marL="0">
              <a:spcAft>
                <a:spcPts val="400"/>
              </a:spcAft>
              <a:buNone/>
            </a:pPr>
            <a:r>
              <a:rPr lang="en-US" sz="1600" dirty="0">
                <a:solidFill>
                  <a:srgbClr val="2C3E50"/>
                </a:solidFill>
              </a:rPr>
              <a:t>프로그램 번호 확인, 시뮬레이션, 공운전, 폐판 시험</a:t>
            </a:r>
            <a:endParaRPr lang="en-US" sz="1600" dirty="0"/>
          </a:p>
        </p:txBody>
      </p:sp>
      <p:sp>
        <p:nvSpPr>
          <p:cNvPr id="19"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새 G코드는 공운전 전까지 장비 입력 금지, 영상은 설명용  |  자료 기준일 2026-10-23</a:t>
            </a:r>
            <a:endParaRPr lang="en-US" sz="1200" dirty="0"/>
          </a:p>
        </p:txBody>
      </p:sp>
      <p:sp>
        <p:nvSpPr>
          <p:cNvPr id="21"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algn="ctr" indent="0" marL="0">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algn="ctr" indent="0" marL="0">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algn="ctr" indent="0" marL="0">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solidFill>
            <a:srgbClr val="EAF4F5"/>
          </a:solidFill>
          <a:ln/>
        </p:spPr>
        <p:txBody>
          <a:bodyPr wrap="square" lIns="0" tIns="0" rIns="0" bIns="0" rtlCol="0" anchor="ctr"/>
          <a:lstStyle/>
          <a:p>
            <a:pPr algn="ctr" indent="0" marL="0">
              <a:buNone/>
            </a:pPr>
            <a:r>
              <a:rPr lang="en-US" sz="1400" b="1" dirty="0">
                <a:solidFill>
                  <a:srgbClr val="0E7C86"/>
                </a:solidFill>
              </a:rPr>
              <a:t>5 한계와 과제</a:t>
            </a:r>
            <a:endParaRPr lang="en-US" sz="1400" dirty="0"/>
          </a:p>
        </p:txBody>
      </p:sp>
      <p:sp>
        <p:nvSpPr>
          <p:cNvPr id="7" name="Text 0"/>
          <p:cNvSpPr/>
          <p:nvPr>
            <p:ph idx="101" type="title" hasCustomPrompt="1"/>
          </p:nvPr>
        </p:nvSpPr>
        <p:spPr>
          <a:xfrm>
            <a:off x="548640" y="621792"/>
            <a:ext cx="11064240" cy="658368"/>
          </a:xfrm>
          <a:prstGeom prst="rect">
            <a:avLst/>
          </a:prstGeom>
          <a:noFill/>
          <a:ln/>
        </p:spPr>
        <p:txBody>
          <a:bodyPr wrap="square" lIns="0" tIns="0" rIns="0" bIns="0" rtlCol="0" anchor="ctr"/>
          <a:lstStyle/>
          <a:p>
            <a:pPr algn="l" indent="0" marL="0">
              <a:buNone/>
            </a:pPr>
            <a:r>
              <a:rPr lang="en-US" sz="3600" b="1" dirty="0">
                <a:solidFill>
                  <a:schemeClr val="tx1"/>
                </a:solidFill>
              </a:rPr>
              <a:t>한계와 향후 과제 (2/2)</a:t>
            </a:r>
            <a:endParaRPr lang="en-US" sz="3600" dirty="0"/>
          </a:p>
        </p:txBody>
      </p:sp>
      <p:sp>
        <p:nvSpPr>
          <p:cNvPr id="8" name="Text 0"/>
          <p:cNvSpPr/>
          <p:nvPr>
            <p:ph idx="102" type="body" hasCustomPrompt="1"/>
          </p:nvPr>
        </p:nvSpPr>
        <p:spPr>
          <a:xfrm>
            <a:off x="548640" y="1325880"/>
            <a:ext cx="11064240" cy="411480"/>
          </a:xfrm>
          <a:prstGeom prst="rect">
            <a:avLst/>
          </a:prstGeom>
          <a:noFill/>
          <a:ln/>
        </p:spPr>
        <p:txBody>
          <a:bodyPr wrap="square" lIns="0" tIns="0" rIns="0" bIns="0" rtlCol="0" anchor="ctr"/>
          <a:lstStyle/>
          <a:p>
            <a:pPr algn="l" indent="0" marL="0">
              <a:buNone/>
            </a:pPr>
            <a:r>
              <a:rPr lang="en-US" sz="2000" b="1" dirty="0">
                <a:solidFill>
                  <a:schemeClr val="accent1"/>
                </a:solidFill>
              </a:rPr>
              <a:t>▶ 효과 없는 자동화 4건은 10-07에 중단</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graphicFrame>
        <p:nvGraphicFramePr>
          <p:cNvPr id="13" name="lim-table"/>
          <p:cNvGraphicFramePr>
            <a:graphicFrameLocks noGrp="1"/>
          </p:cNvGraphicFramePr>
          <p:nvPr>
            <p:extLst>
              <p:ext uri="{D42A27DB-BD31-4B8C-83A1-F6EECF244321}">
                <p14:modId xmlns:p14="http://schemas.microsoft.com/office/powerpoint/2010/main" val="1579011935"/>
              </p:ext>
            </p:extLst>
          </p:nvPr>
        </p:nvGraphicFramePr>
        <p:xfrm>
          <a:off x="548640" y="2926080"/>
          <a:ext cx="11064240" cy="914400"/>
        </p:xfrm>
        <a:graphic>
          <a:graphicData uri="http://schemas.openxmlformats.org/drawingml/2006/table">
            <a:tbl>
              <a:tblPr/>
              <a:tblGrid>
                <a:gridCol w="1920240"/>
                <a:gridCol w="4754880"/>
                <a:gridCol w="4389120"/>
              </a:tblGrid>
              <a:tr h="365760">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구분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확인된 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대응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420624">
                <a:tc>
                  <a:txBody>
                    <a:bodyPr/>
                    <a:lstStyle/>
                    <a:p>
                      <a:pPr indent="0" marL="0">
                        <a:buNone/>
                      </a:pPr>
                      <a:r>
                        <a:rPr lang="en-US" sz="1400" b="1" dirty="0">
                          <a:solidFill>
                            <a:srgbClr val="1F2A36"/>
                          </a:solidFill>
                          <a:latin typeface="맑은 고딕" pitchFamily="34" charset="0"/>
                          <a:ea typeface="맑은 고딕" pitchFamily="34" charset="-122"/>
                          <a:cs typeface="맑은 고딕" pitchFamily="34" charset="-120"/>
                        </a:rPr>
                        <a:t>효과 없는 자동화</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1F2A36"/>
                          </a:solidFill>
                          <a:latin typeface="맑은 고딕" pitchFamily="34" charset="0"/>
                          <a:ea typeface="맑은 고딕" pitchFamily="34" charset="-122"/>
                          <a:cs typeface="맑은 고딕" pitchFamily="34" charset="-120"/>
                        </a:rPr>
                        <a:t>알림 메일 48통을 아무도 열지 않는 등 4건</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0E7C86"/>
                          </a:solidFill>
                          <a:latin typeface="맑은 고딕" pitchFamily="34" charset="0"/>
                          <a:ea typeface="맑은 고딕" pitchFamily="34" charset="-122"/>
                          <a:cs typeface="맑은 고딕" pitchFamily="34" charset="-120"/>
                        </a:rPr>
                        <a:t>10-07에 4건 중단</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420624">
                <a:tc>
                  <a:txBody>
                    <a:bodyPr/>
                    <a:lstStyle/>
                    <a:p>
                      <a:pPr indent="0" marL="0">
                        <a:buNone/>
                      </a:pPr>
                      <a:r>
                        <a:rPr lang="en-US" sz="1400" b="1" dirty="0">
                          <a:solidFill>
                            <a:srgbClr val="1F2A36"/>
                          </a:solidFill>
                          <a:latin typeface="맑은 고딕" pitchFamily="34" charset="0"/>
                          <a:ea typeface="맑은 고딕" pitchFamily="34" charset="-122"/>
                          <a:cs typeface="맑은 고딕" pitchFamily="34" charset="-120"/>
                        </a:rPr>
                        <a:t>정상으로 찍힌 실패</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F2A36"/>
                          </a:solidFill>
                          <a:latin typeface="맑은 고딕" pitchFamily="34" charset="0"/>
                          <a:ea typeface="맑은 고딕" pitchFamily="34" charset="-122"/>
                          <a:cs typeface="맑은 고딕" pitchFamily="34" charset="-120"/>
                        </a:rPr>
                        <a:t>「정상 완료」로 남았지만 결과물이 없던 3건</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0E7C86"/>
                          </a:solidFill>
                          <a:latin typeface="맑은 고딕" pitchFamily="34" charset="0"/>
                          <a:ea typeface="맑은 고딕" pitchFamily="34" charset="-122"/>
                          <a:cs typeface="맑은 고딕" pitchFamily="34" charset="-120"/>
                        </a:rPr>
                        <a:t>결과물이 있는지로 정상 여부 판정</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420624">
                <a:tc>
                  <a:txBody>
                    <a:bodyPr/>
                    <a:lstStyle/>
                    <a:p>
                      <a:pPr indent="0" marL="0">
                        <a:buNone/>
                      </a:pPr>
                      <a:r>
                        <a:rPr lang="en-US" sz="1400" b="1" dirty="0">
                          <a:solidFill>
                            <a:srgbClr val="1F2A36"/>
                          </a:solidFill>
                          <a:latin typeface="맑은 고딕" pitchFamily="34" charset="0"/>
                          <a:ea typeface="맑은 고딕" pitchFamily="34" charset="-122"/>
                          <a:cs typeface="맑은 고딕" pitchFamily="34" charset="-120"/>
                        </a:rPr>
                        <a:t>AI 계산 오류</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1F2A36"/>
                          </a:solidFill>
                          <a:latin typeface="맑은 고딕" pitchFamily="34" charset="0"/>
                          <a:ea typeface="맑은 고딕" pitchFamily="34" charset="-122"/>
                          <a:cs typeface="맑은 고딕" pitchFamily="34" charset="-120"/>
                        </a:rPr>
                        <a:t>표준 인용 오류로 문서 19개 정정</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0E7C86"/>
                          </a:solidFill>
                          <a:latin typeface="맑은 고딕" pitchFamily="34" charset="0"/>
                          <a:ea typeface="맑은 고딕" pitchFamily="34" charset="-122"/>
                          <a:cs typeface="맑은 고딕" pitchFamily="34" charset="-120"/>
                        </a:rPr>
                        <a:t>출처와 신뢰도를 붙이고 현장 시험 후 적용</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420624">
                <a:tc>
                  <a:txBody>
                    <a:bodyPr/>
                    <a:lstStyle/>
                    <a:p>
                      <a:pPr indent="0" marL="0">
                        <a:buNone/>
                      </a:pPr>
                      <a:r>
                        <a:rPr lang="en-US" sz="1400" b="1" dirty="0">
                          <a:solidFill>
                            <a:srgbClr val="1F2A36"/>
                          </a:solidFill>
                          <a:latin typeface="맑은 고딕" pitchFamily="34" charset="0"/>
                          <a:ea typeface="맑은 고딕" pitchFamily="34" charset="-122"/>
                          <a:cs typeface="맑은 고딕" pitchFamily="34" charset="-120"/>
                        </a:rPr>
                        <a:t>AI 문서 문체</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1F2A36"/>
                          </a:solidFill>
                          <a:latin typeface="맑은 고딕" pitchFamily="34" charset="0"/>
                          <a:ea typeface="맑은 고딕" pitchFamily="34" charset="-122"/>
                          <a:cs typeface="맑은 고딕" pitchFamily="34" charset="-120"/>
                        </a:rPr>
                        <a:t>보고서와 발표 자료가 보고서답지 않다는 지적</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indent="0" marL="0">
                        <a:buNone/>
                      </a:pPr>
                      <a:r>
                        <a:rPr lang="en-US" sz="1400" dirty="0">
                          <a:solidFill>
                            <a:srgbClr val="0E7C86"/>
                          </a:solidFill>
                          <a:latin typeface="맑은 고딕" pitchFamily="34" charset="0"/>
                          <a:ea typeface="맑은 고딕" pitchFamily="34" charset="-122"/>
                          <a:cs typeface="맑은 고딕" pitchFamily="34" charset="-120"/>
                        </a:rPr>
                        <a:t>공식 양식과 논문을 대조해 작성 기준 마련</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420624">
                <a:tc>
                  <a:txBody>
                    <a:bodyPr/>
                    <a:lstStyle/>
                    <a:p>
                      <a:pPr indent="0" marL="0">
                        <a:buNone/>
                      </a:pPr>
                      <a:r>
                        <a:rPr lang="en-US" sz="1400" b="1" dirty="0">
                          <a:solidFill>
                            <a:srgbClr val="1F2A36"/>
                          </a:solidFill>
                          <a:latin typeface="맑은 고딕" pitchFamily="34" charset="0"/>
                          <a:ea typeface="맑은 고딕" pitchFamily="34" charset="-122"/>
                          <a:cs typeface="맑은 고딕" pitchFamily="34" charset="-120"/>
                        </a:rPr>
                        <a:t>담당자 1명</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1F2A36"/>
                          </a:solidFill>
                          <a:latin typeface="맑은 고딕" pitchFamily="34" charset="0"/>
                          <a:ea typeface="맑은 고딕" pitchFamily="34" charset="-122"/>
                          <a:cs typeface="맑은 고딕" pitchFamily="34" charset="-120"/>
                        </a:rPr>
                        <a:t>만들고 고치는 사람이 1명</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indent="0" marL="0">
                        <a:buNone/>
                      </a:pPr>
                      <a:r>
                        <a:rPr lang="en-US" sz="1400" dirty="0">
                          <a:solidFill>
                            <a:srgbClr val="0E7C86"/>
                          </a:solidFill>
                          <a:latin typeface="맑은 고딕" pitchFamily="34" charset="0"/>
                          <a:ea typeface="맑은 고딕" pitchFamily="34" charset="-122"/>
                          <a:cs typeface="맑은 고딕" pitchFamily="34" charset="-120"/>
                        </a:rPr>
                        <a:t>작업 기록과 결정 근거를 문서로 남김</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bl>
          </a:graphicData>
        </a:graphic>
      </p:graphicFrame>
      <p:sp>
        <p:nvSpPr>
          <p:cNvPr id="11" name="cost-pct"/>
          <p:cNvSpPr txBox="1"/>
          <p:nvPr/>
        </p:nvSpPr>
        <p:spPr>
          <a:xfrm>
            <a:off x="548640" y="1920240"/>
            <a:ext cx="1737360" cy="822960"/>
          </a:xfrm>
          <a:prstGeom prst="rect">
            <a:avLst/>
          </a:prstGeom>
          <a:noFill/>
          <a:ln/>
        </p:spPr>
        <p:txBody>
          <a:bodyPr wrap="square" lIns="0" tIns="0" rIns="0" bIns="0" rtlCol="0" anchor="ctr"/>
          <a:lstStyle/>
          <a:p>
            <a:pPr indent="0" marL="0">
              <a:buNone/>
            </a:pPr>
            <a:r>
              <a:rPr lang="en-US" sz="4400" b="1" dirty="0">
                <a:solidFill>
                  <a:srgbClr val="E8930C"/>
                </a:solidFill>
              </a:rPr>
              <a:t>36</a:t>
            </a:r>
            <a:pPr indent="0" marL="0">
              <a:buNone/>
            </a:pPr>
            <a:r>
              <a:rPr lang="en-US" sz="2200" b="1" dirty="0">
                <a:solidFill>
                  <a:srgbClr val="E8930C"/>
                </a:solidFill>
              </a:rPr>
              <a:t> %</a:t>
            </a:r>
            <a:endParaRPr lang="en-US" sz="4400" dirty="0"/>
          </a:p>
        </p:txBody>
      </p:sp>
      <p:sp>
        <p:nvSpPr>
          <p:cNvPr id="12" name="cost-h"/>
          <p:cNvSpPr txBox="1"/>
          <p:nvPr/>
        </p:nvSpPr>
        <p:spPr>
          <a:xfrm>
            <a:off x="2286000" y="1920240"/>
            <a:ext cx="7772400" cy="329184"/>
          </a:xfrm>
          <a:prstGeom prst="rect">
            <a:avLst/>
          </a:prstGeom>
          <a:noFill/>
          <a:ln/>
        </p:spPr>
        <p:txBody>
          <a:bodyPr wrap="square" lIns="0" tIns="0" rIns="0" bIns="0" rtlCol="0" anchor="ctr"/>
          <a:lstStyle/>
          <a:p>
            <a:pPr indent="0" marL="0">
              <a:buNone/>
            </a:pPr>
            <a:r>
              <a:rPr lang="en-US" sz="1600" b="1" dirty="0">
                <a:solidFill>
                  <a:srgbClr val="1F2A36"/>
                </a:solidFill>
              </a:rPr>
              <a:t>4주간 결정 84건 중 30건이 자동화 수리와 운영 (10-07 1차 판정)</a:t>
            </a:r>
            <a:endParaRPr lang="en-US" sz="1600" dirty="0"/>
          </a:p>
        </p:txBody>
      </p:sp>
      <p:graphicFrame>
        <p:nvGraphicFramePr>
          <p:cNvPr id="13" name="cost-chart" descr=""/>
          <p:cNvGraphicFramePr/>
          <p:nvPr/>
        </p:nvGraphicFramePr>
        <p:xfrm>
          <a:off x="2194560" y="2194560"/>
          <a:ext cx="9418320" cy="676656"/>
        </p:xfrm>
        <a:graphic xmlns:a="http://schemas.openxmlformats.org/drawingml/2006/main">
          <a:graphicData uri="http://schemas.openxmlformats.org/drawingml/2006/chart">
            <c:chart xmlns:c="http://schemas.openxmlformats.org/drawingml/2006/chart" r:id="rId1"/>
          </a:graphicData>
        </a:graphic>
      </p:graphicFrame>
      <p:sp>
        <p:nvSpPr>
          <p:cNvPr id="14" name="next"/>
          <p:cNvSpPr/>
          <p:nvPr/>
        </p:nvSpPr>
        <p:spPr>
          <a:xfrm>
            <a:off x="548640" y="5513832"/>
            <a:ext cx="11064240" cy="603504"/>
          </a:xfrm>
          <a:prstGeom prst="rect">
            <a:avLst/>
          </a:prstGeom>
          <a:solidFill>
            <a:srgbClr val="1F2A36"/>
          </a:solidFill>
          <a:ln w="9525">
            <a:solidFill>
              <a:srgbClr val="1F2A36"/>
            </a:solidFill>
            <a:prstDash val="solid"/>
          </a:ln>
        </p:spPr>
      </p:sp>
      <p:sp>
        <p:nvSpPr>
          <p:cNvPr id="15" name="next-t"/>
          <p:cNvSpPr txBox="1"/>
          <p:nvPr/>
        </p:nvSpPr>
        <p:spPr>
          <a:xfrm>
            <a:off x="777240" y="5513832"/>
            <a:ext cx="10698480" cy="603504"/>
          </a:xfrm>
          <a:prstGeom prst="rect">
            <a:avLst/>
          </a:prstGeom>
          <a:noFill/>
          <a:ln/>
        </p:spPr>
        <p:txBody>
          <a:bodyPr wrap="square" lIns="0" tIns="0" rIns="0" bIns="0" rtlCol="0" anchor="ctr"/>
          <a:lstStyle/>
          <a:p>
            <a:pPr indent="0" marL="0">
              <a:buNone/>
            </a:pPr>
            <a:r>
              <a:rPr lang="en-US" sz="1700" b="1" dirty="0">
                <a:solidFill>
                  <a:srgbClr val="FFFFFF"/>
                </a:solidFill>
              </a:rPr>
              <a:t>다음 과제: 11월 4일 자동화 2차 판정, 투입 목록 효과 재측정, 넥 원통연삭 테스트 3, 명판 공운전</a:t>
            </a:r>
            <a:endParaRPr lang="en-US" sz="1700" dirty="0"/>
          </a:p>
        </p:txBody>
      </p:sp>
      <p:sp>
        <p:nvSpPr>
          <p:cNvPr id="16" name="footnote"/>
          <p:cNvSpPr txBox="1"/>
          <p:nvPr/>
        </p:nvSpPr>
        <p:spPr>
          <a:xfrm>
            <a:off x="548640" y="6355080"/>
            <a:ext cx="5943600" cy="320040"/>
          </a:xfrm>
          <a:prstGeom prst="rect">
            <a:avLst/>
          </a:prstGeom>
          <a:noFill/>
          <a:ln/>
        </p:spPr>
        <p:txBody>
          <a:bodyPr wrap="square" lIns="0" tIns="0" rIns="0" bIns="0" rtlCol="0" anchor="ctr"/>
          <a:lstStyle/>
          <a:p>
            <a:pPr indent="0" marL="0">
              <a:buNone/>
            </a:pPr>
            <a:r>
              <a:rPr lang="en-US" sz="1200" dirty="0">
                <a:solidFill>
                  <a:srgbClr val="6B7A88"/>
                </a:solidFill>
              </a:rPr>
              <a:t>다른 팀도 바로 쓸 수 있는 것: 엑셀 보고 집계, 자료 정리, 문서 조사</a:t>
            </a:r>
            <a:endParaRPr lang="en-US" sz="1200" dirty="0"/>
          </a:p>
        </p:txBody>
      </p:sp>
      <p:sp>
        <p:nvSpPr>
          <p:cNvPr id="18"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TOOLKOREA 생산팀">
  <a:themeElements>
    <a:clrScheme name="TOOLKOREA 생산팀">
      <a:dk1>
        <a:srgbClr val="1F2A36"/>
      </a:dk1>
      <a:lt1>
        <a:srgbClr val="FFFFFF"/>
      </a:lt1>
      <a:dk2>
        <a:srgbClr val="3A506B"/>
      </a:dk2>
      <a:lt2>
        <a:srgbClr val="F4F6F8"/>
      </a:lt2>
      <a:accent1>
        <a:srgbClr val="0E7C86"/>
      </a:accent1>
      <a:accent2>
        <a:srgbClr val="2C3E50"/>
      </a:accent2>
      <a:accent3>
        <a:srgbClr val="6B7A88"/>
      </a:accent3>
      <a:accent4>
        <a:srgbClr val="E8930C"/>
      </a:accent4>
      <a:accent5>
        <a:srgbClr val="D9E2EC"/>
      </a:accent5>
      <a:accent6>
        <a:srgbClr val="EAF4F5"/>
      </a:accent6>
      <a:hlink>
        <a:srgbClr val="0E7C86"/>
      </a:hlink>
      <a:folHlink>
        <a:srgbClr val="3A506B"/>
      </a:folHlink>
    </a:clrScheme>
    <a:fontScheme name="TOOLKOREA 생산팀">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AI 활용 성과 — 파일럿 2기 (생산팀)</dc:title>
  <dc:subject>PptxGenJS Presentation</dc:subject>
  <dc:creator>생산팀</dc:creator>
  <cp:lastModifiedBy>생산팀</cp:lastModifiedBy>
  <cp:revision>1</cp:revision>
  <dcterms:created xsi:type="dcterms:W3CDTF">2026-10-23T01:33:28Z</dcterms:created>
  <dcterms:modified xsi:type="dcterms:W3CDTF">2026-10-23T01:33:28Z</dcterms:modified>
</cp:coreProperties>
</file>