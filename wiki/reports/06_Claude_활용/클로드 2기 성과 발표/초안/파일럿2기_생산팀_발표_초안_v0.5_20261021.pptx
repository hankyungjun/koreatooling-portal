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2a9809b7-eeb5-f3bb-e6f1-5222d891be88}">
          <p14:sldIdLst>
            <p14:sldId id="256"/>
            <p14:sldId id="257"/>
          </p14:sldIdLst>
        </p14:section>
        <p14:section name="01 추진 배경" id="{7cc6f701-02eb-f0f3-a884-86ed78ae4b5d}">
          <p14:sldIdLst>
            <p14:sldId id="258"/>
          </p14:sldIdLst>
        </p14:section>
        <p14:section name="02 활용 현황" id="{7b06ac0b-fda0-d22c-d24e-a7f86b714d3e}">
          <p14:sldIdLst>
            <p14:sldId id="259"/>
            <p14:sldId id="260"/>
            <p14:sldId id="261"/>
            <p14:sldId id="262"/>
          </p14:sldIdLst>
        </p14:section>
        <p14:section name="03 자동화 시스템" id="{6a8ed586-9d39-31fd-9003-59eea5946170}">
          <p14:sldIdLst>
            <p14:sldId id="263"/>
            <p14:sldId id="264"/>
            <p14:sldId id="265"/>
          </p14:sldIdLst>
        </p14:section>
        <p14:section name="04 전후 비교" id="{a168c3b4-4d62-82e8-cce8-3d877f89b4b7}">
          <p14:sldIdLst>
            <p14:sldId id="266"/>
          </p14:sldIdLst>
        </p14:section>
        <p14:section name="05 한계와 과제" id="{fa2e86c9-a331-894e-1108-770cfa7b0f30}">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소급·수동 생성 (6-09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(6-18~)</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133건 — 6월 중순부터는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먼저 제조사 롱넥 제품 31종의 치수에서 넥 지름 기준을 거꾸로 구했고, 계산기와 기록표를 만든 뒤 장비 PC 와 사무 PC 를 하나의 프로젝트로 묶어 시험했습니다.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만들거나 손으로 다시 만든 것이고, 청록이 그날그날 자동으로 생성된 것입니다. 6월 18일부터는 매달 영업일 수만큼 빠짐없이 쌓이고 있습니다.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이하, 월 5시간 이하인데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CAD 도면 보조는 시험 중이고, 넥 원통연삭은 세 번째 시험 뒤 다른 품목에 넓히겠습니다.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지식 기록 · 보고 자동화 · 현장 판단 보조 — 2기(2026. 7 ~ 10)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3항목(①②③)을 4개 장에 나눠 담았습니다</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 활용 영역 · 활용 사례 ·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 실행 화면 ·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 대응 ·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현황과 문제점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재연마 업무의 자료는 다섯 곳에 흩어져 있었고, 집계와 판단은 매일 사람이 했습니다</a:t>
            </a:r>
            <a:endParaRPr lang="en-US" sz="2000" dirty="0"/>
          </a:p>
        </p:txBody>
      </p:sp>
      <p:sp>
        <p:nvSpPr>
          <p:cNvPr id="5"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 하루 1시트, 손으로 입력</a:t>
            </a:r>
            <a:endParaRPr lang="en-US" sz="1300" dirty="0"/>
          </a:p>
        </p:txBody>
      </p:sp>
      <p:pic>
        <p:nvPicPr>
          <p:cNvPr id="6"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7" name="src0-frame"/>
          <p:cNvSpPr/>
          <p:nvPr/>
        </p:nvSpPr>
        <p:spPr>
          <a:xfrm>
            <a:off x="548640" y="2286000"/>
            <a:ext cx="4572000" cy="1569386"/>
          </a:xfrm>
          <a:prstGeom prst="rect">
            <a:avLst/>
          </a:prstGeom>
          <a:ln w="9525">
            <a:solidFill>
              <a:srgbClr val="D9E2EC"/>
            </a:solidFill>
            <a:prstDash val="solid"/>
          </a:ln>
        </p:spPr>
      </p:sp>
      <p:sp>
        <p:nvSpPr>
          <p:cNvPr id="8"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 장비 이력은 문서마다 따로</a:t>
            </a:r>
            <a:endParaRPr lang="en-US" sz="1300" dirty="0"/>
          </a:p>
        </p:txBody>
      </p:sp>
      <p:pic>
        <p:nvPicPr>
          <p:cNvPr id="9"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0" name="src1-frame"/>
          <p:cNvSpPr/>
          <p:nvPr/>
        </p:nvSpPr>
        <p:spPr>
          <a:xfrm>
            <a:off x="548640" y="4361688"/>
            <a:ext cx="3474720" cy="1737360"/>
          </a:xfrm>
          <a:prstGeom prst="rect">
            <a:avLst/>
          </a:prstGeom>
          <a:ln w="9525">
            <a:solidFill>
              <a:srgbClr val="D9E2EC"/>
            </a:solidFill>
            <a:prstDash val="solid"/>
          </a:ln>
        </p:spPr>
      </p:sp>
      <p:sp>
        <p:nvSpPr>
          <p:cNvPr id="11"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2"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현황 (도입 전)</a:t>
            </a:r>
            <a:endParaRPr lang="en-US" sz="1700" dirty="0"/>
          </a:p>
        </p:txBody>
      </p:sp>
      <p:sp>
        <p:nvSpPr>
          <p:cNvPr id="13"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자료 분산 — ERP · 엑셀 2종 · PDF · 개인 노하우</a:t>
            </a:r>
            <a:endParaRPr lang="en-US" sz="1700" dirty="0"/>
          </a:p>
          <a:p>
            <a:pPr marL="342900" indent="-342900">
              <a:spcAft>
                <a:spcPts val="600"/>
              </a:spcAft>
              <a:buSzPct val="100000"/>
              <a:buChar char="•"/>
            </a:pPr>
            <a:r>
              <a:rPr lang="en-US" sz="1700" dirty="0">
                <a:solidFill>
                  <a:srgbClr val="2C3E50"/>
                </a:solidFill>
              </a:rPr>
              <a:t>일일보고 집계 · 투입 판단을 매일 수작업</a:t>
            </a:r>
            <a:endParaRPr lang="en-US" sz="1700" dirty="0"/>
          </a:p>
          <a:p>
            <a:pPr marL="342900" indent="-342900">
              <a:spcAft>
                <a:spcPts val="600"/>
              </a:spcAft>
              <a:buSzPct val="100000"/>
              <a:buChar char="•"/>
            </a:pPr>
            <a:r>
              <a:rPr lang="en-US" sz="1700" dirty="0">
                <a:solidFill>
                  <a:srgbClr val="2C3E50"/>
                </a:solidFill>
              </a:rPr>
              <a:t>조건·고장 처리의 근거가 기록으로 남지 않음</a:t>
            </a:r>
            <a:endParaRPr lang="en-US" sz="1700" dirty="0"/>
          </a:p>
        </p:txBody>
      </p:sp>
      <p:sp>
        <p:nvSpPr>
          <p:cNvPr id="14"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5"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6"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7"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한곳에 기록 — 출처·신뢰도와 함께 사내 위키로</a:t>
            </a:r>
            <a:endParaRPr lang="en-US" sz="1700" dirty="0"/>
          </a:p>
          <a:p>
            <a:pPr marL="342900" indent="-342900">
              <a:spcAft>
                <a:spcPts val="400"/>
              </a:spcAft>
              <a:buSzPct val="100000"/>
              <a:buChar char="•"/>
            </a:pPr>
            <a:r>
              <a:rPr lang="en-US" sz="1700" dirty="0">
                <a:solidFill>
                  <a:srgbClr val="2C3E50"/>
                </a:solidFill>
              </a:rPr>
              <a:t>반복은 자동 실행 — 업무 PC 예약 실행</a:t>
            </a:r>
            <a:endParaRPr lang="en-US" sz="1700" dirty="0"/>
          </a:p>
          <a:p>
            <a:pPr marL="342900" indent="-342900">
              <a:spcAft>
                <a:spcPts val="400"/>
              </a:spcAft>
              <a:buSzPct val="100000"/>
              <a:buChar char="•"/>
            </a:pPr>
            <a:r>
              <a:rPr lang="en-US" sz="1700" dirty="0">
                <a:solidFill>
                  <a:srgbClr val="2C3E50"/>
                </a:solidFill>
              </a:rPr>
              <a:t>판단 근거 보존 — 기존 값은 지우지 않고 이력으로</a:t>
            </a:r>
            <a:endParaRPr lang="en-US" sz="17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생산팀 재연마 — 장비 2대(ANCA FastGrind · ANCA GX7)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핵심 수치</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생산팀 계정 1개로, 업무 PC 폴더를 연결해 대화로 정리·분석·자동화를 진행했습니다</a:t>
            </a:r>
            <a:endParaRPr lang="en-US" sz="2000" dirty="0"/>
          </a:p>
        </p:txBody>
      </p:sp>
      <p:sp>
        <p:nvSpPr>
          <p:cNvPr id="5" name="kpi0"/>
          <p:cNvSpPr/>
          <p:nvPr/>
        </p:nvSpPr>
        <p:spPr>
          <a:xfrm>
            <a:off x="548640" y="2011680"/>
            <a:ext cx="2066544" cy="2377440"/>
          </a:xfrm>
          <a:prstGeom prst="rect">
            <a:avLst/>
          </a:prstGeom>
          <a:solidFill>
            <a:srgbClr val="F4F6F8"/>
          </a:solidFill>
          <a:ln w="9525">
            <a:solidFill>
              <a:srgbClr val="D9E2EC"/>
            </a:solidFill>
            <a:prstDash val="solid"/>
          </a:ln>
        </p:spPr>
      </p:sp>
      <p:sp>
        <p:nvSpPr>
          <p:cNvPr id="6" name="kpi0-n"/>
          <p:cNvSpPr txBox="1"/>
          <p:nvPr/>
        </p:nvSpPr>
        <p:spPr>
          <a:xfrm>
            <a:off x="640080"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138</a:t>
            </a:r>
            <a:pPr algn="ctr" indent="0" marL="0">
              <a:buNone/>
            </a:pPr>
            <a:r>
              <a:rPr lang="en-US" sz="1500" b="1" dirty="0">
                <a:solidFill>
                  <a:srgbClr val="1F2A36"/>
                </a:solidFill>
              </a:rPr>
              <a:t> 페이지</a:t>
            </a:r>
            <a:endParaRPr lang="en-US" sz="3400" dirty="0"/>
          </a:p>
        </p:txBody>
      </p:sp>
      <p:sp>
        <p:nvSpPr>
          <p:cNvPr id="7" name="kpi0-l"/>
          <p:cNvSpPr txBox="1"/>
          <p:nvPr/>
        </p:nvSpPr>
        <p:spPr>
          <a:xfrm>
            <a:off x="640080"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지식 위키</a:t>
            </a:r>
            <a:endParaRPr lang="en-US" sz="1800" dirty="0"/>
          </a:p>
          <a:p>
            <a:pPr algn="ctr" indent="0" marL="0">
              <a:buNone/>
            </a:pPr>
            <a:r>
              <a:rPr lang="en-US" sz="1400" dirty="0">
                <a:solidFill>
                  <a:srgbClr val="6B7A88"/>
                </a:solidFill>
              </a:rPr>
              <a:t>장비 · 휠 · 연삭 조건 · 수리</a:t>
            </a:r>
            <a:endParaRPr lang="en-US" sz="1800" dirty="0"/>
          </a:p>
        </p:txBody>
      </p:sp>
      <p:sp>
        <p:nvSpPr>
          <p:cNvPr id="8" name="kpi1"/>
          <p:cNvSpPr/>
          <p:nvPr/>
        </p:nvSpPr>
        <p:spPr>
          <a:xfrm>
            <a:off x="2798064" y="2011680"/>
            <a:ext cx="2066544" cy="2377440"/>
          </a:xfrm>
          <a:prstGeom prst="rect">
            <a:avLst/>
          </a:prstGeom>
          <a:solidFill>
            <a:srgbClr val="F4F6F8"/>
          </a:solidFill>
          <a:ln w="9525">
            <a:solidFill>
              <a:srgbClr val="D9E2EC"/>
            </a:solidFill>
            <a:prstDash val="solid"/>
          </a:ln>
        </p:spPr>
      </p:sp>
      <p:sp>
        <p:nvSpPr>
          <p:cNvPr id="9" name="kpi1-n"/>
          <p:cNvSpPr txBox="1"/>
          <p:nvPr/>
        </p:nvSpPr>
        <p:spPr>
          <a:xfrm>
            <a:off x="2889504"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약 300</a:t>
            </a:r>
            <a:pPr algn="ctr" indent="0" marL="0">
              <a:buNone/>
            </a:pPr>
            <a:r>
              <a:rPr lang="en-US" sz="1500" b="1" dirty="0">
                <a:solidFill>
                  <a:srgbClr val="1F2A36"/>
                </a:solidFill>
              </a:rPr>
              <a:t> 건</a:t>
            </a:r>
            <a:endParaRPr lang="en-US" sz="3400" dirty="0"/>
          </a:p>
        </p:txBody>
      </p:sp>
      <p:sp>
        <p:nvSpPr>
          <p:cNvPr id="10" name="kpi1-l"/>
          <p:cNvSpPr txBox="1"/>
          <p:nvPr/>
        </p:nvSpPr>
        <p:spPr>
          <a:xfrm>
            <a:off x="2889504"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결정 기록</a:t>
            </a:r>
            <a:endParaRPr lang="en-US" sz="1800" dirty="0"/>
          </a:p>
          <a:p>
            <a:pPr algn="ctr" indent="0" marL="0">
              <a:buNone/>
            </a:pPr>
            <a:r>
              <a:rPr lang="en-US" sz="1400" dirty="0">
                <a:solidFill>
                  <a:srgbClr val="6B7A88"/>
                </a:solidFill>
              </a:rPr>
              <a:t>근거 · 대안 · 영향</a:t>
            </a:r>
            <a:endParaRPr lang="en-US" sz="1800" dirty="0"/>
          </a:p>
        </p:txBody>
      </p:sp>
      <p:sp>
        <p:nvSpPr>
          <p:cNvPr id="11" name="kpi2"/>
          <p:cNvSpPr/>
          <p:nvPr/>
        </p:nvSpPr>
        <p:spPr>
          <a:xfrm>
            <a:off x="5047488" y="2011680"/>
            <a:ext cx="2066544" cy="2377440"/>
          </a:xfrm>
          <a:prstGeom prst="rect">
            <a:avLst/>
          </a:prstGeom>
          <a:solidFill>
            <a:srgbClr val="F4F6F8"/>
          </a:solidFill>
          <a:ln w="9525">
            <a:solidFill>
              <a:srgbClr val="D9E2EC"/>
            </a:solidFill>
            <a:prstDash val="solid"/>
          </a:ln>
        </p:spPr>
      </p:sp>
      <p:sp>
        <p:nvSpPr>
          <p:cNvPr id="12" name="kpi2-n"/>
          <p:cNvSpPr txBox="1"/>
          <p:nvPr/>
        </p:nvSpPr>
        <p:spPr>
          <a:xfrm>
            <a:off x="5138928"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133</a:t>
            </a:r>
            <a:pPr algn="ctr" indent="0" marL="0">
              <a:buNone/>
            </a:pPr>
            <a:r>
              <a:rPr lang="en-US" sz="1500" b="1" dirty="0">
                <a:solidFill>
                  <a:srgbClr val="1F2A36"/>
                </a:solidFill>
              </a:rPr>
              <a:t> 건</a:t>
            </a:r>
            <a:endParaRPr lang="en-US" sz="3400" dirty="0"/>
          </a:p>
        </p:txBody>
      </p:sp>
      <p:sp>
        <p:nvSpPr>
          <p:cNvPr id="13" name="kpi2-l"/>
          <p:cNvSpPr txBox="1"/>
          <p:nvPr/>
        </p:nvSpPr>
        <p:spPr>
          <a:xfrm>
            <a:off x="5138928"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일일보고 생성</a:t>
            </a:r>
            <a:endParaRPr lang="en-US" sz="1800" dirty="0"/>
          </a:p>
          <a:p>
            <a:pPr algn="ctr" indent="0" marL="0">
              <a:buNone/>
            </a:pPr>
            <a:r>
              <a:rPr lang="en-US" sz="1400" dirty="0">
                <a:solidFill>
                  <a:srgbClr val="6B7A88"/>
                </a:solidFill>
              </a:rPr>
              <a:t>6월 중순부터 매일 자동</a:t>
            </a:r>
            <a:endParaRPr lang="en-US" sz="1800" dirty="0"/>
          </a:p>
        </p:txBody>
      </p:sp>
      <p:sp>
        <p:nvSpPr>
          <p:cNvPr id="14" name="kpi3"/>
          <p:cNvSpPr/>
          <p:nvPr/>
        </p:nvSpPr>
        <p:spPr>
          <a:xfrm>
            <a:off x="7296912" y="2011680"/>
            <a:ext cx="2066544" cy="2377440"/>
          </a:xfrm>
          <a:prstGeom prst="rect">
            <a:avLst/>
          </a:prstGeom>
          <a:solidFill>
            <a:srgbClr val="F4F6F8"/>
          </a:solidFill>
          <a:ln w="9525">
            <a:solidFill>
              <a:srgbClr val="D9E2EC"/>
            </a:solidFill>
            <a:prstDash val="solid"/>
          </a:ln>
        </p:spPr>
      </p:sp>
      <p:sp>
        <p:nvSpPr>
          <p:cNvPr id="15" name="kpi3-n"/>
          <p:cNvSpPr txBox="1"/>
          <p:nvPr/>
        </p:nvSpPr>
        <p:spPr>
          <a:xfrm>
            <a:off x="7388352"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10,744</a:t>
            </a:r>
            <a:pPr algn="ctr" indent="0" marL="0">
              <a:buNone/>
            </a:pPr>
            <a:r>
              <a:rPr lang="en-US" sz="1500" b="1" dirty="0">
                <a:solidFill>
                  <a:srgbClr val="1F2A36"/>
                </a:solidFill>
              </a:rPr>
              <a:t> 건</a:t>
            </a:r>
            <a:endParaRPr lang="en-US" sz="3400" dirty="0"/>
          </a:p>
        </p:txBody>
      </p:sp>
      <p:sp>
        <p:nvSpPr>
          <p:cNvPr id="16" name="kpi3-l"/>
          <p:cNvSpPr txBox="1"/>
          <p:nvPr/>
        </p:nvSpPr>
        <p:spPr>
          <a:xfrm>
            <a:off x="7388352"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단가표 자동 대조</a:t>
            </a:r>
            <a:endParaRPr lang="en-US" sz="1800" dirty="0"/>
          </a:p>
          <a:p>
            <a:pPr algn="ctr" indent="0" marL="0">
              <a:buNone/>
            </a:pPr>
            <a:r>
              <a:rPr lang="en-US" sz="1400" dirty="0">
                <a:solidFill>
                  <a:srgbClr val="6B7A88"/>
                </a:solidFill>
              </a:rPr>
              <a:t>재연마 단가표 검수</a:t>
            </a:r>
            <a:endParaRPr lang="en-US" sz="1800" dirty="0"/>
          </a:p>
        </p:txBody>
      </p:sp>
      <p:sp>
        <p:nvSpPr>
          <p:cNvPr id="17" name="kpi4"/>
          <p:cNvSpPr/>
          <p:nvPr/>
        </p:nvSpPr>
        <p:spPr>
          <a:xfrm>
            <a:off x="9546336" y="2011680"/>
            <a:ext cx="2066544" cy="2377440"/>
          </a:xfrm>
          <a:prstGeom prst="rect">
            <a:avLst/>
          </a:prstGeom>
          <a:solidFill>
            <a:srgbClr val="F4F6F8"/>
          </a:solidFill>
          <a:ln w="9525">
            <a:solidFill>
              <a:srgbClr val="D9E2EC"/>
            </a:solidFill>
            <a:prstDash val="solid"/>
          </a:ln>
        </p:spPr>
      </p:sp>
      <p:sp>
        <p:nvSpPr>
          <p:cNvPr id="18" name="kpi4-n"/>
          <p:cNvSpPr txBox="1"/>
          <p:nvPr/>
        </p:nvSpPr>
        <p:spPr>
          <a:xfrm>
            <a:off x="9637776"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55</a:t>
            </a:r>
            <a:pPr algn="ctr" indent="0" marL="0">
              <a:buNone/>
            </a:pPr>
            <a:r>
              <a:rPr lang="en-US" sz="1500" b="1" dirty="0">
                <a:solidFill>
                  <a:srgbClr val="1F2A36"/>
                </a:solidFill>
              </a:rPr>
              <a:t> 개</a:t>
            </a:r>
            <a:endParaRPr lang="en-US" sz="3400" dirty="0"/>
          </a:p>
        </p:txBody>
      </p:sp>
      <p:sp>
        <p:nvSpPr>
          <p:cNvPr id="19" name="kpi4-l"/>
          <p:cNvSpPr txBox="1"/>
          <p:nvPr/>
        </p:nvSpPr>
        <p:spPr>
          <a:xfrm>
            <a:off x="9637776"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자동화 스크립트</a:t>
            </a:r>
            <a:endParaRPr lang="en-US" sz="1800" dirty="0"/>
          </a:p>
          <a:p>
            <a:pPr algn="ctr" indent="0" marL="0">
              <a:buNone/>
            </a:pPr>
            <a:r>
              <a:rPr lang="en-US" sz="1400" dirty="0">
                <a:solidFill>
                  <a:srgbClr val="6B7A88"/>
                </a:solidFill>
              </a:rPr>
              <a:t>Python</a:t>
            </a:r>
            <a:endParaRPr lang="en-US" sz="1800" dirty="0"/>
          </a:p>
        </p:txBody>
      </p:sp>
      <p:sp>
        <p:nvSpPr>
          <p:cNvPr id="20" name="rule-box"/>
          <p:cNvSpPr/>
          <p:nvPr/>
        </p:nvSpPr>
        <p:spPr>
          <a:xfrm>
            <a:off x="548640" y="4709160"/>
            <a:ext cx="11064240" cy="1371600"/>
          </a:xfrm>
          <a:prstGeom prst="rect">
            <a:avLst/>
          </a:prstGeom>
          <a:solidFill>
            <a:srgbClr val="FFFFFF"/>
          </a:solidFill>
          <a:ln w="9525">
            <a:solidFill>
              <a:srgbClr val="D9E2EC"/>
            </a:solidFill>
            <a:prstDash val="solid"/>
          </a:ln>
        </p:spPr>
      </p:sp>
      <p:sp>
        <p:nvSpPr>
          <p:cNvPr id="21" name="rule-h"/>
          <p:cNvSpPr txBox="1"/>
          <p:nvPr/>
        </p:nvSpPr>
        <p:spPr>
          <a:xfrm>
            <a:off x="777240" y="484632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22" name="rule-t"/>
          <p:cNvSpPr txBox="1"/>
          <p:nvPr/>
        </p:nvSpPr>
        <p:spPr>
          <a:xfrm>
            <a:off x="777240" y="5212080"/>
            <a:ext cx="10607040" cy="7772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 가 낸 수치·조건은 참고값 — 현장 검증 후 적용, 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근거: 위키 자동 집계 · 결정 기록 · 중간보고(09-14)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활용 영역</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기록 · 자동화 · 판단 보조 · 검수 · 문서 작성 다섯 영역에 쓰고 있습니다</a:t>
            </a:r>
            <a:endParaRPr lang="en-US" sz="20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장비·휠·연삭 조건·수리 이력 정리, 결정마다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138페이지 ·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 (6월 중순~ 매일 자동)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 가공 완료분 → 장비별 투입 목록 (납기순 ·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 규칙 보강 8회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파싱,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 수리 검토보고 ·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 GX7 로더 진단 →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현장 판단 보조·데이터 검수는 2기에 새로 시작한 영역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활용 사례 · 가공 조건 시험</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제조사 자료로 기준을 잡고, 두 번째 시험에서 넥 시작부 자국의 원인과 대책을 찾았습니다</a:t>
            </a:r>
            <a:endParaRPr lang="en-US" sz="2000" dirty="0"/>
          </a:p>
        </p:txBody>
      </p:sp>
      <p:sp>
        <p:nvSpPr>
          <p:cNvPr id="5"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6" name="step0-n"/>
          <p:cNvSpPr txBox="1"/>
          <p:nvPr/>
        </p:nvSpPr>
        <p:spPr>
          <a:xfrm>
            <a:off x="685800" y="196596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1</a:t>
            </a:r>
            <a:endParaRPr lang="en-US" sz="2600" dirty="0"/>
          </a:p>
        </p:txBody>
      </p:sp>
      <p:sp>
        <p:nvSpPr>
          <p:cNvPr id="7" name="step0-t"/>
          <p:cNvSpPr txBox="1"/>
          <p:nvPr/>
        </p:nvSpPr>
        <p:spPr>
          <a:xfrm>
            <a:off x="1234440" y="2039112"/>
            <a:ext cx="4343400" cy="786384"/>
          </a:xfrm>
          <a:prstGeom prst="rect">
            <a:avLst/>
          </a:prstGeom>
          <a:noFill/>
          <a:ln/>
        </p:spPr>
        <p:txBody>
          <a:bodyPr wrap="square" lIns="0" tIns="0" rIns="0" bIns="0" rtlCol="0" anchor="ctr"/>
          <a:lstStyle/>
          <a:p>
            <a:pPr indent="0" marL="0">
              <a:spcAft>
                <a:spcPts val="200"/>
              </a:spcAft>
              <a:buNone/>
            </a:pPr>
            <a:r>
              <a:rPr lang="en-US" sz="1700" b="1" dirty="0">
                <a:solidFill>
                  <a:srgbClr val="1F2A36"/>
                </a:solidFill>
              </a:rPr>
              <a:t>외부 근거로 기준 설정</a:t>
            </a:r>
            <a:endParaRPr lang="en-US" sz="1700" dirty="0"/>
          </a:p>
          <a:p>
            <a:pPr indent="0" marL="0">
              <a:spcAft>
                <a:spcPts val="200"/>
              </a:spcAft>
              <a:buNone/>
            </a:pPr>
            <a:r>
              <a:rPr lang="en-US" sz="1300" dirty="0">
                <a:solidFill>
                  <a:srgbClr val="2C3E50"/>
                </a:solidFill>
              </a:rPr>
              <a:t>제조사 롱넥 엔드밀 31품목(OSG · Mitsubishi) 치수에서 넥 지름 기준 dn = 0.96 × D 산출</a:t>
            </a:r>
            <a:endParaRPr lang="en-US" sz="1700" dirty="0"/>
          </a:p>
        </p:txBody>
      </p:sp>
      <p:sp>
        <p:nvSpPr>
          <p:cNvPr id="8"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9" name="step1-n"/>
          <p:cNvSpPr txBox="1"/>
          <p:nvPr/>
        </p:nvSpPr>
        <p:spPr>
          <a:xfrm>
            <a:off x="685800" y="301752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2</a:t>
            </a:r>
            <a:endParaRPr lang="en-US" sz="2600" dirty="0"/>
          </a:p>
        </p:txBody>
      </p:sp>
      <p:sp>
        <p:nvSpPr>
          <p:cNvPr id="10" name="step1-t"/>
          <p:cNvSpPr txBox="1"/>
          <p:nvPr/>
        </p:nvSpPr>
        <p:spPr>
          <a:xfrm>
            <a:off x="1234440" y="3090672"/>
            <a:ext cx="4343400" cy="786384"/>
          </a:xfrm>
          <a:prstGeom prst="rect">
            <a:avLst/>
          </a:prstGeom>
          <a:noFill/>
          <a:ln/>
        </p:spPr>
        <p:txBody>
          <a:bodyPr wrap="square" lIns="0" tIns="0" rIns="0" bIns="0" rtlCol="0" anchor="ctr"/>
          <a:lstStyle/>
          <a:p>
            <a:pPr indent="0" marL="0">
              <a:spcAft>
                <a:spcPts val="200"/>
              </a:spcAft>
              <a:buNone/>
            </a:pPr>
            <a:r>
              <a:rPr lang="en-US" sz="1700" b="1" dirty="0">
                <a:solidFill>
                  <a:srgbClr val="1F2A36"/>
                </a:solidFill>
              </a:rPr>
              <a:t>시험 설계</a:t>
            </a:r>
            <a:endParaRPr lang="en-US" sz="1700" dirty="0"/>
          </a:p>
          <a:p>
            <a:pPr indent="0" marL="0">
              <a:spcAft>
                <a:spcPts val="200"/>
              </a:spcAft>
              <a:buNone/>
            </a:pPr>
            <a:r>
              <a:rPr lang="en-US" sz="1300" dirty="0">
                <a:solidFill>
                  <a:srgbClr val="2C3E50"/>
                </a:solidFill>
              </a:rPr>
              <a:t>입력값 계산기와 시험 기록표 작성 (측정 3곳 · 휠 상태 · 프로그램 파일명)</a:t>
            </a:r>
            <a:endParaRPr lang="en-US" sz="1700" dirty="0"/>
          </a:p>
        </p:txBody>
      </p:sp>
      <p:sp>
        <p:nvSpPr>
          <p:cNvPr id="11"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2" name="step2-n"/>
          <p:cNvSpPr txBox="1"/>
          <p:nvPr/>
        </p:nvSpPr>
        <p:spPr>
          <a:xfrm>
            <a:off x="685800" y="406908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3</a:t>
            </a:r>
            <a:endParaRPr lang="en-US" sz="2600" dirty="0"/>
          </a:p>
        </p:txBody>
      </p:sp>
      <p:sp>
        <p:nvSpPr>
          <p:cNvPr id="13" name="step2-t"/>
          <p:cNvSpPr txBox="1"/>
          <p:nvPr/>
        </p:nvSpPr>
        <p:spPr>
          <a:xfrm>
            <a:off x="1234440" y="4142232"/>
            <a:ext cx="4343400" cy="786384"/>
          </a:xfrm>
          <a:prstGeom prst="rect">
            <a:avLst/>
          </a:prstGeom>
          <a:noFill/>
          <a:ln/>
        </p:spPr>
        <p:txBody>
          <a:bodyPr wrap="square" lIns="0" tIns="0" rIns="0" bIns="0" rtlCol="0" anchor="ctr"/>
          <a:lstStyle/>
          <a:p>
            <a:pPr indent="0" marL="0">
              <a:spcAft>
                <a:spcPts val="200"/>
              </a:spcAft>
              <a:buNone/>
            </a:pPr>
            <a:r>
              <a:rPr lang="en-US" sz="1700" b="1" dirty="0">
                <a:solidFill>
                  <a:srgbClr val="1F2A36"/>
                </a:solidFill>
              </a:rPr>
              <a:t>현장 시험</a:t>
            </a:r>
            <a:endParaRPr lang="en-US" sz="1700" dirty="0"/>
          </a:p>
          <a:p>
            <a:pPr indent="0" marL="0">
              <a:spcAft>
                <a:spcPts val="200"/>
              </a:spcAft>
              <a:buNone/>
            </a:pPr>
            <a:r>
              <a:rPr lang="en-US" sz="1300" dirty="0">
                <a:solidFill>
                  <a:srgbClr val="2C3E50"/>
                </a:solidFill>
              </a:rPr>
              <a:t>장비 PC(ToolRoom)와 사무 PC를 한 프로젝트로 연결, 공구 2개 · 5회 가공</a:t>
            </a:r>
            <a:endParaRPr lang="en-US" sz="1700" dirty="0"/>
          </a:p>
        </p:txBody>
      </p:sp>
      <p:sp>
        <p:nvSpPr>
          <p:cNvPr id="14"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15" name="step3-n"/>
          <p:cNvSpPr txBox="1"/>
          <p:nvPr/>
        </p:nvSpPr>
        <p:spPr>
          <a:xfrm>
            <a:off x="685800" y="512064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4</a:t>
            </a:r>
            <a:endParaRPr lang="en-US" sz="2600" dirty="0"/>
          </a:p>
        </p:txBody>
      </p:sp>
      <p:sp>
        <p:nvSpPr>
          <p:cNvPr id="16" name="step3-t"/>
          <p:cNvSpPr txBox="1"/>
          <p:nvPr/>
        </p:nvSpPr>
        <p:spPr>
          <a:xfrm>
            <a:off x="1234440" y="5193792"/>
            <a:ext cx="4343400" cy="786384"/>
          </a:xfrm>
          <a:prstGeom prst="rect">
            <a:avLst/>
          </a:prstGeom>
          <a:noFill/>
          <a:ln/>
        </p:spPr>
        <p:txBody>
          <a:bodyPr wrap="square" lIns="0" tIns="0" rIns="0" bIns="0" rtlCol="0" anchor="ctr"/>
          <a:lstStyle/>
          <a:p>
            <a:pPr indent="0" marL="0">
              <a:spcAft>
                <a:spcPts val="200"/>
              </a:spcAft>
              <a:buNone/>
            </a:pPr>
            <a:r>
              <a:rPr lang="en-US" sz="1700" b="1" dirty="0">
                <a:solidFill>
                  <a:srgbClr val="1F2A36"/>
                </a:solidFill>
              </a:rPr>
              <a:t>원인 확인 및 보고</a:t>
            </a:r>
            <a:endParaRPr lang="en-US" sz="1700" dirty="0"/>
          </a:p>
          <a:p>
            <a:pPr indent="0" marL="0">
              <a:spcAft>
                <a:spcPts val="200"/>
              </a:spcAft>
              <a:buNone/>
            </a:pPr>
            <a:r>
              <a:rPr lang="en-US" sz="1300" dirty="0">
                <a:solidFill>
                  <a:srgbClr val="2C3E50"/>
                </a:solidFill>
              </a:rPr>
              <a:t>제조사 매뉴얼 원문 대조로 원인 확인, 결과 보고서 12쪽 작성(10-22 보고)</a:t>
            </a:r>
            <a:endParaRPr lang="en-US" sz="1700" dirty="0"/>
          </a:p>
        </p:txBody>
      </p:sp>
      <p:sp>
        <p:nvSpPr>
          <p:cNvPr id="17"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18"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19" name="case-fig-frame"/>
          <p:cNvSpPr/>
          <p:nvPr/>
        </p:nvSpPr>
        <p:spPr>
          <a:xfrm>
            <a:off x="5943600" y="2286000"/>
            <a:ext cx="5669280" cy="2834640"/>
          </a:xfrm>
          <a:prstGeom prst="rect">
            <a:avLst/>
          </a:prstGeom>
          <a:ln w="9525">
            <a:solidFill>
              <a:srgbClr val="D9E2EC"/>
            </a:solidFill>
            <a:prstDash val="solid"/>
          </a:ln>
        </p:spPr>
      </p:sp>
      <p:graphicFrame>
        <p:nvGraphicFramePr>
          <p:cNvPr id="7"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항목</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테스트 1 · 정삭만</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테스트 2 · 황삭 대각선 진입</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넥 시작부 자국</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매번 같은 자리에 생김</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b="1" dirty="0">
                          <a:solidFill>
                            <a:srgbClr val="0E7C86"/>
                          </a:solidFill>
                          <a:latin typeface="맑은 고딕" pitchFamily="34" charset="0"/>
                          <a:ea typeface="맑은 고딕" pitchFamily="34" charset="-122"/>
                          <a:cs typeface="맑은 고딕" pitchFamily="34" charset="-120"/>
                        </a:rPr>
                        <a:t>없음</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치수 판정</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합격</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b="1" dirty="0">
                          <a:solidFill>
                            <a:srgbClr val="0E7C86"/>
                          </a:solidFill>
                          <a:latin typeface="맑은 고딕" pitchFamily="34" charset="0"/>
                          <a:ea typeface="맑은 고딕" pitchFamily="34" charset="-122"/>
                          <a:cs typeface="맑은 고딕" pitchFamily="34" charset="-120"/>
                        </a:rPr>
                        <a:t>보류 (0.01 mm 굵음)</a:t>
                      </a:r>
                      <a:endParaRPr lang="en-US" sz="14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공구 1 ~ 2개 시험값 · 양산 미적용  |  자료 기준일 2026-10-21</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추진 경과</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6월 중순부터 일일보고가 매일 자동으로 만들어지고 있습니다 — 그 이전 분은 소급·수동 생성</a:t>
            </a:r>
            <a:endParaRPr lang="en-US" sz="2000" dirty="0"/>
          </a:p>
        </p:txBody>
      </p:sp>
      <p:graphicFrame>
        <p:nvGraphicFramePr>
          <p:cNvPr id="5"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7"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8"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1기 · 4~6월</a:t>
            </a:r>
            <a:endParaRPr lang="en-US" sz="1400" dirty="0"/>
          </a:p>
        </p:txBody>
      </p:sp>
      <p:sp>
        <p:nvSpPr>
          <p:cNvPr id="9"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기록 체계 구축 · 일일보고 자동화</a:t>
            </a:r>
            <a:endParaRPr lang="en-US" sz="1500" dirty="0"/>
          </a:p>
        </p:txBody>
      </p:sp>
      <p:sp>
        <p:nvSpPr>
          <p:cNvPr id="10"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11"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 · 보고서 양식</a:t>
            </a:r>
            <a:endParaRPr lang="en-US" sz="1500" dirty="0"/>
          </a:p>
        </p:txBody>
      </p:sp>
      <p:sp>
        <p:nvSpPr>
          <p:cNvPr id="12"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3"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 GX7 로더 고장 대응</a:t>
            </a:r>
            <a:endParaRPr lang="en-US" sz="1500" dirty="0"/>
          </a:p>
        </p:txBody>
      </p:sp>
      <p:sp>
        <p:nvSpPr>
          <p:cNvPr id="14"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5"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 투입 목록 가동</a:t>
            </a:r>
            <a:endParaRPr lang="en-US" sz="1500" dirty="0"/>
          </a:p>
        </p:txBody>
      </p:sp>
      <p:sp>
        <p:nvSpPr>
          <p:cNvPr id="16"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7"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효과 측정 · 넥 원통연삭 시험</a:t>
            </a:r>
            <a:endParaRPr lang="en-US" sz="15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파일 수정 시각 실측 · *10월은 19일까지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시스템 구성</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기존 자료를 그대로 읽어, 업무 PC 가 정해진 시각에 결과물을 만들어 배포합니다</a:t>
            </a:r>
            <a:endParaRPr lang="en-US" sz="2000" dirty="0"/>
          </a:p>
        </p:txBody>
      </p:sp>
      <p:sp>
        <p:nvSpPr>
          <p:cNvPr id="5"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6"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 기존 자료</a:t>
            </a:r>
            <a:endParaRPr lang="en-US" sz="1700" dirty="0"/>
          </a:p>
        </p:txBody>
      </p:sp>
      <p:sp>
        <p:nvSpPr>
          <p:cNvPr id="7"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8"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 A/S 조회</a:t>
            </a:r>
            <a:endParaRPr lang="en-US" sz="1700" dirty="0"/>
          </a:p>
        </p:txBody>
      </p:sp>
      <p:sp>
        <p:nvSpPr>
          <p:cNvPr id="9"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0"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1"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2"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3"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4"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 업무 PC</a:t>
            </a:r>
            <a:endParaRPr lang="en-US" sz="1700" dirty="0"/>
          </a:p>
        </p:txBody>
      </p:sp>
      <p:sp>
        <p:nvSpPr>
          <p:cNvPr id="15"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6"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 07:50 · 16:00</a:t>
            </a:r>
            <a:endParaRPr lang="en-US" sz="1700" dirty="0"/>
          </a:p>
        </p:txBody>
      </p:sp>
      <p:sp>
        <p:nvSpPr>
          <p:cNvPr id="17"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8"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 집계 · 대조 · 배정</a:t>
            </a:r>
            <a:endParaRPr lang="en-US" sz="1700" dirty="0"/>
          </a:p>
        </p:txBody>
      </p:sp>
      <p:sp>
        <p:nvSpPr>
          <p:cNvPr id="19"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0"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 스크립트 작성 · 점검 · 기록</a:t>
            </a:r>
            <a:endParaRPr lang="en-US" sz="1700" dirty="0"/>
          </a:p>
        </p:txBody>
      </p:sp>
      <p:sp>
        <p:nvSpPr>
          <p:cNvPr id="21"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2"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 결과물</a:t>
            </a:r>
            <a:endParaRPr lang="en-US" sz="1700" dirty="0"/>
          </a:p>
        </p:txBody>
      </p:sp>
      <p:sp>
        <p:nvSpPr>
          <p:cNvPr id="23"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4"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5"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6"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7"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8"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9"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0"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 결정 기록</a:t>
            </a:r>
            <a:endParaRPr lang="en-US" sz="1700" dirty="0"/>
          </a:p>
        </p:txBody>
      </p:sp>
      <p:sp>
        <p:nvSpPr>
          <p:cNvPr id="31"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2"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새 시스템을 들이지 않고, 기존 엑셀·ERP 를 그대로 읽는 방식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실행 화면</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출근하면 일일보고·현황판·투입 목록이 이미 만들어져 있습니다</a:t>
            </a:r>
            <a:endParaRPr lang="en-US" sz="2000" dirty="0"/>
          </a:p>
        </p:txBody>
      </p:sp>
      <p:sp>
        <p:nvSpPr>
          <p:cNvPr id="5"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6" name="cap0-img" descr="일일보고 엑셀 화면 (거래처명은 A·B·C 로 바꿈)">    </p:cNvPr>
          <p:cNvPicPr>
            <a:picLocks noChangeAspect="1"/>
          </p:cNvPicPr>
          <p:nvPr/>
        </p:nvPicPr>
        <p:blipFill>
          <a:blip r:embed="rId1"/>
          <a:stretch>
            <a:fillRect/>
          </a:stretch>
        </p:blipFill>
        <p:spPr>
          <a:xfrm>
            <a:off x="640080" y="2976652"/>
            <a:ext cx="3383280" cy="1270456"/>
          </a:xfrm>
          <a:prstGeom prst="rect">
            <a:avLst/>
          </a:prstGeom>
        </p:spPr>
      </p:pic>
      <p:sp>
        <p:nvSpPr>
          <p:cNvPr id="7"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 확정치는 다음 날 「전일」 칸</a:t>
            </a:r>
            <a:endParaRPr lang="en-US" sz="1700" dirty="0"/>
          </a:p>
        </p:txBody>
      </p:sp>
      <p:sp>
        <p:nvSpPr>
          <p:cNvPr id="8"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9" name="cap1-img" descr="사내 현황판 화면 (거래처명은 A·B·C 로 바꿈)">    </p:cNvPr>
          <p:cNvPicPr>
            <a:picLocks noChangeAspect="1"/>
          </p:cNvPicPr>
          <p:nvPr/>
        </p:nvPicPr>
        <p:blipFill>
          <a:blip r:embed="rId2"/>
          <a:stretch>
            <a:fillRect/>
          </a:stretch>
        </p:blipFill>
        <p:spPr>
          <a:xfrm>
            <a:off x="4389120" y="2074025"/>
            <a:ext cx="3383280" cy="3075709"/>
          </a:xfrm>
          <a:prstGeom prst="rect">
            <a:avLst/>
          </a:prstGeom>
        </p:spPr>
      </p:pic>
      <p:sp>
        <p:nvSpPr>
          <p:cNvPr id="10"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지연·임박 · 미출하 잔량</a:t>
            </a:r>
            <a:endParaRPr lang="en-US" sz="1700" dirty="0"/>
          </a:p>
        </p:txBody>
      </p:sp>
      <p:sp>
        <p:nvSpPr>
          <p:cNvPr id="11"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2" name="cap2-img" descr="장비별 투입 목록 (FG) 화면 (거래처명은 A·B·C 로 바꿈)">    </p:cNvPr>
          <p:cNvPicPr>
            <a:picLocks noChangeAspect="1"/>
          </p:cNvPicPr>
          <p:nvPr/>
        </p:nvPicPr>
        <p:blipFill>
          <a:blip r:embed="rId3"/>
          <a:stretch>
            <a:fillRect/>
          </a:stretch>
        </p:blipFill>
        <p:spPr>
          <a:xfrm>
            <a:off x="8381609" y="2057400"/>
            <a:ext cx="2896382" cy="3108960"/>
          </a:xfrm>
          <a:prstGeom prst="rect">
            <a:avLst/>
          </a:prstGeom>
        </p:spPr>
      </p:pic>
      <p:sp>
        <p:nvSpPr>
          <p:cNvPr id="13"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FG / GX7 배정 · 납기순 · 형상 묶음</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화면: 일일보고 10-16 · 현황판 10-19 · 거래처명 익명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기록 기반 질의응답</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쌓아 둔 기록에서 근거와 함께 답하고, 확인되지 않은 것은 「확인 필요」로 답합니다</a:t>
            </a:r>
            <a:endParaRPr lang="en-US" sz="2000" dirty="0"/>
          </a:p>
        </p:txBody>
      </p:sp>
      <p:sp>
        <p:nvSpPr>
          <p:cNvPr id="5"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장비 이력</a:t>
            </a:r>
            <a:endParaRPr lang="en-US" sz="1300" dirty="0"/>
          </a:p>
        </p:txBody>
      </p:sp>
      <p:sp>
        <p:nvSpPr>
          <p:cNvPr id="6" name="qa0-q"/>
          <p:cNvSpPr/>
          <p:nvPr/>
        </p:nvSpPr>
        <p:spPr>
          <a:xfrm>
            <a:off x="548640" y="2377440"/>
            <a:ext cx="5440680" cy="777240"/>
          </a:xfrm>
          <a:prstGeom prst="rect">
            <a:avLst/>
          </a:prstGeom>
          <a:solidFill>
            <a:srgbClr val="1F2A36"/>
          </a:solidFill>
          <a:ln w="9525">
            <a:solidFill>
              <a:srgbClr val="1F2A36"/>
            </a:solidFill>
            <a:prstDash val="solid"/>
          </a:ln>
        </p:spPr>
      </p:sp>
      <p:sp>
        <p:nvSpPr>
          <p:cNvPr id="7"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8"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9"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 실린더 이상 → 로더 사용 금지</a:t>
            </a:r>
            <a:endParaRPr lang="en-US" sz="1700" dirty="0"/>
          </a:p>
          <a:p>
            <a:pPr marL="342900" indent="-342900">
              <a:spcAft>
                <a:spcPts val="800"/>
              </a:spcAft>
              <a:buSzPct val="100000"/>
              <a:buChar char="•"/>
            </a:pPr>
            <a:r>
              <a:rPr lang="en-US" sz="1700" dirty="0">
                <a:solidFill>
                  <a:srgbClr val="2C3E50"/>
                </a:solidFill>
              </a:rPr>
              <a:t>08-14 부품 발주 → 10-12 교체 수리 완료</a:t>
            </a:r>
            <a:endParaRPr lang="en-US" sz="1700" dirty="0"/>
          </a:p>
          <a:p>
            <a:pPr marL="342900" indent="-342900">
              <a:spcAft>
                <a:spcPts val="800"/>
              </a:spcAft>
              <a:buSzPct val="100000"/>
              <a:buChar char="•"/>
            </a:pPr>
            <a:r>
              <a:rPr lang="en-US" sz="1700" dirty="0">
                <a:solidFill>
                  <a:srgbClr val="2C3E50"/>
                </a:solidFill>
              </a:rPr>
              <a:t>10-13 생산 재개 · 고장 원인은 「확인 필요」</a:t>
            </a:r>
            <a:endParaRPr lang="en-US" sz="1700" dirty="0"/>
          </a:p>
        </p:txBody>
      </p:sp>
      <p:sp>
        <p:nvSpPr>
          <p:cNvPr id="10"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수리 이력 페이지 · 10월 생산일지(10-12 「수리 중」)</a:t>
            </a:r>
            <a:endParaRPr lang="en-US" sz="1200" dirty="0"/>
          </a:p>
        </p:txBody>
      </p:sp>
      <p:sp>
        <p:nvSpPr>
          <p:cNvPr id="11"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연삭 조건</a:t>
            </a:r>
            <a:endParaRPr lang="en-US" sz="1300" dirty="0"/>
          </a:p>
        </p:txBody>
      </p:sp>
      <p:sp>
        <p:nvSpPr>
          <p:cNvPr id="12"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3"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 면 RPM 은?</a:t>
            </a:r>
            <a:endParaRPr lang="en-US" sz="1800" dirty="0"/>
          </a:p>
        </p:txBody>
      </p:sp>
      <p:sp>
        <p:nvSpPr>
          <p:cNvPr id="14"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5"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6"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휠 기준 페이지 · Norton·이화·Urdiamant 자료 · 사내 상한 25 m/s</a:t>
            </a:r>
            <a:endParaRPr lang="en-US" sz="1200" dirty="0"/>
          </a:p>
        </p:txBody>
      </p:sp>
      <p:sp>
        <p:nvSpPr>
          <p:cNvPr id="17"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8"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 — ANCA 공구 설계 프로그램(iGrind) 입력 전 계산·검산까지만 쓰고, 확정은 현장 테스트로 합니다</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실제 질의 화면 캡처로 교체 예정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적용 전후 비교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반복 집계는 자동으로 바뀌었고, 판단 근거가 기록으로 남기 시작했습니다</a:t>
            </a:r>
            <a:endParaRPr lang="en-US" sz="2000" dirty="0"/>
          </a:p>
        </p:txBody>
      </p:sp>
      <p:graphicFrame>
        <p:nvGraphicFramePr>
          <p:cNvPr id="12"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 사진 ·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투입 목록 효과는 도입 2주·추석·장비 수리가 섞여 판단 보류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운영하며 확인한 한계와 대응</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자동화는 만드는 것보다 유지가 더 들었고, 그래서 성적표로 효과를 재고 정리했습니다</a:t>
            </a:r>
            <a:endParaRPr lang="en-US" sz="2000" dirty="0"/>
          </a:p>
        </p:txBody>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103120"/>
                <a:gridCol w="4572000"/>
                <a:gridCol w="43891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없는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10-07 중단 — 만든 것도 쓰이지 않으면 끈다</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조용한 실패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수치 신뢰성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AI 계산·인용이 실제와 다를 수 있음 (표준 인용 정정 19문서)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출처·신뢰도 4단계 표기, 현장 검증 후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1인 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만들고 고치는 사람이 1명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작업 기록·결정 근거를 문서로 남겨 인수 가능하게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cost-pct"/>
          <p:cNvSpPr txBox="1"/>
          <p:nvPr/>
        </p:nvSpPr>
        <p:spPr>
          <a:xfrm>
            <a:off x="548640" y="192024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7" name="cost-h"/>
          <p:cNvSpPr txBox="1"/>
          <p:nvPr/>
        </p:nvSpPr>
        <p:spPr>
          <a:xfrm>
            <a:off x="2286000" y="1920240"/>
            <a:ext cx="5943600" cy="365760"/>
          </a:xfrm>
          <a:prstGeom prst="rect">
            <a:avLst/>
          </a:prstGeom>
          <a:noFill/>
          <a:ln/>
        </p:spPr>
        <p:txBody>
          <a:bodyPr wrap="square" lIns="0" tIns="0" rIns="0" bIns="0" rtlCol="0" anchor="ctr"/>
          <a:lstStyle/>
          <a:p>
            <a:pPr indent="0" marL="0">
              <a:buNone/>
            </a:pPr>
            <a:r>
              <a:rPr lang="en-US" sz="1600" b="1" dirty="0">
                <a:solidFill>
                  <a:srgbClr val="1F2A36"/>
                </a:solidFill>
              </a:rPr>
              <a:t>유지 비용 — 4주간 결정 84건 중 30건이 자동화 수리·운영</a:t>
            </a:r>
            <a:endParaRPr lang="en-US" sz="1600" dirty="0"/>
          </a:p>
        </p:txBody>
      </p:sp>
      <p:graphicFrame>
        <p:nvGraphicFramePr>
          <p:cNvPr id="8" name="cost-chart" descr=""/>
          <p:cNvGraphicFramePr/>
          <p:nvPr/>
        </p:nvGraphicFramePr>
        <p:xfrm>
          <a:off x="2194560" y="224028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자동화 효과 지표 1차 판정(10-07) · 중간보고(09-14)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향후 과제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새 기능을 늘리기보다, 지금 돌아가는 것의 효과를 확인하고 넓힙니다</a:t>
            </a:r>
            <a:endParaRPr lang="en-US" sz="2000" dirty="0"/>
          </a:p>
        </p:txBody>
      </p:sp>
      <p:graphicFrame>
        <p:nvGraphicFramePr>
          <p:cNvPr id="14"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 해석 →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 연결 — 말로 도면 초안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가공 조건 시험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넥 원통연삭 테스트 3 → 같은 방식을 다른 품목에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6" name="close"/>
          <p:cNvSpPr/>
          <p:nvPr/>
        </p:nvSpPr>
        <p:spPr>
          <a:xfrm>
            <a:off x="548640" y="5440680"/>
            <a:ext cx="11064240" cy="777240"/>
          </a:xfrm>
          <a:prstGeom prst="rect">
            <a:avLst/>
          </a:prstGeom>
          <a:solidFill>
            <a:srgbClr val="1F2A36"/>
          </a:solidFill>
          <a:ln w="9525">
            <a:solidFill>
              <a:srgbClr val="1F2A36"/>
            </a:solidFill>
            <a:prstDash val="solid"/>
          </a:ln>
        </p:spPr>
      </p:sp>
      <p:sp>
        <p:nvSpPr>
          <p:cNvPr id="7" name="close-t"/>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000" b="1" dirty="0">
                <a:solidFill>
                  <a:srgbClr val="FFFFFF"/>
                </a:solidFill>
              </a:rPr>
              <a:t>AI 는 답을 대신 주는 도구가 아니라, 현장 기록을 쌓고 검증하는 협업자입니다</a:t>
            </a:r>
            <a:endParaRPr lang="en-US" sz="2000" dirty="0"/>
          </a:p>
        </p:txBody>
      </p:sp>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다른 팀 적용 가능: 엑셀 보고 집계 · 자료 정리 · 문서 조사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2026-10-21T06:55:21Z</dcterms:created>
  <dcterms:modified xsi:type="dcterms:W3CDTF">2026-10-21T06:55:21Z</dcterms:modified>
</cp:coreProperties>
</file>